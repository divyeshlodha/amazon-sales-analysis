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5.xml" ContentType="application/vnd.openxmlformats-officedocument.presentationml.notesSlide+xml"/>
  <Override PartName="/ppt/charts/chart7.xml" ContentType="application/vnd.openxmlformats-officedocument.drawingml.chart+xml"/>
  <Override PartName="/ppt/notesSlides/notesSlide16.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Completed revenue</c:v>
                </c:pt>
              </c:strCache>
            </c:strRef>
          </c:tx>
          <c:spPr>
            <a:solidFill>
              <a:srgbClr val="F59300"/>
            </a:solidFill>
            <a:effectLst/>
          </c:spPr>
          <c:invertIfNegative val="0"/>
          <c:dPt>
            <c:idx val="0"/>
            <c:invertIfNegative val="0"/>
            <c:bubble3D val="0"/>
            <c:extLst>
              <c:ext xmlns:c16="http://schemas.microsoft.com/office/drawing/2014/chart" uri="{C3380CC4-5D6E-409C-BE32-E72D297353CC}">
                <c16:uniqueId val="{00000001-2E15-4A3E-A745-A2D8322078A8}"/>
              </c:ext>
            </c:extLst>
          </c:dPt>
          <c:dPt>
            <c:idx val="1"/>
            <c:invertIfNegative val="0"/>
            <c:bubble3D val="0"/>
            <c:spPr>
              <a:solidFill>
                <a:srgbClr val="3B6FE0"/>
              </a:solidFill>
              <a:effectLst/>
            </c:spPr>
            <c:extLst>
              <c:ext xmlns:c16="http://schemas.microsoft.com/office/drawing/2014/chart" uri="{C3380CC4-5D6E-409C-BE32-E72D297353CC}">
                <c16:uniqueId val="{00000003-2E15-4A3E-A745-A2D8322078A8}"/>
              </c:ext>
            </c:extLst>
          </c:dPt>
          <c:dPt>
            <c:idx val="2"/>
            <c:invertIfNegative val="0"/>
            <c:bubble3D val="0"/>
            <c:spPr>
              <a:solidFill>
                <a:srgbClr val="3B6FE0"/>
              </a:solidFill>
              <a:effectLst/>
            </c:spPr>
            <c:extLst>
              <c:ext xmlns:c16="http://schemas.microsoft.com/office/drawing/2014/chart" uri="{C3380CC4-5D6E-409C-BE32-E72D297353CC}">
                <c16:uniqueId val="{00000005-2E15-4A3E-A745-A2D8322078A8}"/>
              </c:ext>
            </c:extLst>
          </c:dPt>
          <c:dPt>
            <c:idx val="3"/>
            <c:invertIfNegative val="0"/>
            <c:bubble3D val="0"/>
            <c:spPr>
              <a:solidFill>
                <a:srgbClr val="3B6FE0"/>
              </a:solidFill>
              <a:effectLst/>
            </c:spPr>
            <c:extLst>
              <c:ext xmlns:c16="http://schemas.microsoft.com/office/drawing/2014/chart" uri="{C3380CC4-5D6E-409C-BE32-E72D297353CC}">
                <c16:uniqueId val="{00000007-2E15-4A3E-A745-A2D8322078A8}"/>
              </c:ext>
            </c:extLst>
          </c:dPt>
          <c:dPt>
            <c:idx val="4"/>
            <c:invertIfNegative val="0"/>
            <c:bubble3D val="0"/>
            <c:spPr>
              <a:solidFill>
                <a:srgbClr val="3B6FE0"/>
              </a:solidFill>
              <a:effectLst/>
            </c:spPr>
            <c:extLst>
              <c:ext xmlns:c16="http://schemas.microsoft.com/office/drawing/2014/chart" uri="{C3380CC4-5D6E-409C-BE32-E72D297353CC}">
                <c16:uniqueId val="{00000009-2E15-4A3E-A745-A2D8322078A8}"/>
              </c:ext>
            </c:extLst>
          </c:dPt>
          <c:dPt>
            <c:idx val="5"/>
            <c:invertIfNegative val="0"/>
            <c:bubble3D val="0"/>
            <c:spPr>
              <a:solidFill>
                <a:srgbClr val="3B6FE0"/>
              </a:solidFill>
              <a:effectLst/>
            </c:spPr>
            <c:extLst>
              <c:ext xmlns:c16="http://schemas.microsoft.com/office/drawing/2014/chart" uri="{C3380CC4-5D6E-409C-BE32-E72D297353CC}">
                <c16:uniqueId val="{0000000B-2E15-4A3E-A745-A2D8322078A8}"/>
              </c:ext>
            </c:extLst>
          </c:dPt>
          <c:dLbls>
            <c:numFmt formatCode="\$#,##0,&quot;K&quot;" sourceLinked="0"/>
            <c:spPr>
              <a:noFill/>
              <a:ln>
                <a:noFill/>
              </a:ln>
              <a:effectLst/>
            </c:spPr>
            <c:txPr>
              <a:bodyPr/>
              <a:lstStyle/>
              <a:p>
                <a:pPr>
                  <a:defRPr sz="1100" b="0" i="0" u="none" strike="noStrike">
                    <a:solidFill>
                      <a:srgbClr val="0F1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Electronics</c:v>
                </c:pt>
                <c:pt idx="1">
                  <c:v>Sports &amp; Outdoors</c:v>
                </c:pt>
                <c:pt idx="2">
                  <c:v>Toys &amp; Games</c:v>
                </c:pt>
                <c:pt idx="3">
                  <c:v>Pet Supplies</c:v>
                </c:pt>
                <c:pt idx="4">
                  <c:v>Clothing</c:v>
                </c:pt>
                <c:pt idx="5">
                  <c:v>Home &amp; Kitchen</c:v>
                </c:pt>
              </c:strCache>
            </c:strRef>
          </c:cat>
          <c:val>
            <c:numRef>
              <c:f>Sheet1!$B$2:$B$7</c:f>
              <c:numCache>
                <c:formatCode>General</c:formatCode>
                <c:ptCount val="6"/>
                <c:pt idx="0">
                  <c:v>9306136.3100000005</c:v>
                </c:pt>
                <c:pt idx="1">
                  <c:v>377190.85</c:v>
                </c:pt>
                <c:pt idx="2">
                  <c:v>290594.17</c:v>
                </c:pt>
                <c:pt idx="3">
                  <c:v>218039.56</c:v>
                </c:pt>
                <c:pt idx="4">
                  <c:v>114607.09</c:v>
                </c:pt>
                <c:pt idx="5">
                  <c:v>76280.87</c:v>
                </c:pt>
              </c:numCache>
            </c:numRef>
          </c:val>
          <c:extLst>
            <c:ext xmlns:c16="http://schemas.microsoft.com/office/drawing/2014/chart" uri="{C3380CC4-5D6E-409C-BE32-E72D297353CC}">
              <c16:uniqueId val="{0000000C-2E15-4A3E-A745-A2D8322078A8}"/>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1B33"/>
                </a:solidFill>
                <a:latin typeface="+mn-lt"/>
              </a:defRPr>
            </a:pPr>
            <a:endParaRPr lang="en-US"/>
          </a:p>
        </c:txPr>
        <c:crossAx val="2094734552"/>
        <c:crosses val="autoZero"/>
        <c:auto val="1"/>
        <c:lblAlgn val="ctr"/>
        <c:lblOffset val="100"/>
        <c:noMultiLvlLbl val="1"/>
      </c:catAx>
      <c:valAx>
        <c:axId val="2094734552"/>
        <c:scaling>
          <c:orientation val="minMax"/>
          <c:max val="115000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Completed revenue</c:v>
                </c:pt>
              </c:strCache>
            </c:strRef>
          </c:tx>
          <c:spPr>
            <a:solidFill>
              <a:srgbClr val="F59300"/>
            </a:solidFill>
            <a:effectLst/>
          </c:spPr>
          <c:invertIfNegative val="0"/>
          <c:dPt>
            <c:idx val="0"/>
            <c:invertIfNegative val="0"/>
            <c:bubble3D val="0"/>
            <c:extLst>
              <c:ext xmlns:c16="http://schemas.microsoft.com/office/drawing/2014/chart" uri="{C3380CC4-5D6E-409C-BE32-E72D297353CC}">
                <c16:uniqueId val="{00000001-5B4D-4CC6-B746-05D597E61BAD}"/>
              </c:ext>
            </c:extLst>
          </c:dPt>
          <c:dPt>
            <c:idx val="1"/>
            <c:invertIfNegative val="0"/>
            <c:bubble3D val="0"/>
            <c:spPr>
              <a:solidFill>
                <a:srgbClr val="3B6FE0"/>
              </a:solidFill>
              <a:effectLst/>
            </c:spPr>
            <c:extLst>
              <c:ext xmlns:c16="http://schemas.microsoft.com/office/drawing/2014/chart" uri="{C3380CC4-5D6E-409C-BE32-E72D297353CC}">
                <c16:uniqueId val="{00000003-5B4D-4CC6-B746-05D597E61BAD}"/>
              </c:ext>
            </c:extLst>
          </c:dPt>
          <c:dPt>
            <c:idx val="2"/>
            <c:invertIfNegative val="0"/>
            <c:bubble3D val="0"/>
            <c:spPr>
              <a:solidFill>
                <a:srgbClr val="3B6FE0"/>
              </a:solidFill>
              <a:effectLst/>
            </c:spPr>
            <c:extLst>
              <c:ext xmlns:c16="http://schemas.microsoft.com/office/drawing/2014/chart" uri="{C3380CC4-5D6E-409C-BE32-E72D297353CC}">
                <c16:uniqueId val="{00000005-5B4D-4CC6-B746-05D597E61BAD}"/>
              </c:ext>
            </c:extLst>
          </c:dPt>
          <c:dPt>
            <c:idx val="3"/>
            <c:invertIfNegative val="0"/>
            <c:bubble3D val="0"/>
            <c:spPr>
              <a:solidFill>
                <a:srgbClr val="3B6FE0"/>
              </a:solidFill>
              <a:effectLst/>
            </c:spPr>
            <c:extLst>
              <c:ext xmlns:c16="http://schemas.microsoft.com/office/drawing/2014/chart" uri="{C3380CC4-5D6E-409C-BE32-E72D297353CC}">
                <c16:uniqueId val="{00000007-5B4D-4CC6-B746-05D597E61BAD}"/>
              </c:ext>
            </c:extLst>
          </c:dPt>
          <c:dPt>
            <c:idx val="4"/>
            <c:invertIfNegative val="0"/>
            <c:bubble3D val="0"/>
            <c:spPr>
              <a:solidFill>
                <a:srgbClr val="3B6FE0"/>
              </a:solidFill>
              <a:effectLst/>
            </c:spPr>
            <c:extLst>
              <c:ext xmlns:c16="http://schemas.microsoft.com/office/drawing/2014/chart" uri="{C3380CC4-5D6E-409C-BE32-E72D297353CC}">
                <c16:uniqueId val="{00000009-5B4D-4CC6-B746-05D597E61BAD}"/>
              </c:ext>
            </c:extLst>
          </c:dPt>
          <c:dPt>
            <c:idx val="5"/>
            <c:invertIfNegative val="0"/>
            <c:bubble3D val="0"/>
            <c:spPr>
              <a:solidFill>
                <a:srgbClr val="3B6FE0"/>
              </a:solidFill>
              <a:effectLst/>
            </c:spPr>
            <c:extLst>
              <c:ext xmlns:c16="http://schemas.microsoft.com/office/drawing/2014/chart" uri="{C3380CC4-5D6E-409C-BE32-E72D297353CC}">
                <c16:uniqueId val="{0000000B-5B4D-4CC6-B746-05D597E61BAD}"/>
              </c:ext>
            </c:extLst>
          </c:dPt>
          <c:dPt>
            <c:idx val="6"/>
            <c:invertIfNegative val="0"/>
            <c:bubble3D val="0"/>
            <c:spPr>
              <a:solidFill>
                <a:srgbClr val="3B6FE0"/>
              </a:solidFill>
              <a:effectLst/>
            </c:spPr>
            <c:extLst>
              <c:ext xmlns:c16="http://schemas.microsoft.com/office/drawing/2014/chart" uri="{C3380CC4-5D6E-409C-BE32-E72D297353CC}">
                <c16:uniqueId val="{0000000D-5B4D-4CC6-B746-05D597E61BAD}"/>
              </c:ext>
            </c:extLst>
          </c:dPt>
          <c:dPt>
            <c:idx val="7"/>
            <c:invertIfNegative val="0"/>
            <c:bubble3D val="0"/>
            <c:spPr>
              <a:solidFill>
                <a:srgbClr val="3B6FE0"/>
              </a:solidFill>
              <a:effectLst/>
            </c:spPr>
            <c:extLst>
              <c:ext xmlns:c16="http://schemas.microsoft.com/office/drawing/2014/chart" uri="{C3380CC4-5D6E-409C-BE32-E72D297353CC}">
                <c16:uniqueId val="{0000000F-5B4D-4CC6-B746-05D597E61BAD}"/>
              </c:ext>
            </c:extLst>
          </c:dPt>
          <c:dPt>
            <c:idx val="8"/>
            <c:invertIfNegative val="0"/>
            <c:bubble3D val="0"/>
            <c:spPr>
              <a:solidFill>
                <a:srgbClr val="3B6FE0"/>
              </a:solidFill>
              <a:effectLst/>
            </c:spPr>
            <c:extLst>
              <c:ext xmlns:c16="http://schemas.microsoft.com/office/drawing/2014/chart" uri="{C3380CC4-5D6E-409C-BE32-E72D297353CC}">
                <c16:uniqueId val="{00000011-5B4D-4CC6-B746-05D597E61BAD}"/>
              </c:ext>
            </c:extLst>
          </c:dPt>
          <c:dPt>
            <c:idx val="9"/>
            <c:invertIfNegative val="0"/>
            <c:bubble3D val="0"/>
            <c:spPr>
              <a:solidFill>
                <a:srgbClr val="3B6FE0"/>
              </a:solidFill>
              <a:effectLst/>
            </c:spPr>
            <c:extLst>
              <c:ext xmlns:c16="http://schemas.microsoft.com/office/drawing/2014/chart" uri="{C3380CC4-5D6E-409C-BE32-E72D297353CC}">
                <c16:uniqueId val="{00000013-5B4D-4CC6-B746-05D597E61BAD}"/>
              </c:ext>
            </c:extLst>
          </c:dPt>
          <c:dLbls>
            <c:numFmt formatCode="\$#,##0,&quot;K&quot;" sourceLinked="0"/>
            <c:spPr>
              <a:noFill/>
              <a:ln>
                <a:noFill/>
              </a:ln>
              <a:effectLst/>
            </c:spPr>
            <c:txPr>
              <a:bodyPr/>
              <a:lstStyle/>
              <a:p>
                <a:pPr>
                  <a:defRPr sz="1100" b="0" i="0" u="none" strike="noStrike">
                    <a:solidFill>
                      <a:srgbClr val="0F1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Apple iMac Pro</c:v>
                </c:pt>
                <c:pt idx="1">
                  <c:v>Canon EOS R5 Mirrorless Camera</c:v>
                </c:pt>
                <c:pt idx="2">
                  <c:v>Apple iMac 27-Inch Retina</c:v>
                </c:pt>
                <c:pt idx="3">
                  <c:v>Apple iMac 24-Inch</c:v>
                </c:pt>
                <c:pt idx="4">
                  <c:v>Apple MacBook Pro 16-inch (2021)</c:v>
                </c:pt>
                <c:pt idx="5">
                  <c:v>Dell Alienware Aurora R13</c:v>
                </c:pt>
                <c:pt idx="6">
                  <c:v>Sony A7R IV Mirrorless Camera</c:v>
                </c:pt>
                <c:pt idx="7">
                  <c:v>Apple MacBook Pro 14-inch</c:v>
                </c:pt>
                <c:pt idx="8">
                  <c:v>Dell XPS 17 Laptop</c:v>
                </c:pt>
                <c:pt idx="9">
                  <c:v>Sony A7S III Mirrorless Camera</c:v>
                </c:pt>
              </c:strCache>
            </c:strRef>
          </c:cat>
          <c:val>
            <c:numRef>
              <c:f>Sheet1!$B$2:$B$11</c:f>
              <c:numCache>
                <c:formatCode>General</c:formatCode>
                <c:ptCount val="10"/>
                <c:pt idx="0">
                  <c:v>504998.99</c:v>
                </c:pt>
                <c:pt idx="1">
                  <c:v>194999.5</c:v>
                </c:pt>
                <c:pt idx="2">
                  <c:v>183598.98</c:v>
                </c:pt>
                <c:pt idx="3">
                  <c:v>155998.79999999999</c:v>
                </c:pt>
                <c:pt idx="4">
                  <c:v>147499.40999999997</c:v>
                </c:pt>
                <c:pt idx="5">
                  <c:v>142499.43</c:v>
                </c:pt>
                <c:pt idx="6">
                  <c:v>135299.59</c:v>
                </c:pt>
                <c:pt idx="7">
                  <c:v>129999.35</c:v>
                </c:pt>
                <c:pt idx="8">
                  <c:v>123899.40999999999</c:v>
                </c:pt>
                <c:pt idx="9">
                  <c:v>122499.65</c:v>
                </c:pt>
              </c:numCache>
            </c:numRef>
          </c:val>
          <c:extLst>
            <c:ext xmlns:c16="http://schemas.microsoft.com/office/drawing/2014/chart" uri="{C3380CC4-5D6E-409C-BE32-E72D297353CC}">
              <c16:uniqueId val="{00000014-5B4D-4CC6-B746-05D597E61BAD}"/>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1B33"/>
                </a:solidFill>
                <a:latin typeface="+mn-lt"/>
              </a:defRPr>
            </a:pPr>
            <a:endParaRPr lang="en-US"/>
          </a:p>
        </c:txPr>
        <c:crossAx val="2094734552"/>
        <c:crosses val="autoZero"/>
        <c:auto val="1"/>
        <c:lblAlgn val="ctr"/>
        <c:lblOffset val="100"/>
        <c:noMultiLvlLbl val="1"/>
      </c:catAx>
      <c:valAx>
        <c:axId val="2094734552"/>
        <c:scaling>
          <c:orientation val="minMax"/>
          <c:max val="6200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Completed revenue</c:v>
                </c:pt>
              </c:strCache>
            </c:strRef>
          </c:tx>
          <c:spPr>
            <a:solidFill>
              <a:srgbClr val="F59300"/>
            </a:solidFill>
            <a:effectLst/>
          </c:spPr>
          <c:invertIfNegative val="0"/>
          <c:dPt>
            <c:idx val="0"/>
            <c:invertIfNegative val="0"/>
            <c:bubble3D val="0"/>
            <c:extLst>
              <c:ext xmlns:c16="http://schemas.microsoft.com/office/drawing/2014/chart" uri="{C3380CC4-5D6E-409C-BE32-E72D297353CC}">
                <c16:uniqueId val="{00000001-C89A-4D1F-81E6-9C93807C540C}"/>
              </c:ext>
            </c:extLst>
          </c:dPt>
          <c:dPt>
            <c:idx val="1"/>
            <c:invertIfNegative val="0"/>
            <c:bubble3D val="0"/>
            <c:extLst>
              <c:ext xmlns:c16="http://schemas.microsoft.com/office/drawing/2014/chart" uri="{C3380CC4-5D6E-409C-BE32-E72D297353CC}">
                <c16:uniqueId val="{00000003-C89A-4D1F-81E6-9C93807C540C}"/>
              </c:ext>
            </c:extLst>
          </c:dPt>
          <c:dPt>
            <c:idx val="2"/>
            <c:invertIfNegative val="0"/>
            <c:bubble3D val="0"/>
            <c:extLst>
              <c:ext xmlns:c16="http://schemas.microsoft.com/office/drawing/2014/chart" uri="{C3380CC4-5D6E-409C-BE32-E72D297353CC}">
                <c16:uniqueId val="{00000005-C89A-4D1F-81E6-9C93807C540C}"/>
              </c:ext>
            </c:extLst>
          </c:dPt>
          <c:dPt>
            <c:idx val="3"/>
            <c:invertIfNegative val="0"/>
            <c:bubble3D val="0"/>
            <c:extLst>
              <c:ext xmlns:c16="http://schemas.microsoft.com/office/drawing/2014/chart" uri="{C3380CC4-5D6E-409C-BE32-E72D297353CC}">
                <c16:uniqueId val="{00000007-C89A-4D1F-81E6-9C93807C540C}"/>
              </c:ext>
            </c:extLst>
          </c:dPt>
          <c:dPt>
            <c:idx val="4"/>
            <c:invertIfNegative val="0"/>
            <c:bubble3D val="0"/>
            <c:spPr>
              <a:solidFill>
                <a:srgbClr val="8A97AB"/>
              </a:solidFill>
              <a:effectLst/>
            </c:spPr>
            <c:extLst>
              <c:ext xmlns:c16="http://schemas.microsoft.com/office/drawing/2014/chart" uri="{C3380CC4-5D6E-409C-BE32-E72D297353CC}">
                <c16:uniqueId val="{00000009-C89A-4D1F-81E6-9C93807C540C}"/>
              </c:ext>
            </c:extLst>
          </c:dPt>
          <c:dLbls>
            <c:numFmt formatCode="\$#,##0,&quot;K&quot;" sourceLinked="0"/>
            <c:spPr>
              <a:noFill/>
              <a:ln>
                <a:noFill/>
              </a:ln>
              <a:effectLst/>
            </c:spPr>
            <c:txPr>
              <a:bodyPr/>
              <a:lstStyle/>
              <a:p>
                <a:pPr>
                  <a:defRPr sz="1100" b="0" i="0" u="none" strike="noStrike">
                    <a:solidFill>
                      <a:srgbClr val="0F1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2020</c:v>
                </c:pt>
                <c:pt idx="1">
                  <c:v>2021</c:v>
                </c:pt>
                <c:pt idx="2">
                  <c:v>2022</c:v>
                </c:pt>
                <c:pt idx="3">
                  <c:v>2023</c:v>
                </c:pt>
                <c:pt idx="4">
                  <c:v>2024 (Jan-Jul)</c:v>
                </c:pt>
              </c:strCache>
            </c:strRef>
          </c:cat>
          <c:val>
            <c:numRef>
              <c:f>Sheet1!$B$2:$B$6</c:f>
              <c:numCache>
                <c:formatCode>General</c:formatCode>
                <c:ptCount val="5"/>
                <c:pt idx="0">
                  <c:v>2023677.59</c:v>
                </c:pt>
                <c:pt idx="1">
                  <c:v>2725931.33</c:v>
                </c:pt>
                <c:pt idx="2">
                  <c:v>2566080.5</c:v>
                </c:pt>
                <c:pt idx="3">
                  <c:v>2682790.62</c:v>
                </c:pt>
                <c:pt idx="4">
                  <c:v>384368.81</c:v>
                </c:pt>
              </c:numCache>
            </c:numRef>
          </c:val>
          <c:extLst>
            <c:ext xmlns:c16="http://schemas.microsoft.com/office/drawing/2014/chart" uri="{C3380CC4-5D6E-409C-BE32-E72D297353CC}">
              <c16:uniqueId val="{0000000A-C89A-4D1F-81E6-9C93807C540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F1B33"/>
                </a:solidFill>
                <a:latin typeface="+mn-lt"/>
              </a:defRPr>
            </a:pPr>
            <a:endParaRPr lang="en-US"/>
          </a:p>
        </c:txPr>
        <c:crossAx val="2094734552"/>
        <c:crosses val="autoZero"/>
        <c:auto val="1"/>
        <c:lblAlgn val="ctr"/>
        <c:lblOffset val="100"/>
        <c:noMultiLvlLbl val="1"/>
      </c:catAx>
      <c:valAx>
        <c:axId val="2094734552"/>
        <c:scaling>
          <c:orientation val="minMax"/>
          <c:max val="3300000"/>
          <c:min val="0"/>
        </c:scaling>
        <c:delete val="0"/>
        <c:axPos val="l"/>
        <c:majorGridlines>
          <c:spPr>
            <a:ln w="6350" cap="flat">
              <a:solidFill>
                <a:srgbClr val="E3E9F4"/>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7A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Completed revenue</c:v>
                </c:pt>
              </c:strCache>
            </c:strRef>
          </c:tx>
          <c:spPr>
            <a:solidFill>
              <a:srgbClr val="F59300"/>
            </a:solidFill>
            <a:effectLst/>
          </c:spPr>
          <c:invertIfNegative val="0"/>
          <c:dPt>
            <c:idx val="0"/>
            <c:invertIfNegative val="0"/>
            <c:bubble3D val="0"/>
            <c:extLst>
              <c:ext xmlns:c16="http://schemas.microsoft.com/office/drawing/2014/chart" uri="{C3380CC4-5D6E-409C-BE32-E72D297353CC}">
                <c16:uniqueId val="{00000001-E606-405D-83E8-9A68D2ED989B}"/>
              </c:ext>
            </c:extLst>
          </c:dPt>
          <c:dPt>
            <c:idx val="1"/>
            <c:invertIfNegative val="0"/>
            <c:bubble3D val="0"/>
            <c:extLst>
              <c:ext xmlns:c16="http://schemas.microsoft.com/office/drawing/2014/chart" uri="{C3380CC4-5D6E-409C-BE32-E72D297353CC}">
                <c16:uniqueId val="{00000003-E606-405D-83E8-9A68D2ED989B}"/>
              </c:ext>
            </c:extLst>
          </c:dPt>
          <c:dPt>
            <c:idx val="2"/>
            <c:invertIfNegative val="0"/>
            <c:bubble3D val="0"/>
            <c:spPr>
              <a:solidFill>
                <a:srgbClr val="3B6FE0"/>
              </a:solidFill>
              <a:effectLst/>
            </c:spPr>
            <c:extLst>
              <c:ext xmlns:c16="http://schemas.microsoft.com/office/drawing/2014/chart" uri="{C3380CC4-5D6E-409C-BE32-E72D297353CC}">
                <c16:uniqueId val="{00000005-E606-405D-83E8-9A68D2ED989B}"/>
              </c:ext>
            </c:extLst>
          </c:dPt>
          <c:dPt>
            <c:idx val="3"/>
            <c:invertIfNegative val="0"/>
            <c:bubble3D val="0"/>
            <c:spPr>
              <a:solidFill>
                <a:srgbClr val="3B6FE0"/>
              </a:solidFill>
              <a:effectLst/>
            </c:spPr>
            <c:extLst>
              <c:ext xmlns:c16="http://schemas.microsoft.com/office/drawing/2014/chart" uri="{C3380CC4-5D6E-409C-BE32-E72D297353CC}">
                <c16:uniqueId val="{00000007-E606-405D-83E8-9A68D2ED989B}"/>
              </c:ext>
            </c:extLst>
          </c:dPt>
          <c:dPt>
            <c:idx val="4"/>
            <c:invertIfNegative val="0"/>
            <c:bubble3D val="0"/>
            <c:spPr>
              <a:solidFill>
                <a:srgbClr val="3B6FE0"/>
              </a:solidFill>
              <a:effectLst/>
            </c:spPr>
            <c:extLst>
              <c:ext xmlns:c16="http://schemas.microsoft.com/office/drawing/2014/chart" uri="{C3380CC4-5D6E-409C-BE32-E72D297353CC}">
                <c16:uniqueId val="{00000009-E606-405D-83E8-9A68D2ED989B}"/>
              </c:ext>
            </c:extLst>
          </c:dPt>
          <c:dPt>
            <c:idx val="5"/>
            <c:invertIfNegative val="0"/>
            <c:bubble3D val="0"/>
            <c:spPr>
              <a:solidFill>
                <a:srgbClr val="8A97AB"/>
              </a:solidFill>
              <a:effectLst/>
            </c:spPr>
            <c:extLst>
              <c:ext xmlns:c16="http://schemas.microsoft.com/office/drawing/2014/chart" uri="{C3380CC4-5D6E-409C-BE32-E72D297353CC}">
                <c16:uniqueId val="{0000000B-E606-405D-83E8-9A68D2ED989B}"/>
              </c:ext>
            </c:extLst>
          </c:dPt>
          <c:dLbls>
            <c:numFmt formatCode="\$#,##0,&quot;K&quot;" sourceLinked="0"/>
            <c:spPr>
              <a:noFill/>
              <a:ln>
                <a:noFill/>
              </a:ln>
              <a:effectLst/>
            </c:spPr>
            <c:txPr>
              <a:bodyPr/>
              <a:lstStyle/>
              <a:p>
                <a:pPr>
                  <a:defRPr sz="1100" b="0" i="0" u="none" strike="noStrike">
                    <a:solidFill>
                      <a:srgbClr val="0F1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Ohio</c:v>
                </c:pt>
                <c:pt idx="1">
                  <c:v>Texas</c:v>
                </c:pt>
                <c:pt idx="2">
                  <c:v>New York</c:v>
                </c:pt>
                <c:pt idx="3">
                  <c:v>Oklahoma</c:v>
                </c:pt>
                <c:pt idx="4">
                  <c:v>Tennessee</c:v>
                </c:pt>
                <c:pt idx="5">
                  <c:v>Other (29 states)</c:v>
                </c:pt>
              </c:strCache>
            </c:strRef>
          </c:cat>
          <c:val>
            <c:numRef>
              <c:f>Sheet1!$B$2:$B$7</c:f>
              <c:numCache>
                <c:formatCode>General</c:formatCode>
                <c:ptCount val="6"/>
                <c:pt idx="0">
                  <c:v>6563974.8200000003</c:v>
                </c:pt>
                <c:pt idx="1">
                  <c:v>2798079.55</c:v>
                </c:pt>
                <c:pt idx="2">
                  <c:v>320285.61</c:v>
                </c:pt>
                <c:pt idx="3">
                  <c:v>181456.02</c:v>
                </c:pt>
                <c:pt idx="4">
                  <c:v>163920.46</c:v>
                </c:pt>
                <c:pt idx="5">
                  <c:v>355132.38999999873</c:v>
                </c:pt>
              </c:numCache>
            </c:numRef>
          </c:val>
          <c:extLst>
            <c:ext xmlns:c16="http://schemas.microsoft.com/office/drawing/2014/chart" uri="{C3380CC4-5D6E-409C-BE32-E72D297353CC}">
              <c16:uniqueId val="{0000000C-E606-405D-83E8-9A68D2ED989B}"/>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F1B33"/>
                </a:solidFill>
                <a:latin typeface="+mn-lt"/>
              </a:defRPr>
            </a:pPr>
            <a:endParaRPr lang="en-US"/>
          </a:p>
        </c:txPr>
        <c:crossAx val="2094734552"/>
        <c:crosses val="autoZero"/>
        <c:auto val="1"/>
        <c:lblAlgn val="ctr"/>
        <c:lblOffset val="100"/>
        <c:noMultiLvlLbl val="1"/>
      </c:catAx>
      <c:valAx>
        <c:axId val="2094734552"/>
        <c:scaling>
          <c:orientation val="minMax"/>
          <c:max val="7500000"/>
          <c:min val="0"/>
        </c:scaling>
        <c:delete val="0"/>
        <c:axPos val="l"/>
        <c:majorGridlines>
          <c:spPr>
            <a:ln w="6350" cap="flat">
              <a:solidFill>
                <a:srgbClr val="E3E9F4"/>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7A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Payments</c:v>
                </c:pt>
              </c:strCache>
            </c:strRef>
          </c:tx>
          <c:spPr>
            <a:solidFill>
              <a:schemeClr val="accent1"/>
            </a:solidFill>
            <a:ln w="9525" cap="flat">
              <a:solidFill>
                <a:srgbClr val="F9F9F9"/>
              </a:solidFill>
              <a:prstDash val="solid"/>
              <a:round/>
            </a:ln>
            <a:effectLst/>
          </c:spPr>
          <c:dPt>
            <c:idx val="0"/>
            <c:bubble3D val="0"/>
            <c:spPr>
              <a:solidFill>
                <a:srgbClr val="12A69A"/>
              </a:solidFill>
              <a:ln w="12700" cap="flat">
                <a:solidFill>
                  <a:srgbClr val="F4F7FB"/>
                </a:solidFill>
                <a:prstDash val="solid"/>
                <a:round/>
              </a:ln>
              <a:effectLst/>
            </c:spPr>
            <c:extLst>
              <c:ext xmlns:c16="http://schemas.microsoft.com/office/drawing/2014/chart" uri="{C3380CC4-5D6E-409C-BE32-E72D297353CC}">
                <c16:uniqueId val="{00000001-C37F-4CA4-9C69-FD331501135B}"/>
              </c:ext>
            </c:extLst>
          </c:dPt>
          <c:dPt>
            <c:idx val="1"/>
            <c:bubble3D val="0"/>
            <c:spPr>
              <a:solidFill>
                <a:srgbClr val="F59300"/>
              </a:solidFill>
              <a:ln w="12700" cap="flat">
                <a:solidFill>
                  <a:srgbClr val="F4F7FB"/>
                </a:solidFill>
                <a:prstDash val="solid"/>
                <a:round/>
              </a:ln>
              <a:effectLst/>
            </c:spPr>
            <c:extLst>
              <c:ext xmlns:c16="http://schemas.microsoft.com/office/drawing/2014/chart" uri="{C3380CC4-5D6E-409C-BE32-E72D297353CC}">
                <c16:uniqueId val="{00000003-C37F-4CA4-9C69-FD331501135B}"/>
              </c:ext>
            </c:extLst>
          </c:dPt>
          <c:dPt>
            <c:idx val="2"/>
            <c:bubble3D val="0"/>
            <c:spPr>
              <a:solidFill>
                <a:srgbClr val="D64550"/>
              </a:solidFill>
              <a:ln w="12700" cap="flat">
                <a:solidFill>
                  <a:srgbClr val="F4F7FB"/>
                </a:solidFill>
                <a:prstDash val="solid"/>
                <a:round/>
              </a:ln>
              <a:effectLst/>
            </c:spPr>
            <c:extLst>
              <c:ext xmlns:c16="http://schemas.microsoft.com/office/drawing/2014/chart" uri="{C3380CC4-5D6E-409C-BE32-E72D297353CC}">
                <c16:uniqueId val="{00000005-C37F-4CA4-9C69-FD331501135B}"/>
              </c:ext>
            </c:extLst>
          </c:dPt>
          <c:cat>
            <c:strRef>
              <c:f>Sheet1!$A$2:$A$4</c:f>
              <c:strCache>
                <c:ptCount val="3"/>
                <c:pt idx="0">
                  <c:v>Payment Successed 84.61%</c:v>
                </c:pt>
                <c:pt idx="1">
                  <c:v>Refunded 13.13%</c:v>
                </c:pt>
                <c:pt idx="2">
                  <c:v>Payment Failed 2.26%</c:v>
                </c:pt>
              </c:strCache>
            </c:strRef>
          </c:cat>
          <c:val>
            <c:numRef>
              <c:f>Sheet1!$B$2:$B$4</c:f>
              <c:numCache>
                <c:formatCode>General</c:formatCode>
                <c:ptCount val="3"/>
                <c:pt idx="0">
                  <c:v>18301</c:v>
                </c:pt>
                <c:pt idx="1">
                  <c:v>2840</c:v>
                </c:pt>
                <c:pt idx="2">
                  <c:v>488</c:v>
                </c:pt>
              </c:numCache>
            </c:numRef>
          </c:val>
          <c:extLst>
            <c:ext xmlns:c16="http://schemas.microsoft.com/office/drawing/2014/chart" uri="{C3380CC4-5D6E-409C-BE32-E72D297353CC}">
              <c16:uniqueId val="{00000006-C37F-4CA4-9C69-FD331501135B}"/>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solidFill>
                <a:srgbClr val="0F1B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Return rate %</c:v>
                </c:pt>
              </c:strCache>
            </c:strRef>
          </c:tx>
          <c:spPr>
            <a:solidFill>
              <a:srgbClr val="D64550"/>
            </a:solidFill>
            <a:effectLst/>
          </c:spPr>
          <c:invertIfNegative val="0"/>
          <c:dPt>
            <c:idx val="0"/>
            <c:invertIfNegative val="0"/>
            <c:bubble3D val="0"/>
            <c:extLst>
              <c:ext xmlns:c16="http://schemas.microsoft.com/office/drawing/2014/chart" uri="{C3380CC4-5D6E-409C-BE32-E72D297353CC}">
                <c16:uniqueId val="{00000001-DBA1-43AB-BDA3-6094A011801C}"/>
              </c:ext>
            </c:extLst>
          </c:dPt>
          <c:dPt>
            <c:idx val="1"/>
            <c:invertIfNegative val="0"/>
            <c:bubble3D val="0"/>
            <c:spPr>
              <a:solidFill>
                <a:srgbClr val="F59300"/>
              </a:solidFill>
              <a:effectLst/>
            </c:spPr>
            <c:extLst>
              <c:ext xmlns:c16="http://schemas.microsoft.com/office/drawing/2014/chart" uri="{C3380CC4-5D6E-409C-BE32-E72D297353CC}">
                <c16:uniqueId val="{00000003-DBA1-43AB-BDA3-6094A011801C}"/>
              </c:ext>
            </c:extLst>
          </c:dPt>
          <c:dPt>
            <c:idx val="2"/>
            <c:invertIfNegative val="0"/>
            <c:bubble3D val="0"/>
            <c:spPr>
              <a:solidFill>
                <a:srgbClr val="F59300"/>
              </a:solidFill>
              <a:effectLst/>
            </c:spPr>
            <c:extLst>
              <c:ext xmlns:c16="http://schemas.microsoft.com/office/drawing/2014/chart" uri="{C3380CC4-5D6E-409C-BE32-E72D297353CC}">
                <c16:uniqueId val="{00000005-DBA1-43AB-BDA3-6094A011801C}"/>
              </c:ext>
            </c:extLst>
          </c:dPt>
          <c:dPt>
            <c:idx val="3"/>
            <c:invertIfNegative val="0"/>
            <c:bubble3D val="0"/>
            <c:spPr>
              <a:solidFill>
                <a:srgbClr val="F59300"/>
              </a:solidFill>
              <a:effectLst/>
            </c:spPr>
            <c:extLst>
              <c:ext xmlns:c16="http://schemas.microsoft.com/office/drawing/2014/chart" uri="{C3380CC4-5D6E-409C-BE32-E72D297353CC}">
                <c16:uniqueId val="{00000007-DBA1-43AB-BDA3-6094A011801C}"/>
              </c:ext>
            </c:extLst>
          </c:dPt>
          <c:dPt>
            <c:idx val="4"/>
            <c:invertIfNegative val="0"/>
            <c:bubble3D val="0"/>
            <c:spPr>
              <a:solidFill>
                <a:srgbClr val="F59300"/>
              </a:solidFill>
              <a:effectLst/>
            </c:spPr>
            <c:extLst>
              <c:ext xmlns:c16="http://schemas.microsoft.com/office/drawing/2014/chart" uri="{C3380CC4-5D6E-409C-BE32-E72D297353CC}">
                <c16:uniqueId val="{00000009-DBA1-43AB-BDA3-6094A011801C}"/>
              </c:ext>
            </c:extLst>
          </c:dPt>
          <c:dPt>
            <c:idx val="5"/>
            <c:invertIfNegative val="0"/>
            <c:bubble3D val="0"/>
            <c:spPr>
              <a:solidFill>
                <a:srgbClr val="F59300"/>
              </a:solidFill>
              <a:effectLst/>
            </c:spPr>
            <c:extLst>
              <c:ext xmlns:c16="http://schemas.microsoft.com/office/drawing/2014/chart" uri="{C3380CC4-5D6E-409C-BE32-E72D297353CC}">
                <c16:uniqueId val="{0000000B-DBA1-43AB-BDA3-6094A011801C}"/>
              </c:ext>
            </c:extLst>
          </c:dPt>
          <c:dLbls>
            <c:numFmt formatCode="0.0&quot;%&quot;" sourceLinked="0"/>
            <c:spPr>
              <a:noFill/>
              <a:ln>
                <a:noFill/>
              </a:ln>
              <a:effectLst/>
            </c:spPr>
            <c:txPr>
              <a:bodyPr/>
              <a:lstStyle/>
              <a:p>
                <a:pPr>
                  <a:defRPr sz="1100" b="0" i="0" u="none" strike="noStrike">
                    <a:solidFill>
                      <a:srgbClr val="0F1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DJI Mavic Air 2</c:v>
                </c:pt>
                <c:pt idx="1">
                  <c:v>Amazon Echo Studio</c:v>
                </c:pt>
                <c:pt idx="2">
                  <c:v>Logitech G915 TKL Mechanical Keyboard</c:v>
                </c:pt>
                <c:pt idx="3">
                  <c:v>Dell Inspiron 15 3000</c:v>
                </c:pt>
                <c:pt idx="4">
                  <c:v>Fitness Tracker</c:v>
                </c:pt>
                <c:pt idx="5">
                  <c:v>Outdoor Basketball Net</c:v>
                </c:pt>
              </c:strCache>
            </c:strRef>
          </c:cat>
          <c:val>
            <c:numRef>
              <c:f>Sheet1!$B$2:$B$7</c:f>
              <c:numCache>
                <c:formatCode>General</c:formatCode>
                <c:ptCount val="6"/>
                <c:pt idx="0">
                  <c:v>30.51</c:v>
                </c:pt>
                <c:pt idx="1">
                  <c:v>24</c:v>
                </c:pt>
                <c:pt idx="2">
                  <c:v>23.64</c:v>
                </c:pt>
                <c:pt idx="3">
                  <c:v>23.61</c:v>
                </c:pt>
                <c:pt idx="4">
                  <c:v>22.84</c:v>
                </c:pt>
                <c:pt idx="5">
                  <c:v>22.04</c:v>
                </c:pt>
              </c:numCache>
            </c:numRef>
          </c:val>
          <c:extLst>
            <c:ext xmlns:c16="http://schemas.microsoft.com/office/drawing/2014/chart" uri="{C3380CC4-5D6E-409C-BE32-E72D297353CC}">
              <c16:uniqueId val="{0000000C-DBA1-43AB-BDA3-6094A011801C}"/>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1B33"/>
                </a:solidFill>
                <a:latin typeface="+mn-lt"/>
              </a:defRPr>
            </a:pPr>
            <a:endParaRPr lang="en-US"/>
          </a:p>
        </c:txPr>
        <c:crossAx val="2094734552"/>
        <c:crosses val="autoZero"/>
        <c:auto val="1"/>
        <c:lblAlgn val="ctr"/>
        <c:lblOffset val="100"/>
        <c:noMultiLvlLbl val="1"/>
      </c:catAx>
      <c:valAx>
        <c:axId val="2094734552"/>
        <c:scaling>
          <c:orientation val="minMax"/>
          <c:max val="38"/>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Customers</c:v>
                </c:pt>
              </c:strCache>
            </c:strRef>
          </c:tx>
          <c:spPr>
            <a:solidFill>
              <a:srgbClr val="F59300"/>
            </a:solidFill>
            <a:effectLst/>
          </c:spPr>
          <c:invertIfNegative val="0"/>
          <c:dPt>
            <c:idx val="0"/>
            <c:invertIfNegative val="0"/>
            <c:bubble3D val="0"/>
            <c:extLst>
              <c:ext xmlns:c16="http://schemas.microsoft.com/office/drawing/2014/chart" uri="{C3380CC4-5D6E-409C-BE32-E72D297353CC}">
                <c16:uniqueId val="{00000001-4912-42D4-93C8-DD1BBF9DF300}"/>
              </c:ext>
            </c:extLst>
          </c:dPt>
          <c:dPt>
            <c:idx val="1"/>
            <c:invertIfNegative val="0"/>
            <c:bubble3D val="0"/>
            <c:spPr>
              <a:solidFill>
                <a:srgbClr val="3B6FE0"/>
              </a:solidFill>
              <a:effectLst/>
            </c:spPr>
            <c:extLst>
              <c:ext xmlns:c16="http://schemas.microsoft.com/office/drawing/2014/chart" uri="{C3380CC4-5D6E-409C-BE32-E72D297353CC}">
                <c16:uniqueId val="{00000003-4912-42D4-93C8-DD1BBF9DF300}"/>
              </c:ext>
            </c:extLst>
          </c:dPt>
          <c:dPt>
            <c:idx val="2"/>
            <c:invertIfNegative val="0"/>
            <c:bubble3D val="0"/>
            <c:spPr>
              <a:solidFill>
                <a:srgbClr val="3B6FE0"/>
              </a:solidFill>
              <a:effectLst/>
            </c:spPr>
            <c:extLst>
              <c:ext xmlns:c16="http://schemas.microsoft.com/office/drawing/2014/chart" uri="{C3380CC4-5D6E-409C-BE32-E72D297353CC}">
                <c16:uniqueId val="{00000005-4912-42D4-93C8-DD1BBF9DF300}"/>
              </c:ext>
            </c:extLst>
          </c:dPt>
          <c:dPt>
            <c:idx val="3"/>
            <c:invertIfNegative val="0"/>
            <c:bubble3D val="0"/>
            <c:spPr>
              <a:solidFill>
                <a:srgbClr val="8A97AB"/>
              </a:solidFill>
              <a:effectLst/>
            </c:spPr>
            <c:extLst>
              <c:ext xmlns:c16="http://schemas.microsoft.com/office/drawing/2014/chart" uri="{C3380CC4-5D6E-409C-BE32-E72D297353CC}">
                <c16:uniqueId val="{00000007-4912-42D4-93C8-DD1BBF9DF300}"/>
              </c:ext>
            </c:extLst>
          </c:dPt>
          <c:dLbls>
            <c:numFmt formatCode="#,##0" sourceLinked="0"/>
            <c:spPr>
              <a:noFill/>
              <a:ln>
                <a:noFill/>
              </a:ln>
              <a:effectLst/>
            </c:spPr>
            <c:txPr>
              <a:bodyPr/>
              <a:lstStyle/>
              <a:p>
                <a:pPr>
                  <a:defRPr sz="1100" b="0" i="0" u="none" strike="noStrike">
                    <a:solidFill>
                      <a:srgbClr val="0F1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Texas</c:v>
                </c:pt>
                <c:pt idx="1">
                  <c:v>California</c:v>
                </c:pt>
                <c:pt idx="2">
                  <c:v>New York</c:v>
                </c:pt>
                <c:pt idx="3">
                  <c:v>Other states</c:v>
                </c:pt>
              </c:strCache>
            </c:strRef>
          </c:cat>
          <c:val>
            <c:numRef>
              <c:f>Sheet1!$B$2:$B$5</c:f>
              <c:numCache>
                <c:formatCode>General</c:formatCode>
                <c:ptCount val="4"/>
                <c:pt idx="0">
                  <c:v>118</c:v>
                </c:pt>
                <c:pt idx="1">
                  <c:v>33</c:v>
                </c:pt>
                <c:pt idx="2">
                  <c:v>6</c:v>
                </c:pt>
                <c:pt idx="3">
                  <c:v>55</c:v>
                </c:pt>
              </c:numCache>
            </c:numRef>
          </c:val>
          <c:extLst>
            <c:ext xmlns:c16="http://schemas.microsoft.com/office/drawing/2014/chart" uri="{C3380CC4-5D6E-409C-BE32-E72D297353CC}">
              <c16:uniqueId val="{00000008-4912-42D4-93C8-DD1BBF9DF300}"/>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1B33"/>
                </a:solidFill>
                <a:latin typeface="+mn-lt"/>
              </a:defRPr>
            </a:pPr>
            <a:endParaRPr lang="en-US"/>
          </a:p>
        </c:txPr>
        <c:crossAx val="2094734552"/>
        <c:crosses val="autoZero"/>
        <c:auto val="1"/>
        <c:lblAlgn val="ctr"/>
        <c:lblOffset val="100"/>
        <c:noMultiLvlLbl val="1"/>
      </c:catAx>
      <c:valAx>
        <c:axId val="2094734552"/>
        <c:scaling>
          <c:orientation val="minMax"/>
          <c:max val="14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Products</c:v>
                </c:pt>
              </c:strCache>
            </c:strRef>
          </c:tx>
          <c:spPr>
            <a:solidFill>
              <a:srgbClr val="F59300"/>
            </a:solidFill>
            <a:effectLst/>
          </c:spPr>
          <c:invertIfNegative val="0"/>
          <c:dLbls>
            <c:numFmt formatCode="#,##0" sourceLinked="0"/>
            <c:spPr>
              <a:noFill/>
              <a:ln>
                <a:noFill/>
              </a:ln>
              <a:effectLst/>
            </c:spPr>
            <c:txPr>
              <a:bodyPr/>
              <a:lstStyle/>
              <a:p>
                <a:pPr>
                  <a:defRPr sz="1100" b="0" i="0" u="none" strike="noStrike">
                    <a:solidFill>
                      <a:srgbClr val="0F1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Pet Supplies</c:v>
                </c:pt>
                <c:pt idx="1">
                  <c:v>Toys &amp; Games</c:v>
                </c:pt>
                <c:pt idx="2">
                  <c:v>Sports &amp; Outdoors</c:v>
                </c:pt>
              </c:strCache>
            </c:strRef>
          </c:cat>
          <c:val>
            <c:numRef>
              <c:f>Sheet1!$B$2:$B$4</c:f>
              <c:numCache>
                <c:formatCode>General</c:formatCode>
                <c:ptCount val="3"/>
                <c:pt idx="0">
                  <c:v>21</c:v>
                </c:pt>
                <c:pt idx="1">
                  <c:v>20</c:v>
                </c:pt>
                <c:pt idx="2">
                  <c:v>10</c:v>
                </c:pt>
              </c:numCache>
            </c:numRef>
          </c:val>
          <c:extLst>
            <c:ext xmlns:c16="http://schemas.microsoft.com/office/drawing/2014/chart" uri="{C3380CC4-5D6E-409C-BE32-E72D297353CC}">
              <c16:uniqueId val="{00000000-229A-42F8-967B-281A99DB4903}"/>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1B33"/>
                </a:solidFill>
                <a:latin typeface="+mn-lt"/>
              </a:defRPr>
            </a:pPr>
            <a:endParaRPr lang="en-US"/>
          </a:p>
        </c:txPr>
        <c:crossAx val="2094734552"/>
        <c:crosses val="autoZero"/>
        <c:auto val="1"/>
        <c:lblAlgn val="ctr"/>
        <c:lblOffset val="100"/>
        <c:noMultiLvlLbl val="1"/>
      </c:catAx>
      <c:valAx>
        <c:axId val="2094734552"/>
        <c:scaling>
          <c:orientation val="minMax"/>
          <c:max val="27.3"/>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Products</c:v>
                </c:pt>
              </c:strCache>
            </c:strRef>
          </c:tx>
          <c:spPr>
            <a:solidFill>
              <a:srgbClr val="3B6FE0"/>
            </a:solidFill>
            <a:effectLst/>
          </c:spPr>
          <c:invertIfNegative val="0"/>
          <c:dLbls>
            <c:numFmt formatCode="#,##0" sourceLinked="0"/>
            <c:spPr>
              <a:noFill/>
              <a:ln>
                <a:noFill/>
              </a:ln>
              <a:effectLst/>
            </c:spPr>
            <c:txPr>
              <a:bodyPr/>
              <a:lstStyle/>
              <a:p>
                <a:pPr>
                  <a:defRPr sz="1100" b="0" i="0" u="none" strike="noStrike">
                    <a:solidFill>
                      <a:srgbClr val="0F1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Sports &amp; Outdoors</c:v>
                </c:pt>
                <c:pt idx="1">
                  <c:v>Toys &amp; Games</c:v>
                </c:pt>
                <c:pt idx="2">
                  <c:v>Pet Supplies</c:v>
                </c:pt>
              </c:strCache>
            </c:strRef>
          </c:cat>
          <c:val>
            <c:numRef>
              <c:f>Sheet1!$B$2:$B$4</c:f>
              <c:numCache>
                <c:formatCode>General</c:formatCode>
                <c:ptCount val="3"/>
                <c:pt idx="0">
                  <c:v>9</c:v>
                </c:pt>
                <c:pt idx="1">
                  <c:v>5</c:v>
                </c:pt>
                <c:pt idx="2">
                  <c:v>1</c:v>
                </c:pt>
              </c:numCache>
            </c:numRef>
          </c:val>
          <c:extLst>
            <c:ext xmlns:c16="http://schemas.microsoft.com/office/drawing/2014/chart" uri="{C3380CC4-5D6E-409C-BE32-E72D297353CC}">
              <c16:uniqueId val="{00000000-3C09-4B80-A1EC-96E162ED2586}"/>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1B33"/>
                </a:solidFill>
                <a:latin typeface="+mn-lt"/>
              </a:defRPr>
            </a:pPr>
            <a:endParaRPr lang="en-US"/>
          </a:p>
        </c:txPr>
        <c:crossAx val="2094734552"/>
        <c:crosses val="autoZero"/>
        <c:auto val="1"/>
        <c:lblAlgn val="ctr"/>
        <c:lblOffset val="100"/>
        <c:noMultiLvlLbl val="1"/>
      </c:catAx>
      <c:valAx>
        <c:axId val="2094734552"/>
        <c:scaling>
          <c:orientation val="minMax"/>
          <c:max val="11.700000000000001"/>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0265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status: completed and fully functional, GitHub repository ready with code uploaded, LinkedIn post done. Portfolio project: SQL analysis of an Amazon-style marketplace dataset (9 CSV tables). Revenue and orders are for completed orders unless stated otherwise.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project: I chose this project because Amazon is a large e-commerce platform that generates a huge amount of sales and customer data. I wanted to understand how SQL can be used to analyze this data, identify business problems, and discover opportunities for improvement. Through this project, I aimed to improve my practical SQL skills in data cleaning, joins, aggregations, and business analysis, while converting raw data into meaningful insights that can support better business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combined revenue is $12.64M: every order status added together. Completed orders make up $10.38M (82.1%); returned, cancelled and in-progress orders make up the rest. All other revenue KPIs in this deck use completed orders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CSVs: customers, products, sellers, category, orders, order_items, inventory, payments, shipping. Table roles are colour-coded and reused in the ERD.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raw CSV, profiling, cleaning, type standardization, relational database, ERD, SQL analysis, KPIs, insights, recommendations. SQL techniques listed are the ones used in the companion .sql script.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ERD built from the actual CSV columns. Verified: all primary keys unique; all 8 foreign keys resolve with zero orphans. inventory has its own inventory_id key and a unique product_id foreign key; payments and shipping have unique order_id. order_item_id equals order_id in every row, so the supplied data holds one item row per order. Source columns renamed: "Customer ID" to customer_id, "shipping providers" to shipping_provider.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orange tiles (212, 15, 51, 488) are four different business concepts and are never added together: customers with no order, products never sold, products below the stock threshold, orders without a shipping record.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mistake was found by profiling the CSVs. Detection and fix queries for each item are in section 3 of the .sql file. Product queries group by product_id because 5 product names are shared by two different products.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is answered with one SQL query shown on its slide. Questions follow the storyline: revenue, products, geography, payments, returns, customers, inventory, trend, customer value.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 Electronics is 89.63% of completed revenue. Every other category is under 4%. Gross margin is similar across categories (71% to 76%), so the revenue gap is about volume and price, not margin.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 Apple iMac Pro earns $505K, about $310K more than the next product. The top 10 products together are 17.7% of completed revenue, so revenue is spread across many electronics products.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 brings last year revenue onto the same row so growth can be calculated. 2021 +34.7%, 2022 -5.9%, 2023 +4.5%. 2024 covers only Jan to Jul, and monthly order volume drops sharply after Feb 2024, so check how the data was captured.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comes from the customers table, joined through orders. Ohio 63.2% and Texas 26.9% of completed revenue.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Successed is the source spelling and includes 499 in-progress orders; there is no pending status in the data. Return rate = returned units / total units. Q5 uses a CTE and CASE inside SUM to count returned units per product.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 LEFT JOIN keeps every customer, and customers with no matching order show NULL. Q10: a CTE sums completed revenue per customer (historical CLTV), RANK() orders customers, and a sub-query gives the average.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Q7 filters inventory with WHERE stock &lt; 10. Q8 uses LEFT JOIN and keeps products with no matching order_items row. They are different business concepts.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headline insights, each tied to the query that proves it. Revenue is concentrated in one category and two states, returns and inactive customers are material, and the 2024 drop in orders must be verified as real or missing data.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actions map to the five findings: inventory planning, return investigation, customer activation, unsold-product review, and data capture. The concentration strip highlights revenue dependence on one category and two states.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revenue depends on one category and two states; inventory, returns and inactive customers need action; and the data needs cleaner types and labels.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234440"/>
            <a:ext cx="5577840" cy="2194560"/>
          </a:xfrm>
          <a:prstGeom prst="rect">
            <a:avLst/>
          </a:prstGeom>
          <a:noFill/>
          <a:ln/>
        </p:spPr>
        <p:txBody>
          <a:bodyPr wrap="square" rtlCol="0"/>
          <a:lstStyle>
            <a:lvl1pPr marL="0" indent="0" algn="l">
              <a:buNone/>
              <a:defRPr lang="en-US" sz="4800" b="1" dirty="0">
                <a:solidFill>
                  <a:schemeClr val="tx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3566160"/>
            <a:ext cx="5394960" cy="731520"/>
          </a:xfrm>
          <a:prstGeom prst="rect">
            <a:avLst/>
          </a:prstGeom>
          <a:noFill/>
          <a:ln/>
        </p:spPr>
        <p:txBody>
          <a:bodyPr wrap="square" rtlCol="0"/>
          <a:lstStyle>
            <a:lvl1pPr marL="0" indent="0" algn="l">
              <a:buNone/>
              <a:defRPr lang="en-US" sz="1800" dirty="0">
                <a:solidFill>
                  <a:schemeClr val="accent5"/>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3" name="Text 0"/>
          <p:cNvSpPr/>
          <p:nvPr/>
        </p:nvSpPr>
        <p:spPr>
          <a:xfrm>
            <a:off x="457200" y="6510528"/>
            <a:ext cx="7315200" cy="201168"/>
          </a:xfrm>
          <a:prstGeom prst="rect">
            <a:avLst/>
          </a:prstGeom>
          <a:noFill/>
          <a:ln/>
        </p:spPr>
        <p:txBody>
          <a:bodyPr wrap="square" lIns="0" tIns="0" rIns="0" bIns="0" rtlCol="0" anchor="ctr"/>
          <a:lstStyle/>
          <a:p>
            <a:pPr marL="0" indent="0">
              <a:buNone/>
            </a:pPr>
            <a:r>
              <a:rPr lang="en-US" sz="1000" dirty="0">
                <a:solidFill>
                  <a:schemeClr val="accent5"/>
                </a:solidFill>
              </a:rPr>
              <a:t>Data with Divyesh  |  Amazon Products Insights using SQL</a:t>
            </a:r>
            <a:endParaRPr lang="en-US" sz="1000" dirty="0"/>
          </a:p>
        </p:txBody>
      </p:sp>
      <p:sp>
        <p:nvSpPr>
          <p:cNvPr id="4"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chart" Target="../charts/chart6.xml"/></Relationships>
</file>

<file path=ppt/slides/_rels/slide1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chart" Target="../charts/char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image" descr="Amazon Products Insights Using SQL: cover with Amazon, LinkedIn and GitHub logos"/>
          <p:cNvPicPr>
            <a:picLocks noChangeAspect="1"/>
          </p:cNvPicPr>
          <p:nvPr/>
        </p:nvPicPr>
        <p:blipFill>
          <a:blip r:embed="rId3"/>
          <a:stretch>
            <a:fillRect/>
          </a:stretch>
        </p:blipFill>
        <p:spPr>
          <a:xfrm>
            <a:off x="0" y="0"/>
            <a:ext cx="12191695" cy="6858000"/>
          </a:xfrm>
          <a:prstGeom prst="rect">
            <a:avLst/>
          </a:prstGeom>
        </p:spPr>
      </p:pic>
      <p:sp>
        <p:nvSpPr>
          <p:cNvPr id="3" name="status-pill"/>
          <p:cNvSpPr/>
          <p:nvPr/>
        </p:nvSpPr>
        <p:spPr>
          <a:xfrm>
            <a:off x="640080" y="6108192"/>
            <a:ext cx="2423160" cy="402336"/>
          </a:xfrm>
          <a:prstGeom prst="roundRect">
            <a:avLst>
              <a:gd name="adj" fmla="val 27273"/>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pic>
        <p:nvPicPr>
          <p:cNvPr id="4" name="Image 1" descr="Done"/>
          <p:cNvPicPr>
            <a:picLocks noChangeAspect="1"/>
          </p:cNvPicPr>
          <p:nvPr/>
        </p:nvPicPr>
        <p:blipFill>
          <a:blip r:embed="rId4"/>
          <a:stretch>
            <a:fillRect/>
          </a:stretch>
        </p:blipFill>
        <p:spPr>
          <a:xfrm>
            <a:off x="768096" y="6190488"/>
            <a:ext cx="237744" cy="237744"/>
          </a:xfrm>
          <a:prstGeom prst="rect">
            <a:avLst/>
          </a:prstGeom>
        </p:spPr>
      </p:pic>
      <p:sp>
        <p:nvSpPr>
          <p:cNvPr id="5" name="status-pill-text"/>
          <p:cNvSpPr txBox="1"/>
          <p:nvPr/>
        </p:nvSpPr>
        <p:spPr>
          <a:xfrm>
            <a:off x="1097280" y="6108192"/>
            <a:ext cx="1920240" cy="402336"/>
          </a:xfrm>
          <a:prstGeom prst="rect">
            <a:avLst/>
          </a:prstGeom>
          <a:noFill/>
          <a:ln/>
        </p:spPr>
        <p:txBody>
          <a:bodyPr wrap="square" lIns="0" tIns="0" rIns="0" bIns="0" rtlCol="0" anchor="ctr"/>
          <a:lstStyle/>
          <a:p>
            <a:pPr marL="0" indent="0">
              <a:buNone/>
            </a:pPr>
            <a:r>
              <a:rPr lang="en-US" sz="1250" b="1" dirty="0">
                <a:solidFill>
                  <a:schemeClr val="tx1"/>
                </a:solidFill>
              </a:rPr>
              <a:t>Completed Project</a:t>
            </a:r>
            <a:endParaRPr lang="en-US" sz="1250" dirty="0"/>
          </a:p>
        </p:txBody>
      </p:sp>
      <p:sp>
        <p:nvSpPr>
          <p:cNvPr id="6" name="status-pill"/>
          <p:cNvSpPr/>
          <p:nvPr/>
        </p:nvSpPr>
        <p:spPr>
          <a:xfrm>
            <a:off x="3200400" y="6108192"/>
            <a:ext cx="2423160" cy="402336"/>
          </a:xfrm>
          <a:prstGeom prst="roundRect">
            <a:avLst>
              <a:gd name="adj" fmla="val 27273"/>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pic>
        <p:nvPicPr>
          <p:cNvPr id="7" name="Image 2" descr="Done"/>
          <p:cNvPicPr>
            <a:picLocks noChangeAspect="1"/>
          </p:cNvPicPr>
          <p:nvPr/>
        </p:nvPicPr>
        <p:blipFill>
          <a:blip r:embed="rId4"/>
          <a:stretch>
            <a:fillRect/>
          </a:stretch>
        </p:blipFill>
        <p:spPr>
          <a:xfrm>
            <a:off x="3328416" y="6190488"/>
            <a:ext cx="237744" cy="237744"/>
          </a:xfrm>
          <a:prstGeom prst="rect">
            <a:avLst/>
          </a:prstGeom>
        </p:spPr>
      </p:pic>
      <p:sp>
        <p:nvSpPr>
          <p:cNvPr id="8" name="status-pill-text"/>
          <p:cNvSpPr txBox="1"/>
          <p:nvPr/>
        </p:nvSpPr>
        <p:spPr>
          <a:xfrm>
            <a:off x="3657600" y="6108192"/>
            <a:ext cx="1920240" cy="402336"/>
          </a:xfrm>
          <a:prstGeom prst="rect">
            <a:avLst/>
          </a:prstGeom>
          <a:noFill/>
          <a:ln/>
        </p:spPr>
        <p:txBody>
          <a:bodyPr wrap="square" lIns="0" tIns="0" rIns="0" bIns="0" rtlCol="0" anchor="ctr"/>
          <a:lstStyle/>
          <a:p>
            <a:pPr marL="0" indent="0">
              <a:buNone/>
            </a:pPr>
            <a:r>
              <a:rPr lang="en-US" sz="1250" b="1" dirty="0">
                <a:solidFill>
                  <a:schemeClr val="tx1"/>
                </a:solidFill>
              </a:rPr>
              <a:t>GitHub Repository</a:t>
            </a:r>
            <a:endParaRPr lang="en-US" sz="1250" dirty="0"/>
          </a:p>
        </p:txBody>
      </p:sp>
      <p:sp>
        <p:nvSpPr>
          <p:cNvPr id="9" name="status-pill"/>
          <p:cNvSpPr/>
          <p:nvPr/>
        </p:nvSpPr>
        <p:spPr>
          <a:xfrm>
            <a:off x="5760720" y="6108192"/>
            <a:ext cx="2423160" cy="402336"/>
          </a:xfrm>
          <a:prstGeom prst="roundRect">
            <a:avLst>
              <a:gd name="adj" fmla="val 27273"/>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pic>
        <p:nvPicPr>
          <p:cNvPr id="10" name="Image 3" descr="Done"/>
          <p:cNvPicPr>
            <a:picLocks noChangeAspect="1"/>
          </p:cNvPicPr>
          <p:nvPr/>
        </p:nvPicPr>
        <p:blipFill>
          <a:blip r:embed="rId4"/>
          <a:stretch>
            <a:fillRect/>
          </a:stretch>
        </p:blipFill>
        <p:spPr>
          <a:xfrm>
            <a:off x="5888736" y="6190488"/>
            <a:ext cx="237744" cy="237744"/>
          </a:xfrm>
          <a:prstGeom prst="rect">
            <a:avLst/>
          </a:prstGeom>
        </p:spPr>
      </p:pic>
      <p:sp>
        <p:nvSpPr>
          <p:cNvPr id="11" name="status-pill-text"/>
          <p:cNvSpPr txBox="1"/>
          <p:nvPr/>
        </p:nvSpPr>
        <p:spPr>
          <a:xfrm>
            <a:off x="6217920" y="6108192"/>
            <a:ext cx="1920240" cy="402336"/>
          </a:xfrm>
          <a:prstGeom prst="rect">
            <a:avLst/>
          </a:prstGeom>
          <a:noFill/>
          <a:ln/>
        </p:spPr>
        <p:txBody>
          <a:bodyPr wrap="square" lIns="0" tIns="0" rIns="0" bIns="0" rtlCol="0" anchor="ctr"/>
          <a:lstStyle/>
          <a:p>
            <a:pPr marL="0" indent="0">
              <a:buNone/>
            </a:pPr>
            <a:r>
              <a:rPr lang="en-US" sz="1250" b="1" dirty="0">
                <a:solidFill>
                  <a:schemeClr val="tx1"/>
                </a:solidFill>
              </a:rPr>
              <a:t>LinkedIn Post Done</a:t>
            </a:r>
            <a:endParaRPr lang="en-US" sz="1250" dirty="0"/>
          </a:p>
        </p:txBody>
      </p:sp>
      <p:sp>
        <p:nvSpPr>
          <p:cNvPr id="12" name="byline"/>
          <p:cNvSpPr txBox="1"/>
          <p:nvPr/>
        </p:nvSpPr>
        <p:spPr>
          <a:xfrm>
            <a:off x="8366760" y="6108192"/>
            <a:ext cx="3364992" cy="402336"/>
          </a:xfrm>
          <a:prstGeom prst="rect">
            <a:avLst/>
          </a:prstGeom>
          <a:noFill/>
          <a:ln/>
        </p:spPr>
        <p:txBody>
          <a:bodyPr wrap="square" lIns="0" tIns="0" rIns="0" bIns="0" rtlCol="0" anchor="ctr"/>
          <a:lstStyle/>
          <a:p>
            <a:pPr marL="0" indent="0" algn="r">
              <a:buNone/>
            </a:pPr>
            <a:r>
              <a:rPr lang="en-US" sz="1100" b="1" dirty="0">
                <a:solidFill>
                  <a:schemeClr val="accent5"/>
                </a:solidFill>
              </a:rPr>
              <a:t>Divyesh Lodha  |  Data Analyst  |  Data with Divyesh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Why This Project?</a:t>
            </a:r>
            <a:endParaRPr lang="en-US" sz="2800" dirty="0"/>
          </a:p>
        </p:txBody>
      </p:sp>
      <p:sp>
        <p:nvSpPr>
          <p:cNvPr id="3" name="why-subtitle"/>
          <p:cNvSpPr txBox="1"/>
          <p:nvPr/>
        </p:nvSpPr>
        <p:spPr>
          <a:xfrm>
            <a:off x="457200" y="822960"/>
            <a:ext cx="10149840" cy="219456"/>
          </a:xfrm>
          <a:prstGeom prst="rect">
            <a:avLst/>
          </a:prstGeom>
          <a:noFill/>
          <a:ln/>
        </p:spPr>
        <p:txBody>
          <a:bodyPr wrap="square" lIns="0" tIns="0" rIns="0" bIns="0" rtlCol="0" anchor="t"/>
          <a:lstStyle/>
          <a:p>
            <a:pPr marL="0" indent="0">
              <a:buNone/>
            </a:pPr>
            <a:r>
              <a:rPr lang="en-US" sz="1250" i="1" dirty="0">
                <a:solidFill>
                  <a:schemeClr val="accent5"/>
                </a:solidFill>
              </a:rPr>
              <a:t>From raw data to meaningful insights that support better business decisions.</a:t>
            </a:r>
            <a:endParaRPr lang="en-US" sz="1250" dirty="0"/>
          </a:p>
        </p:txBody>
      </p:sp>
      <p:sp>
        <p:nvSpPr>
          <p:cNvPr id="4" name="why-story-card"/>
          <p:cNvSpPr/>
          <p:nvPr/>
        </p:nvSpPr>
        <p:spPr>
          <a:xfrm>
            <a:off x="457200" y="1188720"/>
            <a:ext cx="6903720" cy="1252728"/>
          </a:xfrm>
          <a:prstGeom prst="roundRect">
            <a:avLst>
              <a:gd name="adj" fmla="val 875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5" name="why-icon-bg"/>
          <p:cNvSpPr/>
          <p:nvPr/>
        </p:nvSpPr>
        <p:spPr>
          <a:xfrm>
            <a:off x="731520" y="1527048"/>
            <a:ext cx="566928" cy="566928"/>
          </a:xfrm>
          <a:prstGeom prst="ellipse">
            <a:avLst/>
          </a:prstGeom>
          <a:solidFill>
            <a:schemeClr val="accent1"/>
          </a:solidFill>
          <a:ln w="6350">
            <a:solidFill>
              <a:schemeClr val="accent1"/>
            </a:solidFill>
            <a:prstDash val="solid"/>
          </a:ln>
        </p:spPr>
      </p:sp>
      <p:pic>
        <p:nvPicPr>
          <p:cNvPr id="6" name="Image 0" descr="WHY AMAZON icon"/>
          <p:cNvPicPr>
            <a:picLocks noChangeAspect="1"/>
          </p:cNvPicPr>
          <p:nvPr/>
        </p:nvPicPr>
        <p:blipFill>
          <a:blip r:embed="rId3"/>
          <a:stretch>
            <a:fillRect/>
          </a:stretch>
        </p:blipFill>
        <p:spPr>
          <a:xfrm>
            <a:off x="868680" y="1664208"/>
            <a:ext cx="292608" cy="292608"/>
          </a:xfrm>
          <a:prstGeom prst="rect">
            <a:avLst/>
          </a:prstGeom>
        </p:spPr>
      </p:pic>
      <p:sp>
        <p:nvSpPr>
          <p:cNvPr id="7" name="why-eyebrow"/>
          <p:cNvSpPr txBox="1"/>
          <p:nvPr/>
        </p:nvSpPr>
        <p:spPr>
          <a:xfrm>
            <a:off x="1600200" y="1335024"/>
            <a:ext cx="5486400" cy="237744"/>
          </a:xfrm>
          <a:prstGeom prst="rect">
            <a:avLst/>
          </a:prstGeom>
          <a:noFill/>
          <a:ln/>
        </p:spPr>
        <p:txBody>
          <a:bodyPr wrap="square" lIns="0" tIns="0" rIns="0" bIns="0" rtlCol="0" anchor="ctr"/>
          <a:lstStyle/>
          <a:p>
            <a:pPr marL="0" indent="0">
              <a:buNone/>
            </a:pPr>
            <a:r>
              <a:rPr lang="en-US" sz="1100" b="1" kern="0" spc="200" dirty="0">
                <a:solidFill>
                  <a:schemeClr val="accent1"/>
                </a:solidFill>
              </a:rPr>
              <a:t>WHY AMAZON</a:t>
            </a:r>
            <a:endParaRPr lang="en-US" sz="1100" dirty="0"/>
          </a:p>
        </p:txBody>
      </p:sp>
      <p:sp>
        <p:nvSpPr>
          <p:cNvPr id="8" name="why-story-text"/>
          <p:cNvSpPr txBox="1"/>
          <p:nvPr/>
        </p:nvSpPr>
        <p:spPr>
          <a:xfrm>
            <a:off x="1600200" y="1609344"/>
            <a:ext cx="5486400" cy="731520"/>
          </a:xfrm>
          <a:prstGeom prst="rect">
            <a:avLst/>
          </a:prstGeom>
          <a:noFill/>
          <a:ln/>
        </p:spPr>
        <p:txBody>
          <a:bodyPr wrap="square" lIns="0" tIns="0" rIns="0" bIns="0" rtlCol="0" anchor="t"/>
          <a:lstStyle/>
          <a:p>
            <a:pPr marL="0" indent="0">
              <a:buNone/>
            </a:pPr>
            <a:r>
              <a:rPr lang="en-US" sz="1350" dirty="0">
                <a:solidFill>
                  <a:schemeClr val="tx1"/>
                </a:solidFill>
              </a:rPr>
              <a:t>Amazon is a large e-commerce platform that generates a huge amount of sales and customer data.</a:t>
            </a:r>
            <a:endParaRPr lang="en-US" sz="1350" dirty="0"/>
          </a:p>
        </p:txBody>
      </p:sp>
      <p:sp>
        <p:nvSpPr>
          <p:cNvPr id="9" name="why-story-card"/>
          <p:cNvSpPr/>
          <p:nvPr/>
        </p:nvSpPr>
        <p:spPr>
          <a:xfrm>
            <a:off x="457200" y="2596896"/>
            <a:ext cx="6903720" cy="1252728"/>
          </a:xfrm>
          <a:prstGeom prst="roundRect">
            <a:avLst>
              <a:gd name="adj" fmla="val 875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0" name="why-icon-bg"/>
          <p:cNvSpPr/>
          <p:nvPr/>
        </p:nvSpPr>
        <p:spPr>
          <a:xfrm>
            <a:off x="731520" y="2935224"/>
            <a:ext cx="566928" cy="566928"/>
          </a:xfrm>
          <a:prstGeom prst="ellipse">
            <a:avLst/>
          </a:prstGeom>
          <a:solidFill>
            <a:schemeClr val="accent3"/>
          </a:solidFill>
          <a:ln w="6350">
            <a:solidFill>
              <a:schemeClr val="accent3"/>
            </a:solidFill>
            <a:prstDash val="solid"/>
          </a:ln>
        </p:spPr>
      </p:sp>
      <p:pic>
        <p:nvPicPr>
          <p:cNvPr id="11" name="Image 1" descr="WHAT I WANTED TO UNDERSTAND icon"/>
          <p:cNvPicPr>
            <a:picLocks noChangeAspect="1"/>
          </p:cNvPicPr>
          <p:nvPr/>
        </p:nvPicPr>
        <p:blipFill>
          <a:blip r:embed="rId4"/>
          <a:stretch>
            <a:fillRect/>
          </a:stretch>
        </p:blipFill>
        <p:spPr>
          <a:xfrm>
            <a:off x="868680" y="3072384"/>
            <a:ext cx="292608" cy="292608"/>
          </a:xfrm>
          <a:prstGeom prst="rect">
            <a:avLst/>
          </a:prstGeom>
        </p:spPr>
      </p:pic>
      <p:sp>
        <p:nvSpPr>
          <p:cNvPr id="12" name="why-eyebrow"/>
          <p:cNvSpPr txBox="1"/>
          <p:nvPr/>
        </p:nvSpPr>
        <p:spPr>
          <a:xfrm>
            <a:off x="1600200" y="2743200"/>
            <a:ext cx="5486400" cy="237744"/>
          </a:xfrm>
          <a:prstGeom prst="rect">
            <a:avLst/>
          </a:prstGeom>
          <a:noFill/>
          <a:ln/>
        </p:spPr>
        <p:txBody>
          <a:bodyPr wrap="square" lIns="0" tIns="0" rIns="0" bIns="0" rtlCol="0" anchor="ctr"/>
          <a:lstStyle/>
          <a:p>
            <a:pPr marL="0" indent="0">
              <a:buNone/>
            </a:pPr>
            <a:r>
              <a:rPr lang="en-US" sz="1100" b="1" kern="0" spc="200" dirty="0">
                <a:solidFill>
                  <a:schemeClr val="accent3"/>
                </a:solidFill>
              </a:rPr>
              <a:t>WHAT I WANTED TO UNDERSTAND</a:t>
            </a:r>
            <a:endParaRPr lang="en-US" sz="1100" dirty="0"/>
          </a:p>
        </p:txBody>
      </p:sp>
      <p:sp>
        <p:nvSpPr>
          <p:cNvPr id="13" name="why-story-text"/>
          <p:cNvSpPr txBox="1"/>
          <p:nvPr/>
        </p:nvSpPr>
        <p:spPr>
          <a:xfrm>
            <a:off x="1600200" y="3017520"/>
            <a:ext cx="5486400" cy="731520"/>
          </a:xfrm>
          <a:prstGeom prst="rect">
            <a:avLst/>
          </a:prstGeom>
          <a:noFill/>
          <a:ln/>
        </p:spPr>
        <p:txBody>
          <a:bodyPr wrap="square" lIns="0" tIns="0" rIns="0" bIns="0" rtlCol="0" anchor="t"/>
          <a:lstStyle/>
          <a:p>
            <a:pPr marL="0" indent="0">
              <a:buNone/>
            </a:pPr>
            <a:r>
              <a:rPr lang="en-US" sz="1350" dirty="0">
                <a:solidFill>
                  <a:schemeClr val="tx1"/>
                </a:solidFill>
              </a:rPr>
              <a:t>I wanted to understand how SQL can be used to analyze this data, identify business problems, and discover opportunities for improvement.</a:t>
            </a:r>
            <a:endParaRPr lang="en-US" sz="1350" dirty="0"/>
          </a:p>
        </p:txBody>
      </p:sp>
      <p:sp>
        <p:nvSpPr>
          <p:cNvPr id="14" name="why-story-card"/>
          <p:cNvSpPr/>
          <p:nvPr/>
        </p:nvSpPr>
        <p:spPr>
          <a:xfrm>
            <a:off x="457200" y="4005072"/>
            <a:ext cx="6903720" cy="1252728"/>
          </a:xfrm>
          <a:prstGeom prst="roundRect">
            <a:avLst>
              <a:gd name="adj" fmla="val 875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5" name="why-icon-bg"/>
          <p:cNvSpPr/>
          <p:nvPr/>
        </p:nvSpPr>
        <p:spPr>
          <a:xfrm>
            <a:off x="731520" y="4343400"/>
            <a:ext cx="566928" cy="566928"/>
          </a:xfrm>
          <a:prstGeom prst="ellipse">
            <a:avLst/>
          </a:prstGeom>
          <a:solidFill>
            <a:schemeClr val="accent2"/>
          </a:solidFill>
          <a:ln w="6350">
            <a:solidFill>
              <a:schemeClr val="accent2"/>
            </a:solidFill>
            <a:prstDash val="solid"/>
          </a:ln>
        </p:spPr>
      </p:sp>
      <p:pic>
        <p:nvPicPr>
          <p:cNvPr id="16" name="Image 2" descr="WHAT I AIMED TO ACHIEVE icon"/>
          <p:cNvPicPr>
            <a:picLocks noChangeAspect="1"/>
          </p:cNvPicPr>
          <p:nvPr/>
        </p:nvPicPr>
        <p:blipFill>
          <a:blip r:embed="rId5"/>
          <a:stretch>
            <a:fillRect/>
          </a:stretch>
        </p:blipFill>
        <p:spPr>
          <a:xfrm>
            <a:off x="868680" y="4480560"/>
            <a:ext cx="292608" cy="292608"/>
          </a:xfrm>
          <a:prstGeom prst="rect">
            <a:avLst/>
          </a:prstGeom>
        </p:spPr>
      </p:pic>
      <p:sp>
        <p:nvSpPr>
          <p:cNvPr id="17" name="why-eyebrow"/>
          <p:cNvSpPr txBox="1"/>
          <p:nvPr/>
        </p:nvSpPr>
        <p:spPr>
          <a:xfrm>
            <a:off x="1600200" y="4151376"/>
            <a:ext cx="5486400" cy="237744"/>
          </a:xfrm>
          <a:prstGeom prst="rect">
            <a:avLst/>
          </a:prstGeom>
          <a:noFill/>
          <a:ln/>
        </p:spPr>
        <p:txBody>
          <a:bodyPr wrap="square" lIns="0" tIns="0" rIns="0" bIns="0" rtlCol="0" anchor="ctr"/>
          <a:lstStyle/>
          <a:p>
            <a:pPr marL="0" indent="0">
              <a:buNone/>
            </a:pPr>
            <a:r>
              <a:rPr lang="en-US" sz="1100" b="1" kern="0" spc="200" dirty="0">
                <a:solidFill>
                  <a:schemeClr val="accent2"/>
                </a:solidFill>
              </a:rPr>
              <a:t>WHAT I AIMED TO ACHIEVE</a:t>
            </a:r>
            <a:endParaRPr lang="en-US" sz="1100" dirty="0"/>
          </a:p>
        </p:txBody>
      </p:sp>
      <p:sp>
        <p:nvSpPr>
          <p:cNvPr id="18" name="why-story-text"/>
          <p:cNvSpPr txBox="1"/>
          <p:nvPr/>
        </p:nvSpPr>
        <p:spPr>
          <a:xfrm>
            <a:off x="1600200" y="4425696"/>
            <a:ext cx="5486400" cy="731520"/>
          </a:xfrm>
          <a:prstGeom prst="rect">
            <a:avLst/>
          </a:prstGeom>
          <a:noFill/>
          <a:ln/>
        </p:spPr>
        <p:txBody>
          <a:bodyPr wrap="square" lIns="0" tIns="0" rIns="0" bIns="0" rtlCol="0" anchor="t"/>
          <a:lstStyle/>
          <a:p>
            <a:pPr marL="0" indent="0">
              <a:buNone/>
            </a:pPr>
            <a:r>
              <a:rPr lang="en-US" sz="1350" dirty="0">
                <a:solidFill>
                  <a:schemeClr val="tx1"/>
                </a:solidFill>
              </a:rPr>
              <a:t>To improve my practical SQL skills while converting raw data into meaningful insights that can support better business decisions.</a:t>
            </a:r>
            <a:endParaRPr lang="en-US" sz="1350" dirty="0"/>
          </a:p>
        </p:txBody>
      </p:sp>
      <p:sp>
        <p:nvSpPr>
          <p:cNvPr id="19" name="why-skills-card"/>
          <p:cNvSpPr/>
          <p:nvPr/>
        </p:nvSpPr>
        <p:spPr>
          <a:xfrm>
            <a:off x="7589520" y="1188720"/>
            <a:ext cx="4142232" cy="4069080"/>
          </a:xfrm>
          <a:prstGeom prst="roundRect">
            <a:avLst>
              <a:gd name="adj" fmla="val 2697"/>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0" name="skills-title"/>
          <p:cNvSpPr txBox="1"/>
          <p:nvPr/>
        </p:nvSpPr>
        <p:spPr>
          <a:xfrm>
            <a:off x="7845552" y="1335024"/>
            <a:ext cx="3657600" cy="292608"/>
          </a:xfrm>
          <a:prstGeom prst="rect">
            <a:avLst/>
          </a:prstGeom>
          <a:noFill/>
          <a:ln/>
        </p:spPr>
        <p:txBody>
          <a:bodyPr wrap="square" lIns="0" tIns="0" rIns="0" bIns="0" rtlCol="0" anchor="ctr"/>
          <a:lstStyle/>
          <a:p>
            <a:pPr marL="0" indent="0">
              <a:buNone/>
            </a:pPr>
            <a:r>
              <a:rPr lang="en-US" sz="1500" b="1" dirty="0">
                <a:solidFill>
                  <a:schemeClr val="accent1"/>
                </a:solidFill>
              </a:rPr>
              <a:t>Skills I set out to build</a:t>
            </a:r>
            <a:endParaRPr lang="en-US" sz="1500" dirty="0"/>
          </a:p>
        </p:txBody>
      </p:sp>
      <p:sp>
        <p:nvSpPr>
          <p:cNvPr id="21" name="skill-icon-bg"/>
          <p:cNvSpPr/>
          <p:nvPr/>
        </p:nvSpPr>
        <p:spPr>
          <a:xfrm>
            <a:off x="7845552" y="1901952"/>
            <a:ext cx="512064" cy="512064"/>
          </a:xfrm>
          <a:prstGeom prst="ellipse">
            <a:avLst/>
          </a:prstGeom>
          <a:solidFill>
            <a:srgbClr val="7A5CF0"/>
          </a:solidFill>
          <a:ln w="6350">
            <a:solidFill>
              <a:srgbClr val="7A5CF0"/>
            </a:solidFill>
            <a:prstDash val="solid"/>
          </a:ln>
        </p:spPr>
      </p:sp>
      <p:pic>
        <p:nvPicPr>
          <p:cNvPr id="22" name="Image 3" descr="Data cleaning icon"/>
          <p:cNvPicPr>
            <a:picLocks noChangeAspect="1"/>
          </p:cNvPicPr>
          <p:nvPr/>
        </p:nvPicPr>
        <p:blipFill>
          <a:blip r:embed="rId6"/>
          <a:stretch>
            <a:fillRect/>
          </a:stretch>
        </p:blipFill>
        <p:spPr>
          <a:xfrm>
            <a:off x="7973568" y="2029968"/>
            <a:ext cx="256032" cy="256032"/>
          </a:xfrm>
          <a:prstGeom prst="rect">
            <a:avLst/>
          </a:prstGeom>
        </p:spPr>
      </p:pic>
      <p:sp>
        <p:nvSpPr>
          <p:cNvPr id="23" name="skill-name"/>
          <p:cNvSpPr txBox="1"/>
          <p:nvPr/>
        </p:nvSpPr>
        <p:spPr>
          <a:xfrm>
            <a:off x="8549640" y="1883664"/>
            <a:ext cx="3017520" cy="274320"/>
          </a:xfrm>
          <a:prstGeom prst="rect">
            <a:avLst/>
          </a:prstGeom>
          <a:noFill/>
          <a:ln/>
        </p:spPr>
        <p:txBody>
          <a:bodyPr wrap="square" lIns="0" tIns="0" rIns="0" bIns="0" rtlCol="0" anchor="ctr"/>
          <a:lstStyle/>
          <a:p>
            <a:pPr marL="0" indent="0">
              <a:buNone/>
            </a:pPr>
            <a:r>
              <a:rPr lang="en-US" sz="1500" b="1" dirty="0">
                <a:solidFill>
                  <a:schemeClr val="tx1"/>
                </a:solidFill>
              </a:rPr>
              <a:t>Data cleaning</a:t>
            </a:r>
            <a:endParaRPr lang="en-US" sz="1500" dirty="0"/>
          </a:p>
        </p:txBody>
      </p:sp>
      <p:sp>
        <p:nvSpPr>
          <p:cNvPr id="24" name="skill-text"/>
          <p:cNvSpPr txBox="1"/>
          <p:nvPr/>
        </p:nvSpPr>
        <p:spPr>
          <a:xfrm>
            <a:off x="8549640" y="2176272"/>
            <a:ext cx="3017520" cy="256032"/>
          </a:xfrm>
          <a:prstGeom prst="rect">
            <a:avLst/>
          </a:prstGeom>
          <a:noFill/>
          <a:ln/>
        </p:spPr>
        <p:txBody>
          <a:bodyPr wrap="square" lIns="0" tIns="0" rIns="0" bIns="0" rtlCol="0" anchor="ctr"/>
          <a:lstStyle/>
          <a:p>
            <a:pPr marL="0" indent="0">
              <a:buNone/>
            </a:pPr>
            <a:r>
              <a:rPr lang="en-US" sz="1150" dirty="0">
                <a:solidFill>
                  <a:schemeClr val="accent5"/>
                </a:solidFill>
              </a:rPr>
              <a:t>TRIM, NULL handling, type conversion</a:t>
            </a:r>
            <a:endParaRPr lang="en-US" sz="1150" dirty="0"/>
          </a:p>
        </p:txBody>
      </p:sp>
      <p:sp>
        <p:nvSpPr>
          <p:cNvPr id="25" name="skill-icon-bg"/>
          <p:cNvSpPr/>
          <p:nvPr/>
        </p:nvSpPr>
        <p:spPr>
          <a:xfrm>
            <a:off x="7845552" y="2743200"/>
            <a:ext cx="512064" cy="512064"/>
          </a:xfrm>
          <a:prstGeom prst="ellipse">
            <a:avLst/>
          </a:prstGeom>
          <a:solidFill>
            <a:schemeClr val="accent3"/>
          </a:solidFill>
          <a:ln w="6350">
            <a:solidFill>
              <a:schemeClr val="accent3"/>
            </a:solidFill>
            <a:prstDash val="solid"/>
          </a:ln>
        </p:spPr>
      </p:sp>
      <p:pic>
        <p:nvPicPr>
          <p:cNvPr id="26" name="Image 4" descr="Joins icon"/>
          <p:cNvPicPr>
            <a:picLocks noChangeAspect="1"/>
          </p:cNvPicPr>
          <p:nvPr/>
        </p:nvPicPr>
        <p:blipFill>
          <a:blip r:embed="rId7"/>
          <a:stretch>
            <a:fillRect/>
          </a:stretch>
        </p:blipFill>
        <p:spPr>
          <a:xfrm>
            <a:off x="7973568" y="2871216"/>
            <a:ext cx="256032" cy="256032"/>
          </a:xfrm>
          <a:prstGeom prst="rect">
            <a:avLst/>
          </a:prstGeom>
        </p:spPr>
      </p:pic>
      <p:sp>
        <p:nvSpPr>
          <p:cNvPr id="27" name="skill-name"/>
          <p:cNvSpPr txBox="1"/>
          <p:nvPr/>
        </p:nvSpPr>
        <p:spPr>
          <a:xfrm>
            <a:off x="8549640" y="2724912"/>
            <a:ext cx="3017520" cy="274320"/>
          </a:xfrm>
          <a:prstGeom prst="rect">
            <a:avLst/>
          </a:prstGeom>
          <a:noFill/>
          <a:ln/>
        </p:spPr>
        <p:txBody>
          <a:bodyPr wrap="square" lIns="0" tIns="0" rIns="0" bIns="0" rtlCol="0" anchor="ctr"/>
          <a:lstStyle/>
          <a:p>
            <a:pPr marL="0" indent="0">
              <a:buNone/>
            </a:pPr>
            <a:r>
              <a:rPr lang="en-US" sz="1500" b="1" dirty="0">
                <a:solidFill>
                  <a:schemeClr val="tx1"/>
                </a:solidFill>
              </a:rPr>
              <a:t>Joins</a:t>
            </a:r>
            <a:endParaRPr lang="en-US" sz="1500" dirty="0"/>
          </a:p>
        </p:txBody>
      </p:sp>
      <p:sp>
        <p:nvSpPr>
          <p:cNvPr id="28" name="skill-text"/>
          <p:cNvSpPr txBox="1"/>
          <p:nvPr/>
        </p:nvSpPr>
        <p:spPr>
          <a:xfrm>
            <a:off x="8549640" y="3017520"/>
            <a:ext cx="3017520" cy="256032"/>
          </a:xfrm>
          <a:prstGeom prst="rect">
            <a:avLst/>
          </a:prstGeom>
          <a:noFill/>
          <a:ln/>
        </p:spPr>
        <p:txBody>
          <a:bodyPr wrap="square" lIns="0" tIns="0" rIns="0" bIns="0" rtlCol="0" anchor="ctr"/>
          <a:lstStyle/>
          <a:p>
            <a:pPr marL="0" indent="0">
              <a:buNone/>
            </a:pPr>
            <a:r>
              <a:rPr lang="en-US" sz="1150" dirty="0">
                <a:solidFill>
                  <a:schemeClr val="accent5"/>
                </a:solidFill>
              </a:rPr>
              <a:t>INNER and LEFT JOIN across 9 tables</a:t>
            </a:r>
            <a:endParaRPr lang="en-US" sz="1150" dirty="0"/>
          </a:p>
        </p:txBody>
      </p:sp>
      <p:sp>
        <p:nvSpPr>
          <p:cNvPr id="29" name="skill-icon-bg"/>
          <p:cNvSpPr/>
          <p:nvPr/>
        </p:nvSpPr>
        <p:spPr>
          <a:xfrm>
            <a:off x="7845552" y="3584448"/>
            <a:ext cx="512064" cy="512064"/>
          </a:xfrm>
          <a:prstGeom prst="ellipse">
            <a:avLst/>
          </a:prstGeom>
          <a:solidFill>
            <a:schemeClr val="accent2"/>
          </a:solidFill>
          <a:ln w="6350">
            <a:solidFill>
              <a:schemeClr val="accent2"/>
            </a:solidFill>
            <a:prstDash val="solid"/>
          </a:ln>
        </p:spPr>
      </p:sp>
      <p:pic>
        <p:nvPicPr>
          <p:cNvPr id="30" name="Image 5" descr="Aggregations icon"/>
          <p:cNvPicPr>
            <a:picLocks noChangeAspect="1"/>
          </p:cNvPicPr>
          <p:nvPr/>
        </p:nvPicPr>
        <p:blipFill>
          <a:blip r:embed="rId8"/>
          <a:stretch>
            <a:fillRect/>
          </a:stretch>
        </p:blipFill>
        <p:spPr>
          <a:xfrm>
            <a:off x="7973568" y="3712464"/>
            <a:ext cx="256032" cy="256032"/>
          </a:xfrm>
          <a:prstGeom prst="rect">
            <a:avLst/>
          </a:prstGeom>
        </p:spPr>
      </p:pic>
      <p:sp>
        <p:nvSpPr>
          <p:cNvPr id="31" name="skill-name"/>
          <p:cNvSpPr txBox="1"/>
          <p:nvPr/>
        </p:nvSpPr>
        <p:spPr>
          <a:xfrm>
            <a:off x="8549640" y="3566160"/>
            <a:ext cx="3017520" cy="274320"/>
          </a:xfrm>
          <a:prstGeom prst="rect">
            <a:avLst/>
          </a:prstGeom>
          <a:noFill/>
          <a:ln/>
        </p:spPr>
        <p:txBody>
          <a:bodyPr wrap="square" lIns="0" tIns="0" rIns="0" bIns="0" rtlCol="0" anchor="ctr"/>
          <a:lstStyle/>
          <a:p>
            <a:pPr marL="0" indent="0">
              <a:buNone/>
            </a:pPr>
            <a:r>
              <a:rPr lang="en-US" sz="1500" b="1" dirty="0">
                <a:solidFill>
                  <a:schemeClr val="tx1"/>
                </a:solidFill>
              </a:rPr>
              <a:t>Aggregations</a:t>
            </a:r>
            <a:endParaRPr lang="en-US" sz="1500" dirty="0"/>
          </a:p>
        </p:txBody>
      </p:sp>
      <p:sp>
        <p:nvSpPr>
          <p:cNvPr id="32" name="skill-text"/>
          <p:cNvSpPr txBox="1"/>
          <p:nvPr/>
        </p:nvSpPr>
        <p:spPr>
          <a:xfrm>
            <a:off x="8549640" y="3858768"/>
            <a:ext cx="3017520" cy="256032"/>
          </a:xfrm>
          <a:prstGeom prst="rect">
            <a:avLst/>
          </a:prstGeom>
          <a:noFill/>
          <a:ln/>
        </p:spPr>
        <p:txBody>
          <a:bodyPr wrap="square" lIns="0" tIns="0" rIns="0" bIns="0" rtlCol="0" anchor="ctr"/>
          <a:lstStyle/>
          <a:p>
            <a:pPr marL="0" indent="0">
              <a:buNone/>
            </a:pPr>
            <a:r>
              <a:rPr lang="en-US" sz="1150" dirty="0">
                <a:solidFill>
                  <a:schemeClr val="accent5"/>
                </a:solidFill>
              </a:rPr>
              <a:t>SUM, COUNT, AVG, GROUP BY, HAVING</a:t>
            </a:r>
            <a:endParaRPr lang="en-US" sz="1150" dirty="0"/>
          </a:p>
        </p:txBody>
      </p:sp>
      <p:sp>
        <p:nvSpPr>
          <p:cNvPr id="33" name="skill-icon-bg"/>
          <p:cNvSpPr/>
          <p:nvPr/>
        </p:nvSpPr>
        <p:spPr>
          <a:xfrm>
            <a:off x="7845552" y="4425696"/>
            <a:ext cx="512064" cy="512064"/>
          </a:xfrm>
          <a:prstGeom prst="ellipse">
            <a:avLst/>
          </a:prstGeom>
          <a:solidFill>
            <a:schemeClr val="accent1"/>
          </a:solidFill>
          <a:ln w="6350">
            <a:solidFill>
              <a:schemeClr val="accent1"/>
            </a:solidFill>
            <a:prstDash val="solid"/>
          </a:ln>
        </p:spPr>
      </p:sp>
      <p:pic>
        <p:nvPicPr>
          <p:cNvPr id="34" name="Image 6" descr="Business analysis icon"/>
          <p:cNvPicPr>
            <a:picLocks noChangeAspect="1"/>
          </p:cNvPicPr>
          <p:nvPr/>
        </p:nvPicPr>
        <p:blipFill>
          <a:blip r:embed="rId9"/>
          <a:stretch>
            <a:fillRect/>
          </a:stretch>
        </p:blipFill>
        <p:spPr>
          <a:xfrm>
            <a:off x="7973568" y="4553712"/>
            <a:ext cx="256032" cy="256032"/>
          </a:xfrm>
          <a:prstGeom prst="rect">
            <a:avLst/>
          </a:prstGeom>
        </p:spPr>
      </p:pic>
      <p:sp>
        <p:nvSpPr>
          <p:cNvPr id="35" name="skill-name"/>
          <p:cNvSpPr txBox="1"/>
          <p:nvPr/>
        </p:nvSpPr>
        <p:spPr>
          <a:xfrm>
            <a:off x="8549640" y="4407408"/>
            <a:ext cx="3017520" cy="274320"/>
          </a:xfrm>
          <a:prstGeom prst="rect">
            <a:avLst/>
          </a:prstGeom>
          <a:noFill/>
          <a:ln/>
        </p:spPr>
        <p:txBody>
          <a:bodyPr wrap="square" lIns="0" tIns="0" rIns="0" bIns="0" rtlCol="0" anchor="ctr"/>
          <a:lstStyle/>
          <a:p>
            <a:pPr marL="0" indent="0">
              <a:buNone/>
            </a:pPr>
            <a:r>
              <a:rPr lang="en-US" sz="1500" b="1" dirty="0">
                <a:solidFill>
                  <a:schemeClr val="tx1"/>
                </a:solidFill>
              </a:rPr>
              <a:t>Business analysis</a:t>
            </a:r>
            <a:endParaRPr lang="en-US" sz="1500" dirty="0"/>
          </a:p>
        </p:txBody>
      </p:sp>
      <p:sp>
        <p:nvSpPr>
          <p:cNvPr id="36" name="skill-text"/>
          <p:cNvSpPr txBox="1"/>
          <p:nvPr/>
        </p:nvSpPr>
        <p:spPr>
          <a:xfrm>
            <a:off x="8549640" y="4700016"/>
            <a:ext cx="3017520" cy="256032"/>
          </a:xfrm>
          <a:prstGeom prst="rect">
            <a:avLst/>
          </a:prstGeom>
          <a:noFill/>
          <a:ln/>
        </p:spPr>
        <p:txBody>
          <a:bodyPr wrap="square" lIns="0" tIns="0" rIns="0" bIns="0" rtlCol="0" anchor="ctr"/>
          <a:lstStyle/>
          <a:p>
            <a:pPr marL="0" indent="0">
              <a:buNone/>
            </a:pPr>
            <a:r>
              <a:rPr lang="en-US" sz="1150" dirty="0">
                <a:solidFill>
                  <a:schemeClr val="accent5"/>
                </a:solidFill>
              </a:rPr>
              <a:t>KPIs, CTEs and window functions</a:t>
            </a:r>
            <a:endParaRPr lang="en-US" sz="1150" dirty="0"/>
          </a:p>
        </p:txBody>
      </p:sp>
      <p:sp>
        <p:nvSpPr>
          <p:cNvPr id="37" name="why-goal-banner"/>
          <p:cNvSpPr/>
          <p:nvPr/>
        </p:nvSpPr>
        <p:spPr>
          <a:xfrm>
            <a:off x="457200" y="5440680"/>
            <a:ext cx="11274552" cy="777240"/>
          </a:xfrm>
          <a:prstGeom prst="roundRect">
            <a:avLst>
              <a:gd name="adj" fmla="val 14118"/>
            </a:avLst>
          </a:prstGeom>
          <a:solidFill>
            <a:schemeClr val="tx2"/>
          </a:solidFill>
          <a:ln w="9525">
            <a:solidFill>
              <a:srgbClr val="E3E9F4"/>
            </a:solidFill>
            <a:prstDash val="solid"/>
          </a:ln>
          <a:effectLst>
            <a:outerShdw blurRad="152400" dist="38100" dir="5400000" algn="bl" rotWithShape="0">
              <a:srgbClr val="1F3358">
                <a:alpha val="12000"/>
              </a:srgbClr>
            </a:outerShdw>
          </a:effectLst>
        </p:spPr>
      </p:sp>
      <p:sp>
        <p:nvSpPr>
          <p:cNvPr id="38" name="goal-label"/>
          <p:cNvSpPr txBox="1"/>
          <p:nvPr/>
        </p:nvSpPr>
        <p:spPr>
          <a:xfrm>
            <a:off x="731520" y="5440680"/>
            <a:ext cx="1280160" cy="777240"/>
          </a:xfrm>
          <a:prstGeom prst="rect">
            <a:avLst/>
          </a:prstGeom>
          <a:noFill/>
          <a:ln/>
        </p:spPr>
        <p:txBody>
          <a:bodyPr wrap="square" lIns="0" tIns="0" rIns="0" bIns="0" rtlCol="0" anchor="ctr"/>
          <a:lstStyle/>
          <a:p>
            <a:pPr marL="0" indent="0">
              <a:buNone/>
            </a:pPr>
            <a:r>
              <a:rPr lang="en-US" sz="1200" b="1" kern="0" spc="300" dirty="0">
                <a:solidFill>
                  <a:srgbClr val="FFB454"/>
                </a:solidFill>
              </a:rPr>
              <a:t>THE GOAL</a:t>
            </a:r>
            <a:endParaRPr lang="en-US" sz="1200" dirty="0"/>
          </a:p>
        </p:txBody>
      </p:sp>
      <p:sp>
        <p:nvSpPr>
          <p:cNvPr id="39" name="goal-pill"/>
          <p:cNvSpPr/>
          <p:nvPr/>
        </p:nvSpPr>
        <p:spPr>
          <a:xfrm>
            <a:off x="2194560" y="5623560"/>
            <a:ext cx="2011680" cy="411480"/>
          </a:xfrm>
          <a:prstGeom prst="roundRect">
            <a:avLst>
              <a:gd name="adj" fmla="val 48889"/>
            </a:avLst>
          </a:prstGeom>
          <a:solidFill>
            <a:srgbClr val="2B4577"/>
          </a:solidFill>
          <a:ln w="9525">
            <a:solidFill>
              <a:srgbClr val="4C6AA8"/>
            </a:solidFill>
            <a:prstDash val="solid"/>
          </a:ln>
        </p:spPr>
      </p:sp>
      <p:sp>
        <p:nvSpPr>
          <p:cNvPr id="40" name="goal-pill-text"/>
          <p:cNvSpPr txBox="1"/>
          <p:nvPr/>
        </p:nvSpPr>
        <p:spPr>
          <a:xfrm>
            <a:off x="2194560" y="5623560"/>
            <a:ext cx="2011680" cy="411480"/>
          </a:xfrm>
          <a:prstGeom prst="rect">
            <a:avLst/>
          </a:prstGeom>
          <a:noFill/>
          <a:ln/>
        </p:spPr>
        <p:txBody>
          <a:bodyPr wrap="square" lIns="0" tIns="0" rIns="0" bIns="0" rtlCol="0" anchor="ctr"/>
          <a:lstStyle/>
          <a:p>
            <a:pPr marL="0" indent="0" algn="ctr">
              <a:buNone/>
            </a:pPr>
            <a:r>
              <a:rPr lang="en-US" sz="1400" b="1" dirty="0">
                <a:solidFill>
                  <a:schemeClr val="bg1"/>
                </a:solidFill>
              </a:rPr>
              <a:t>Raw data</a:t>
            </a:r>
            <a:endParaRPr lang="en-US" sz="1400" dirty="0"/>
          </a:p>
        </p:txBody>
      </p:sp>
      <p:sp>
        <p:nvSpPr>
          <p:cNvPr id="41" name="goal-pill"/>
          <p:cNvSpPr/>
          <p:nvPr/>
        </p:nvSpPr>
        <p:spPr>
          <a:xfrm>
            <a:off x="4754880" y="5623560"/>
            <a:ext cx="2651760" cy="411480"/>
          </a:xfrm>
          <a:prstGeom prst="roundRect">
            <a:avLst>
              <a:gd name="adj" fmla="val 48889"/>
            </a:avLst>
          </a:prstGeom>
          <a:solidFill>
            <a:srgbClr val="2B4577"/>
          </a:solidFill>
          <a:ln w="9525">
            <a:solidFill>
              <a:srgbClr val="4C6AA8"/>
            </a:solidFill>
            <a:prstDash val="solid"/>
          </a:ln>
        </p:spPr>
      </p:sp>
      <p:sp>
        <p:nvSpPr>
          <p:cNvPr id="42" name="goal-pill-text"/>
          <p:cNvSpPr txBox="1"/>
          <p:nvPr/>
        </p:nvSpPr>
        <p:spPr>
          <a:xfrm>
            <a:off x="4754880" y="5623560"/>
            <a:ext cx="2651760" cy="411480"/>
          </a:xfrm>
          <a:prstGeom prst="rect">
            <a:avLst/>
          </a:prstGeom>
          <a:noFill/>
          <a:ln/>
        </p:spPr>
        <p:txBody>
          <a:bodyPr wrap="square" lIns="0" tIns="0" rIns="0" bIns="0" rtlCol="0" anchor="ctr"/>
          <a:lstStyle/>
          <a:p>
            <a:pPr marL="0" indent="0" algn="ctr">
              <a:buNone/>
            </a:pPr>
            <a:r>
              <a:rPr lang="en-US" sz="1400" b="1" dirty="0">
                <a:solidFill>
                  <a:schemeClr val="bg1"/>
                </a:solidFill>
              </a:rPr>
              <a:t>Meaningful insights</a:t>
            </a:r>
            <a:endParaRPr lang="en-US" sz="1400" dirty="0"/>
          </a:p>
        </p:txBody>
      </p:sp>
      <p:sp>
        <p:nvSpPr>
          <p:cNvPr id="43" name="goal-pill"/>
          <p:cNvSpPr/>
          <p:nvPr/>
        </p:nvSpPr>
        <p:spPr>
          <a:xfrm>
            <a:off x="7955280" y="5623560"/>
            <a:ext cx="3566160" cy="411480"/>
          </a:xfrm>
          <a:prstGeom prst="roundRect">
            <a:avLst>
              <a:gd name="adj" fmla="val 48889"/>
            </a:avLst>
          </a:prstGeom>
          <a:solidFill>
            <a:srgbClr val="2B4577"/>
          </a:solidFill>
          <a:ln w="9525">
            <a:solidFill>
              <a:srgbClr val="4C6AA8"/>
            </a:solidFill>
            <a:prstDash val="solid"/>
          </a:ln>
        </p:spPr>
      </p:sp>
      <p:sp>
        <p:nvSpPr>
          <p:cNvPr id="44" name="goal-pill-text"/>
          <p:cNvSpPr txBox="1"/>
          <p:nvPr/>
        </p:nvSpPr>
        <p:spPr>
          <a:xfrm>
            <a:off x="7955280" y="5623560"/>
            <a:ext cx="3566160" cy="411480"/>
          </a:xfrm>
          <a:prstGeom prst="rect">
            <a:avLst/>
          </a:prstGeom>
          <a:noFill/>
          <a:ln/>
        </p:spPr>
        <p:txBody>
          <a:bodyPr wrap="square" lIns="0" tIns="0" rIns="0" bIns="0" rtlCol="0" anchor="ctr"/>
          <a:lstStyle/>
          <a:p>
            <a:pPr marL="0" indent="0" algn="ctr">
              <a:buNone/>
            </a:pPr>
            <a:r>
              <a:rPr lang="en-US" sz="1400" b="1" dirty="0">
                <a:solidFill>
                  <a:schemeClr val="bg1"/>
                </a:solidFill>
              </a:rPr>
              <a:t>Better business decisions</a:t>
            </a:r>
            <a:endParaRPr lang="en-US" sz="1400" dirty="0"/>
          </a:p>
        </p:txBody>
      </p:sp>
      <p:pic>
        <p:nvPicPr>
          <p:cNvPr id="45" name="Image 7" descr="leads to"/>
          <p:cNvPicPr>
            <a:picLocks noChangeAspect="1"/>
          </p:cNvPicPr>
          <p:nvPr/>
        </p:nvPicPr>
        <p:blipFill>
          <a:blip r:embed="rId10"/>
          <a:stretch>
            <a:fillRect/>
          </a:stretch>
        </p:blipFill>
        <p:spPr>
          <a:xfrm>
            <a:off x="4315968" y="5669280"/>
            <a:ext cx="320040" cy="320040"/>
          </a:xfrm>
          <a:prstGeom prst="rect">
            <a:avLst/>
          </a:prstGeom>
        </p:spPr>
      </p:pic>
      <p:pic>
        <p:nvPicPr>
          <p:cNvPr id="46" name="Image 8" descr="leads to"/>
          <p:cNvPicPr>
            <a:picLocks noChangeAspect="1"/>
          </p:cNvPicPr>
          <p:nvPr/>
        </p:nvPicPr>
        <p:blipFill>
          <a:blip r:embed="rId10"/>
          <a:stretch>
            <a:fillRect/>
          </a:stretch>
        </p:blipFill>
        <p:spPr>
          <a:xfrm>
            <a:off x="7516368" y="5669280"/>
            <a:ext cx="320040" cy="320040"/>
          </a:xfrm>
          <a:prstGeom prst="rect">
            <a:avLst/>
          </a:prstGeom>
        </p:spPr>
      </p:pic>
      <p:sp>
        <p:nvSpPr>
          <p:cNvPr id="47"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Project at a glance</a:t>
            </a:r>
            <a:endParaRPr lang="en-US" sz="2800" dirty="0"/>
          </a:p>
        </p:txBody>
      </p:sp>
      <p:sp>
        <p:nvSpPr>
          <p:cNvPr id="3" name="glance-eyebrow"/>
          <p:cNvSpPr txBox="1"/>
          <p:nvPr/>
        </p:nvSpPr>
        <p:spPr>
          <a:xfrm>
            <a:off x="457200" y="1691640"/>
            <a:ext cx="5852160" cy="274320"/>
          </a:xfrm>
          <a:prstGeom prst="rect">
            <a:avLst/>
          </a:prstGeom>
          <a:noFill/>
          <a:ln/>
        </p:spPr>
        <p:txBody>
          <a:bodyPr wrap="square" lIns="0" tIns="0" rIns="0" bIns="0" rtlCol="0" anchor="t"/>
          <a:lstStyle/>
          <a:p>
            <a:pPr marL="0" indent="0">
              <a:buNone/>
            </a:pPr>
            <a:r>
              <a:rPr lang="en-US" sz="1300" b="1" kern="0" spc="300" dirty="0">
                <a:solidFill>
                  <a:schemeClr val="accent1"/>
                </a:solidFill>
              </a:rPr>
              <a:t>TOTAL COMBINED REVENUE</a:t>
            </a:r>
            <a:endParaRPr lang="en-US" sz="1300" dirty="0"/>
          </a:p>
        </p:txBody>
      </p:sp>
      <p:sp>
        <p:nvSpPr>
          <p:cNvPr id="4" name="glance-total"/>
          <p:cNvSpPr txBox="1"/>
          <p:nvPr/>
        </p:nvSpPr>
        <p:spPr>
          <a:xfrm>
            <a:off x="457200" y="2011680"/>
            <a:ext cx="5852160" cy="1005840"/>
          </a:xfrm>
          <a:prstGeom prst="rect">
            <a:avLst/>
          </a:prstGeom>
          <a:noFill/>
          <a:ln/>
        </p:spPr>
        <p:txBody>
          <a:bodyPr wrap="square" lIns="0" tIns="0" rIns="0" bIns="0" rtlCol="0" anchor="ctr"/>
          <a:lstStyle/>
          <a:p>
            <a:pPr marL="0" indent="0">
              <a:buNone/>
            </a:pPr>
            <a:r>
              <a:rPr lang="en-US" sz="5600" b="1" dirty="0">
                <a:solidFill>
                  <a:schemeClr val="tx1"/>
                </a:solidFill>
                <a:latin typeface="Cambria" pitchFamily="34" charset="0"/>
                <a:ea typeface="Cambria" pitchFamily="34" charset="-122"/>
                <a:cs typeface="Cambria" pitchFamily="34" charset="-120"/>
              </a:rPr>
              <a:t>$12,642,071</a:t>
            </a:r>
            <a:endParaRPr lang="en-US" sz="5600" dirty="0"/>
          </a:p>
        </p:txBody>
      </p:sp>
      <p:sp>
        <p:nvSpPr>
          <p:cNvPr id="5" name="glance-sub"/>
          <p:cNvSpPr txBox="1"/>
          <p:nvPr/>
        </p:nvSpPr>
        <p:spPr>
          <a:xfrm>
            <a:off x="457200" y="3063240"/>
            <a:ext cx="5669280" cy="320040"/>
          </a:xfrm>
          <a:prstGeom prst="rect">
            <a:avLst/>
          </a:prstGeom>
          <a:noFill/>
          <a:ln/>
        </p:spPr>
        <p:txBody>
          <a:bodyPr wrap="square" lIns="0" tIns="0" rIns="0" bIns="0" rtlCol="0" anchor="t"/>
          <a:lstStyle/>
          <a:p>
            <a:pPr marL="0" indent="0">
              <a:buNone/>
            </a:pPr>
            <a:r>
              <a:rPr lang="en-US" sz="1500" dirty="0">
                <a:solidFill>
                  <a:schemeClr val="accent5"/>
                </a:solidFill>
              </a:rPr>
              <a:t>Revenue from all 21,629 orders, across every order status</a:t>
            </a:r>
            <a:endParaRPr lang="en-US" sz="1500" dirty="0"/>
          </a:p>
        </p:txBody>
      </p:sp>
      <p:sp>
        <p:nvSpPr>
          <p:cNvPr id="6" name="status-bar"/>
          <p:cNvSpPr/>
          <p:nvPr/>
        </p:nvSpPr>
        <p:spPr>
          <a:xfrm>
            <a:off x="457200" y="3703320"/>
            <a:ext cx="4731241" cy="310896"/>
          </a:xfrm>
          <a:prstGeom prst="rect">
            <a:avLst/>
          </a:prstGeom>
          <a:solidFill>
            <a:schemeClr val="accent2"/>
          </a:solidFill>
          <a:ln w="3175">
            <a:solidFill>
              <a:schemeClr val="accent2"/>
            </a:solidFill>
            <a:prstDash val="solid"/>
          </a:ln>
        </p:spPr>
      </p:sp>
      <p:sp>
        <p:nvSpPr>
          <p:cNvPr id="7" name="status-bar"/>
          <p:cNvSpPr/>
          <p:nvPr/>
        </p:nvSpPr>
        <p:spPr>
          <a:xfrm>
            <a:off x="5188441" y="3703320"/>
            <a:ext cx="762478" cy="310896"/>
          </a:xfrm>
          <a:prstGeom prst="rect">
            <a:avLst/>
          </a:prstGeom>
          <a:solidFill>
            <a:schemeClr val="accent1"/>
          </a:solidFill>
          <a:ln w="3175">
            <a:solidFill>
              <a:schemeClr val="accent1"/>
            </a:solidFill>
            <a:prstDash val="solid"/>
          </a:ln>
        </p:spPr>
      </p:sp>
      <p:sp>
        <p:nvSpPr>
          <p:cNvPr id="8" name="status-bar"/>
          <p:cNvSpPr/>
          <p:nvPr/>
        </p:nvSpPr>
        <p:spPr>
          <a:xfrm>
            <a:off x="5950919" y="3703320"/>
            <a:ext cx="140451" cy="310896"/>
          </a:xfrm>
          <a:prstGeom prst="rect">
            <a:avLst/>
          </a:prstGeom>
          <a:solidFill>
            <a:schemeClr val="accent4"/>
          </a:solidFill>
          <a:ln w="3175">
            <a:solidFill>
              <a:schemeClr val="accent4"/>
            </a:solidFill>
            <a:prstDash val="solid"/>
          </a:ln>
        </p:spPr>
      </p:sp>
      <p:sp>
        <p:nvSpPr>
          <p:cNvPr id="9" name="status-bar"/>
          <p:cNvSpPr/>
          <p:nvPr/>
        </p:nvSpPr>
        <p:spPr>
          <a:xfrm>
            <a:off x="6091370" y="3703320"/>
            <a:ext cx="126550" cy="310896"/>
          </a:xfrm>
          <a:prstGeom prst="rect">
            <a:avLst/>
          </a:prstGeom>
          <a:solidFill>
            <a:schemeClr val="accent3"/>
          </a:solidFill>
          <a:ln w="3175">
            <a:solidFill>
              <a:schemeClr val="accent3"/>
            </a:solidFill>
            <a:prstDash val="solid"/>
          </a:ln>
        </p:spPr>
      </p:sp>
      <p:sp>
        <p:nvSpPr>
          <p:cNvPr id="10" name="legend-swatch"/>
          <p:cNvSpPr/>
          <p:nvPr/>
        </p:nvSpPr>
        <p:spPr>
          <a:xfrm>
            <a:off x="457200" y="4306824"/>
            <a:ext cx="146304" cy="146304"/>
          </a:xfrm>
          <a:prstGeom prst="rect">
            <a:avLst/>
          </a:prstGeom>
          <a:solidFill>
            <a:schemeClr val="accent2"/>
          </a:solidFill>
          <a:ln w="3175">
            <a:solidFill>
              <a:schemeClr val="accent2"/>
            </a:solidFill>
            <a:prstDash val="solid"/>
          </a:ln>
        </p:spPr>
      </p:sp>
      <p:sp>
        <p:nvSpPr>
          <p:cNvPr id="11" name="legend-label"/>
          <p:cNvSpPr txBox="1"/>
          <p:nvPr/>
        </p:nvSpPr>
        <p:spPr>
          <a:xfrm>
            <a:off x="731520" y="4251960"/>
            <a:ext cx="1463040" cy="256032"/>
          </a:xfrm>
          <a:prstGeom prst="rect">
            <a:avLst/>
          </a:prstGeom>
          <a:noFill/>
          <a:ln/>
        </p:spPr>
        <p:txBody>
          <a:bodyPr wrap="square" lIns="0" tIns="0" rIns="0" bIns="0" rtlCol="0" anchor="ctr"/>
          <a:lstStyle/>
          <a:p>
            <a:pPr marL="0" indent="0">
              <a:buNone/>
            </a:pPr>
            <a:r>
              <a:rPr lang="en-US" sz="1300" b="1" dirty="0">
                <a:solidFill>
                  <a:schemeClr val="tx1"/>
                </a:solidFill>
              </a:rPr>
              <a:t>Completed</a:t>
            </a:r>
            <a:endParaRPr lang="en-US" sz="1300" dirty="0"/>
          </a:p>
        </p:txBody>
      </p:sp>
      <p:sp>
        <p:nvSpPr>
          <p:cNvPr id="12" name="legend-value"/>
          <p:cNvSpPr txBox="1"/>
          <p:nvPr/>
        </p:nvSpPr>
        <p:spPr>
          <a:xfrm>
            <a:off x="2194560" y="4251960"/>
            <a:ext cx="1280160" cy="256032"/>
          </a:xfrm>
          <a:prstGeom prst="rect">
            <a:avLst/>
          </a:prstGeom>
          <a:noFill/>
          <a:ln/>
        </p:spPr>
        <p:txBody>
          <a:bodyPr wrap="square" lIns="0" tIns="0" rIns="0" bIns="0" rtlCol="0" anchor="ctr"/>
          <a:lstStyle/>
          <a:p>
            <a:pPr marL="0" indent="0">
              <a:buNone/>
            </a:pPr>
            <a:r>
              <a:rPr lang="en-US" sz="1300" b="1" dirty="0">
                <a:solidFill>
                  <a:schemeClr val="accent2"/>
                </a:solidFill>
              </a:rPr>
              <a:t>$10.38M</a:t>
            </a:r>
            <a:endParaRPr lang="en-US" sz="1300" dirty="0"/>
          </a:p>
        </p:txBody>
      </p:sp>
      <p:sp>
        <p:nvSpPr>
          <p:cNvPr id="13" name="legend-share"/>
          <p:cNvSpPr txBox="1"/>
          <p:nvPr/>
        </p:nvSpPr>
        <p:spPr>
          <a:xfrm>
            <a:off x="3474720" y="4251960"/>
            <a:ext cx="2743200" cy="256032"/>
          </a:xfrm>
          <a:prstGeom prst="rect">
            <a:avLst/>
          </a:prstGeom>
          <a:noFill/>
          <a:ln/>
        </p:spPr>
        <p:txBody>
          <a:bodyPr wrap="square" lIns="0" tIns="0" rIns="0" bIns="0" rtlCol="0" anchor="ctr"/>
          <a:lstStyle/>
          <a:p>
            <a:pPr marL="0" indent="0">
              <a:buNone/>
            </a:pPr>
            <a:r>
              <a:rPr lang="en-US" sz="1200" dirty="0">
                <a:solidFill>
                  <a:schemeClr val="accent5"/>
                </a:solidFill>
              </a:rPr>
              <a:t>82.1%  |  17,802 orders</a:t>
            </a:r>
            <a:endParaRPr lang="en-US" sz="1200" dirty="0"/>
          </a:p>
        </p:txBody>
      </p:sp>
      <p:sp>
        <p:nvSpPr>
          <p:cNvPr id="14" name="legend-swatch"/>
          <p:cNvSpPr/>
          <p:nvPr/>
        </p:nvSpPr>
        <p:spPr>
          <a:xfrm>
            <a:off x="457200" y="4581144"/>
            <a:ext cx="146304" cy="146304"/>
          </a:xfrm>
          <a:prstGeom prst="rect">
            <a:avLst/>
          </a:prstGeom>
          <a:solidFill>
            <a:schemeClr val="accent1"/>
          </a:solidFill>
          <a:ln w="3175">
            <a:solidFill>
              <a:schemeClr val="accent1"/>
            </a:solidFill>
            <a:prstDash val="solid"/>
          </a:ln>
        </p:spPr>
      </p:sp>
      <p:sp>
        <p:nvSpPr>
          <p:cNvPr id="15" name="legend-label"/>
          <p:cNvSpPr txBox="1"/>
          <p:nvPr/>
        </p:nvSpPr>
        <p:spPr>
          <a:xfrm>
            <a:off x="731520" y="4526280"/>
            <a:ext cx="1463040" cy="256032"/>
          </a:xfrm>
          <a:prstGeom prst="rect">
            <a:avLst/>
          </a:prstGeom>
          <a:noFill/>
          <a:ln/>
        </p:spPr>
        <p:txBody>
          <a:bodyPr wrap="square" lIns="0" tIns="0" rIns="0" bIns="0" rtlCol="0" anchor="ctr"/>
          <a:lstStyle/>
          <a:p>
            <a:pPr marL="0" indent="0">
              <a:buNone/>
            </a:pPr>
            <a:r>
              <a:rPr lang="en-US" sz="1300" b="1" dirty="0">
                <a:solidFill>
                  <a:schemeClr val="tx1"/>
                </a:solidFill>
              </a:rPr>
              <a:t>Returned</a:t>
            </a:r>
            <a:endParaRPr lang="en-US" sz="1300" dirty="0"/>
          </a:p>
        </p:txBody>
      </p:sp>
      <p:sp>
        <p:nvSpPr>
          <p:cNvPr id="16" name="legend-value"/>
          <p:cNvSpPr txBox="1"/>
          <p:nvPr/>
        </p:nvSpPr>
        <p:spPr>
          <a:xfrm>
            <a:off x="2194560" y="4526280"/>
            <a:ext cx="1280160" cy="256032"/>
          </a:xfrm>
          <a:prstGeom prst="rect">
            <a:avLst/>
          </a:prstGeom>
          <a:noFill/>
          <a:ln/>
        </p:spPr>
        <p:txBody>
          <a:bodyPr wrap="square" lIns="0" tIns="0" rIns="0" bIns="0" rtlCol="0" anchor="ctr"/>
          <a:lstStyle/>
          <a:p>
            <a:pPr marL="0" indent="0">
              <a:buNone/>
            </a:pPr>
            <a:r>
              <a:rPr lang="en-US" sz="1300" b="1" dirty="0">
                <a:solidFill>
                  <a:schemeClr val="accent1"/>
                </a:solidFill>
              </a:rPr>
              <a:t>$1.67M</a:t>
            </a:r>
            <a:endParaRPr lang="en-US" sz="1300" dirty="0"/>
          </a:p>
        </p:txBody>
      </p:sp>
      <p:sp>
        <p:nvSpPr>
          <p:cNvPr id="17" name="legend-share"/>
          <p:cNvSpPr txBox="1"/>
          <p:nvPr/>
        </p:nvSpPr>
        <p:spPr>
          <a:xfrm>
            <a:off x="3474720" y="4526280"/>
            <a:ext cx="2743200" cy="256032"/>
          </a:xfrm>
          <a:prstGeom prst="rect">
            <a:avLst/>
          </a:prstGeom>
          <a:noFill/>
          <a:ln/>
        </p:spPr>
        <p:txBody>
          <a:bodyPr wrap="square" lIns="0" tIns="0" rIns="0" bIns="0" rtlCol="0" anchor="ctr"/>
          <a:lstStyle/>
          <a:p>
            <a:pPr marL="0" indent="0">
              <a:buNone/>
            </a:pPr>
            <a:r>
              <a:rPr lang="en-US" sz="1200" dirty="0">
                <a:solidFill>
                  <a:schemeClr val="accent5"/>
                </a:solidFill>
              </a:rPr>
              <a:t>13.2%  |  2,840 orders</a:t>
            </a:r>
            <a:endParaRPr lang="en-US" sz="1200" dirty="0"/>
          </a:p>
        </p:txBody>
      </p:sp>
      <p:sp>
        <p:nvSpPr>
          <p:cNvPr id="18" name="legend-swatch"/>
          <p:cNvSpPr/>
          <p:nvPr/>
        </p:nvSpPr>
        <p:spPr>
          <a:xfrm>
            <a:off x="457200" y="4855464"/>
            <a:ext cx="146304" cy="146304"/>
          </a:xfrm>
          <a:prstGeom prst="rect">
            <a:avLst/>
          </a:prstGeom>
          <a:solidFill>
            <a:schemeClr val="accent4"/>
          </a:solidFill>
          <a:ln w="3175">
            <a:solidFill>
              <a:schemeClr val="accent4"/>
            </a:solidFill>
            <a:prstDash val="solid"/>
          </a:ln>
        </p:spPr>
      </p:sp>
      <p:sp>
        <p:nvSpPr>
          <p:cNvPr id="19" name="legend-label"/>
          <p:cNvSpPr txBox="1"/>
          <p:nvPr/>
        </p:nvSpPr>
        <p:spPr>
          <a:xfrm>
            <a:off x="731520" y="4800600"/>
            <a:ext cx="1463040" cy="256032"/>
          </a:xfrm>
          <a:prstGeom prst="rect">
            <a:avLst/>
          </a:prstGeom>
          <a:noFill/>
          <a:ln/>
        </p:spPr>
        <p:txBody>
          <a:bodyPr wrap="square" lIns="0" tIns="0" rIns="0" bIns="0" rtlCol="0" anchor="ctr"/>
          <a:lstStyle/>
          <a:p>
            <a:pPr marL="0" indent="0">
              <a:buNone/>
            </a:pPr>
            <a:r>
              <a:rPr lang="en-US" sz="1300" b="1" dirty="0">
                <a:solidFill>
                  <a:schemeClr val="tx1"/>
                </a:solidFill>
              </a:rPr>
              <a:t>Cancelled</a:t>
            </a:r>
            <a:endParaRPr lang="en-US" sz="1300" dirty="0"/>
          </a:p>
        </p:txBody>
      </p:sp>
      <p:sp>
        <p:nvSpPr>
          <p:cNvPr id="20" name="legend-value"/>
          <p:cNvSpPr txBox="1"/>
          <p:nvPr/>
        </p:nvSpPr>
        <p:spPr>
          <a:xfrm>
            <a:off x="2194560" y="4800600"/>
            <a:ext cx="1280160" cy="256032"/>
          </a:xfrm>
          <a:prstGeom prst="rect">
            <a:avLst/>
          </a:prstGeom>
          <a:noFill/>
          <a:ln/>
        </p:spPr>
        <p:txBody>
          <a:bodyPr wrap="square" lIns="0" tIns="0" rIns="0" bIns="0" rtlCol="0" anchor="ctr"/>
          <a:lstStyle/>
          <a:p>
            <a:pPr marL="0" indent="0">
              <a:buNone/>
            </a:pPr>
            <a:r>
              <a:rPr lang="en-US" sz="1300" b="1" dirty="0">
                <a:solidFill>
                  <a:schemeClr val="accent4"/>
                </a:solidFill>
              </a:rPr>
              <a:t>$0.31M</a:t>
            </a:r>
            <a:endParaRPr lang="en-US" sz="1300" dirty="0"/>
          </a:p>
        </p:txBody>
      </p:sp>
      <p:sp>
        <p:nvSpPr>
          <p:cNvPr id="21" name="legend-share"/>
          <p:cNvSpPr txBox="1"/>
          <p:nvPr/>
        </p:nvSpPr>
        <p:spPr>
          <a:xfrm>
            <a:off x="3474720" y="4800600"/>
            <a:ext cx="2743200" cy="256032"/>
          </a:xfrm>
          <a:prstGeom prst="rect">
            <a:avLst/>
          </a:prstGeom>
          <a:noFill/>
          <a:ln/>
        </p:spPr>
        <p:txBody>
          <a:bodyPr wrap="square" lIns="0" tIns="0" rIns="0" bIns="0" rtlCol="0" anchor="ctr"/>
          <a:lstStyle/>
          <a:p>
            <a:pPr marL="0" indent="0">
              <a:buNone/>
            </a:pPr>
            <a:r>
              <a:rPr lang="en-US" sz="1200" dirty="0">
                <a:solidFill>
                  <a:schemeClr val="accent5"/>
                </a:solidFill>
              </a:rPr>
              <a:t>2.4%  |  488 orders</a:t>
            </a:r>
            <a:endParaRPr lang="en-US" sz="1200" dirty="0"/>
          </a:p>
        </p:txBody>
      </p:sp>
      <p:sp>
        <p:nvSpPr>
          <p:cNvPr id="22" name="legend-swatch"/>
          <p:cNvSpPr/>
          <p:nvPr/>
        </p:nvSpPr>
        <p:spPr>
          <a:xfrm>
            <a:off x="457200" y="5129784"/>
            <a:ext cx="146304" cy="146304"/>
          </a:xfrm>
          <a:prstGeom prst="rect">
            <a:avLst/>
          </a:prstGeom>
          <a:solidFill>
            <a:schemeClr val="accent3"/>
          </a:solidFill>
          <a:ln w="3175">
            <a:solidFill>
              <a:schemeClr val="accent3"/>
            </a:solidFill>
            <a:prstDash val="solid"/>
          </a:ln>
        </p:spPr>
      </p:sp>
      <p:sp>
        <p:nvSpPr>
          <p:cNvPr id="23" name="legend-label"/>
          <p:cNvSpPr txBox="1"/>
          <p:nvPr/>
        </p:nvSpPr>
        <p:spPr>
          <a:xfrm>
            <a:off x="731520" y="5074920"/>
            <a:ext cx="1463040" cy="256032"/>
          </a:xfrm>
          <a:prstGeom prst="rect">
            <a:avLst/>
          </a:prstGeom>
          <a:noFill/>
          <a:ln/>
        </p:spPr>
        <p:txBody>
          <a:bodyPr wrap="square" lIns="0" tIns="0" rIns="0" bIns="0" rtlCol="0" anchor="ctr"/>
          <a:lstStyle/>
          <a:p>
            <a:pPr marL="0" indent="0">
              <a:buNone/>
            </a:pPr>
            <a:r>
              <a:rPr lang="en-US" sz="1300" b="1" dirty="0">
                <a:solidFill>
                  <a:schemeClr val="tx1"/>
                </a:solidFill>
              </a:rPr>
              <a:t>In progress</a:t>
            </a:r>
            <a:endParaRPr lang="en-US" sz="1300" dirty="0"/>
          </a:p>
        </p:txBody>
      </p:sp>
      <p:sp>
        <p:nvSpPr>
          <p:cNvPr id="24" name="legend-value"/>
          <p:cNvSpPr txBox="1"/>
          <p:nvPr/>
        </p:nvSpPr>
        <p:spPr>
          <a:xfrm>
            <a:off x="2194560" y="5074920"/>
            <a:ext cx="1280160" cy="256032"/>
          </a:xfrm>
          <a:prstGeom prst="rect">
            <a:avLst/>
          </a:prstGeom>
          <a:noFill/>
          <a:ln/>
        </p:spPr>
        <p:txBody>
          <a:bodyPr wrap="square" lIns="0" tIns="0" rIns="0" bIns="0" rtlCol="0" anchor="ctr"/>
          <a:lstStyle/>
          <a:p>
            <a:pPr marL="0" indent="0">
              <a:buNone/>
            </a:pPr>
            <a:r>
              <a:rPr lang="en-US" sz="1300" b="1" dirty="0">
                <a:solidFill>
                  <a:schemeClr val="accent3"/>
                </a:solidFill>
              </a:rPr>
              <a:t>$0.28M</a:t>
            </a:r>
            <a:endParaRPr lang="en-US" sz="1300" dirty="0"/>
          </a:p>
        </p:txBody>
      </p:sp>
      <p:sp>
        <p:nvSpPr>
          <p:cNvPr id="25" name="legend-share"/>
          <p:cNvSpPr txBox="1"/>
          <p:nvPr/>
        </p:nvSpPr>
        <p:spPr>
          <a:xfrm>
            <a:off x="3474720" y="5074920"/>
            <a:ext cx="2743200" cy="256032"/>
          </a:xfrm>
          <a:prstGeom prst="rect">
            <a:avLst/>
          </a:prstGeom>
          <a:noFill/>
          <a:ln/>
        </p:spPr>
        <p:txBody>
          <a:bodyPr wrap="square" lIns="0" tIns="0" rIns="0" bIns="0" rtlCol="0" anchor="ctr"/>
          <a:lstStyle/>
          <a:p>
            <a:pPr marL="0" indent="0">
              <a:buNone/>
            </a:pPr>
            <a:r>
              <a:rPr lang="en-US" sz="1200" dirty="0">
                <a:solidFill>
                  <a:schemeClr val="accent5"/>
                </a:solidFill>
              </a:rPr>
              <a:t>2.2%  |  499 orders</a:t>
            </a:r>
            <a:endParaRPr lang="en-US" sz="1200" dirty="0"/>
          </a:p>
        </p:txBody>
      </p:sp>
      <p:sp>
        <p:nvSpPr>
          <p:cNvPr id="26" name="glance-stat"/>
          <p:cNvSpPr/>
          <p:nvPr/>
        </p:nvSpPr>
        <p:spPr>
          <a:xfrm>
            <a:off x="7680960" y="1691640"/>
            <a:ext cx="2011680" cy="1234440"/>
          </a:xfrm>
          <a:prstGeom prst="roundRect">
            <a:avLst>
              <a:gd name="adj" fmla="val 888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7" name="glance-stat-value"/>
          <p:cNvSpPr txBox="1"/>
          <p:nvPr/>
        </p:nvSpPr>
        <p:spPr>
          <a:xfrm>
            <a:off x="7863840" y="1828800"/>
            <a:ext cx="1645920" cy="59436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$10.38M</a:t>
            </a:r>
            <a:endParaRPr lang="en-US" sz="2800" dirty="0"/>
          </a:p>
        </p:txBody>
      </p:sp>
      <p:sp>
        <p:nvSpPr>
          <p:cNvPr id="28" name="glance-stat-label"/>
          <p:cNvSpPr txBox="1"/>
          <p:nvPr/>
        </p:nvSpPr>
        <p:spPr>
          <a:xfrm>
            <a:off x="7863840" y="2468880"/>
            <a:ext cx="1645920" cy="274320"/>
          </a:xfrm>
          <a:prstGeom prst="rect">
            <a:avLst/>
          </a:prstGeom>
          <a:noFill/>
          <a:ln/>
        </p:spPr>
        <p:txBody>
          <a:bodyPr wrap="square" lIns="0" tIns="0" rIns="0" bIns="0" rtlCol="0" anchor="t"/>
          <a:lstStyle/>
          <a:p>
            <a:pPr marL="0" indent="0">
              <a:buNone/>
            </a:pPr>
            <a:r>
              <a:rPr lang="en-US" sz="1200" dirty="0">
                <a:solidFill>
                  <a:schemeClr val="accent5"/>
                </a:solidFill>
              </a:rPr>
              <a:t>completed revenue</a:t>
            </a:r>
            <a:endParaRPr lang="en-US" sz="1200" dirty="0"/>
          </a:p>
        </p:txBody>
      </p:sp>
      <p:sp>
        <p:nvSpPr>
          <p:cNvPr id="29" name="glance-stat"/>
          <p:cNvSpPr/>
          <p:nvPr/>
        </p:nvSpPr>
        <p:spPr>
          <a:xfrm>
            <a:off x="9875520" y="1691640"/>
            <a:ext cx="2011680" cy="1234440"/>
          </a:xfrm>
          <a:prstGeom prst="roundRect">
            <a:avLst>
              <a:gd name="adj" fmla="val 888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0" name="glance-stat-value"/>
          <p:cNvSpPr txBox="1"/>
          <p:nvPr/>
        </p:nvSpPr>
        <p:spPr>
          <a:xfrm>
            <a:off x="10058400" y="1828800"/>
            <a:ext cx="1645920" cy="59436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17,802</a:t>
            </a:r>
            <a:endParaRPr lang="en-US" sz="2800" dirty="0"/>
          </a:p>
        </p:txBody>
      </p:sp>
      <p:sp>
        <p:nvSpPr>
          <p:cNvPr id="31" name="glance-stat-label"/>
          <p:cNvSpPr txBox="1"/>
          <p:nvPr/>
        </p:nvSpPr>
        <p:spPr>
          <a:xfrm>
            <a:off x="10058400" y="2468880"/>
            <a:ext cx="1645920" cy="274320"/>
          </a:xfrm>
          <a:prstGeom prst="rect">
            <a:avLst/>
          </a:prstGeom>
          <a:noFill/>
          <a:ln/>
        </p:spPr>
        <p:txBody>
          <a:bodyPr wrap="square" lIns="0" tIns="0" rIns="0" bIns="0" rtlCol="0" anchor="t"/>
          <a:lstStyle/>
          <a:p>
            <a:pPr marL="0" indent="0">
              <a:buNone/>
            </a:pPr>
            <a:r>
              <a:rPr lang="en-US" sz="1200" dirty="0">
                <a:solidFill>
                  <a:schemeClr val="accent5"/>
                </a:solidFill>
              </a:rPr>
              <a:t>completed orders</a:t>
            </a:r>
            <a:endParaRPr lang="en-US" sz="1200" dirty="0"/>
          </a:p>
        </p:txBody>
      </p:sp>
      <p:sp>
        <p:nvSpPr>
          <p:cNvPr id="32" name="glance-stat"/>
          <p:cNvSpPr/>
          <p:nvPr/>
        </p:nvSpPr>
        <p:spPr>
          <a:xfrm>
            <a:off x="7680960" y="3108960"/>
            <a:ext cx="2011680" cy="1234440"/>
          </a:xfrm>
          <a:prstGeom prst="roundRect">
            <a:avLst>
              <a:gd name="adj" fmla="val 888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3" name="glance-stat-value"/>
          <p:cNvSpPr txBox="1"/>
          <p:nvPr/>
        </p:nvSpPr>
        <p:spPr>
          <a:xfrm>
            <a:off x="7863840" y="3246120"/>
            <a:ext cx="1645920" cy="59436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898</a:t>
            </a:r>
            <a:endParaRPr lang="en-US" sz="2800" dirty="0"/>
          </a:p>
        </p:txBody>
      </p:sp>
      <p:sp>
        <p:nvSpPr>
          <p:cNvPr id="34" name="glance-stat-label"/>
          <p:cNvSpPr txBox="1"/>
          <p:nvPr/>
        </p:nvSpPr>
        <p:spPr>
          <a:xfrm>
            <a:off x="7863840" y="3886200"/>
            <a:ext cx="1645920" cy="274320"/>
          </a:xfrm>
          <a:prstGeom prst="rect">
            <a:avLst/>
          </a:prstGeom>
          <a:noFill/>
          <a:ln/>
        </p:spPr>
        <p:txBody>
          <a:bodyPr wrap="square" lIns="0" tIns="0" rIns="0" bIns="0" rtlCol="0" anchor="t"/>
          <a:lstStyle/>
          <a:p>
            <a:pPr marL="0" indent="0">
              <a:buNone/>
            </a:pPr>
            <a:r>
              <a:rPr lang="en-US" sz="1200" dirty="0">
                <a:solidFill>
                  <a:schemeClr val="accent5"/>
                </a:solidFill>
              </a:rPr>
              <a:t>customers</a:t>
            </a:r>
            <a:endParaRPr lang="en-US" sz="1200" dirty="0"/>
          </a:p>
        </p:txBody>
      </p:sp>
      <p:sp>
        <p:nvSpPr>
          <p:cNvPr id="35" name="glance-stat"/>
          <p:cNvSpPr/>
          <p:nvPr/>
        </p:nvSpPr>
        <p:spPr>
          <a:xfrm>
            <a:off x="9875520" y="3108960"/>
            <a:ext cx="2011680" cy="1234440"/>
          </a:xfrm>
          <a:prstGeom prst="roundRect">
            <a:avLst>
              <a:gd name="adj" fmla="val 888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6" name="glance-stat-value"/>
          <p:cNvSpPr txBox="1"/>
          <p:nvPr/>
        </p:nvSpPr>
        <p:spPr>
          <a:xfrm>
            <a:off x="10058400" y="3246120"/>
            <a:ext cx="1645920" cy="59436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765</a:t>
            </a:r>
            <a:endParaRPr lang="en-US" sz="2800" dirty="0"/>
          </a:p>
        </p:txBody>
      </p:sp>
      <p:sp>
        <p:nvSpPr>
          <p:cNvPr id="37" name="glance-stat-label"/>
          <p:cNvSpPr txBox="1"/>
          <p:nvPr/>
        </p:nvSpPr>
        <p:spPr>
          <a:xfrm>
            <a:off x="10058400" y="3886200"/>
            <a:ext cx="1645920" cy="274320"/>
          </a:xfrm>
          <a:prstGeom prst="rect">
            <a:avLst/>
          </a:prstGeom>
          <a:noFill/>
          <a:ln/>
        </p:spPr>
        <p:txBody>
          <a:bodyPr wrap="square" lIns="0" tIns="0" rIns="0" bIns="0" rtlCol="0" anchor="t"/>
          <a:lstStyle/>
          <a:p>
            <a:pPr marL="0" indent="0">
              <a:buNone/>
            </a:pPr>
            <a:r>
              <a:rPr lang="en-US" sz="1200" dirty="0">
                <a:solidFill>
                  <a:schemeClr val="accent5"/>
                </a:solidFill>
              </a:rPr>
              <a:t>products</a:t>
            </a:r>
            <a:endParaRPr lang="en-US" sz="1200" dirty="0"/>
          </a:p>
        </p:txBody>
      </p:sp>
      <p:sp>
        <p:nvSpPr>
          <p:cNvPr id="38" name="glance-range"/>
          <p:cNvSpPr/>
          <p:nvPr/>
        </p:nvSpPr>
        <p:spPr>
          <a:xfrm>
            <a:off x="7680960" y="4526280"/>
            <a:ext cx="4206240" cy="822960"/>
          </a:xfrm>
          <a:prstGeom prst="roundRect">
            <a:avLst>
              <a:gd name="adj" fmla="val 13333"/>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9" name="glance-range-text"/>
          <p:cNvSpPr txBox="1"/>
          <p:nvPr/>
        </p:nvSpPr>
        <p:spPr>
          <a:xfrm>
            <a:off x="7863840" y="4526280"/>
            <a:ext cx="3840480" cy="822960"/>
          </a:xfrm>
          <a:prstGeom prst="rect">
            <a:avLst/>
          </a:prstGeom>
          <a:noFill/>
          <a:ln/>
        </p:spPr>
        <p:txBody>
          <a:bodyPr wrap="square" lIns="0" tIns="0" rIns="0" bIns="0" rtlCol="0" anchor="ctr"/>
          <a:lstStyle/>
          <a:p>
            <a:pPr marL="0" indent="0">
              <a:buNone/>
            </a:pPr>
            <a:r>
              <a:rPr lang="en-US" sz="1100" dirty="0">
                <a:solidFill>
                  <a:schemeClr val="accent5"/>
                </a:solidFill>
              </a:rPr>
              <a:t>Orders covered</a:t>
            </a:r>
            <a:endParaRPr lang="en-US" sz="1200" dirty="0"/>
          </a:p>
          <a:p>
            <a:pPr marL="0" indent="0">
              <a:buNone/>
            </a:pPr>
            <a:r>
              <a:rPr lang="en-US" sz="1500" b="1" dirty="0">
                <a:solidFill>
                  <a:schemeClr val="tx1"/>
                </a:solidFill>
              </a:rPr>
              <a:t>2020-01-01 to 2024-07-30</a:t>
            </a:r>
            <a:endParaRPr lang="en-US" sz="1200" dirty="0"/>
          </a:p>
        </p:txBody>
      </p:sp>
      <p:sp>
        <p:nvSpPr>
          <p:cNvPr id="40"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What data do we have? 9 interconnected tables</a:t>
            </a:r>
            <a:endParaRPr lang="en-US" sz="2800" dirty="0"/>
          </a:p>
        </p:txBody>
      </p:sp>
      <p:sp>
        <p:nvSpPr>
          <p:cNvPr id="3" name="table-card"/>
          <p:cNvSpPr/>
          <p:nvPr/>
        </p:nvSpPr>
        <p:spPr>
          <a:xfrm>
            <a:off x="457200" y="1188720"/>
            <a:ext cx="2331720" cy="1371600"/>
          </a:xfrm>
          <a:prstGeom prst="roundRect">
            <a:avLst>
              <a:gd name="adj" fmla="val 8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4" name="table-name"/>
          <p:cNvSpPr txBox="1"/>
          <p:nvPr/>
        </p:nvSpPr>
        <p:spPr>
          <a:xfrm>
            <a:off x="640080" y="1325880"/>
            <a:ext cx="1965960" cy="274320"/>
          </a:xfrm>
          <a:prstGeom prst="rect">
            <a:avLst/>
          </a:prstGeom>
          <a:noFill/>
          <a:ln/>
        </p:spPr>
        <p:txBody>
          <a:bodyPr wrap="square" lIns="0" tIns="0" rIns="0" bIns="0" rtlCol="0" anchor="t"/>
          <a:lstStyle/>
          <a:p>
            <a:pPr marL="0" indent="0">
              <a:buNone/>
            </a:pPr>
            <a:r>
              <a:rPr lang="en-US" sz="1500" b="1" dirty="0">
                <a:solidFill>
                  <a:schemeClr val="tx1"/>
                </a:solidFill>
              </a:rPr>
              <a:t>customers</a:t>
            </a:r>
            <a:endParaRPr lang="en-US" sz="1500" dirty="0"/>
          </a:p>
        </p:txBody>
      </p:sp>
      <p:sp>
        <p:nvSpPr>
          <p:cNvPr id="5" name="table-rows"/>
          <p:cNvSpPr txBox="1"/>
          <p:nvPr/>
        </p:nvSpPr>
        <p:spPr>
          <a:xfrm>
            <a:off x="640080" y="1645920"/>
            <a:ext cx="196596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898</a:t>
            </a:r>
            <a:endParaRPr lang="en-US" sz="2600" dirty="0"/>
          </a:p>
        </p:txBody>
      </p:sp>
      <p:sp>
        <p:nvSpPr>
          <p:cNvPr id="6" name="table-role"/>
          <p:cNvSpPr txBox="1"/>
          <p:nvPr/>
        </p:nvSpPr>
        <p:spPr>
          <a:xfrm>
            <a:off x="640080" y="2130552"/>
            <a:ext cx="1965960" cy="201168"/>
          </a:xfrm>
          <a:prstGeom prst="rect">
            <a:avLst/>
          </a:prstGeom>
          <a:noFill/>
          <a:ln/>
        </p:spPr>
        <p:txBody>
          <a:bodyPr wrap="square" lIns="0" tIns="0" rIns="0" bIns="0" rtlCol="0" anchor="t"/>
          <a:lstStyle/>
          <a:p>
            <a:pPr marL="0" indent="0">
              <a:buNone/>
            </a:pPr>
            <a:r>
              <a:rPr lang="en-US" sz="1100" dirty="0">
                <a:solidFill>
                  <a:schemeClr val="accent5"/>
                </a:solidFill>
              </a:rPr>
              <a:t>Customer master</a:t>
            </a:r>
            <a:endParaRPr lang="en-US" sz="1100" dirty="0"/>
          </a:p>
        </p:txBody>
      </p:sp>
      <p:sp>
        <p:nvSpPr>
          <p:cNvPr id="7" name="table-type"/>
          <p:cNvSpPr txBox="1"/>
          <p:nvPr/>
        </p:nvSpPr>
        <p:spPr>
          <a:xfrm>
            <a:off x="640080" y="2331720"/>
            <a:ext cx="1965960" cy="164592"/>
          </a:xfrm>
          <a:prstGeom prst="rect">
            <a:avLst/>
          </a:prstGeom>
          <a:noFill/>
          <a:ln/>
        </p:spPr>
        <p:txBody>
          <a:bodyPr wrap="square" lIns="0" tIns="0" rIns="0" bIns="0" rtlCol="0" anchor="t"/>
          <a:lstStyle/>
          <a:p>
            <a:pPr marL="0" indent="0">
              <a:buNone/>
            </a:pPr>
            <a:r>
              <a:rPr lang="en-US" sz="1000" b="1" dirty="0">
                <a:solidFill>
                  <a:srgbClr val="0B7A75"/>
                </a:solidFill>
              </a:rPr>
              <a:t>MASTER</a:t>
            </a:r>
            <a:endParaRPr lang="en-US" sz="1000" dirty="0"/>
          </a:p>
        </p:txBody>
      </p:sp>
      <p:sp>
        <p:nvSpPr>
          <p:cNvPr id="8" name="table-card"/>
          <p:cNvSpPr/>
          <p:nvPr/>
        </p:nvSpPr>
        <p:spPr>
          <a:xfrm>
            <a:off x="3017520" y="1188720"/>
            <a:ext cx="2331720" cy="1371600"/>
          </a:xfrm>
          <a:prstGeom prst="roundRect">
            <a:avLst>
              <a:gd name="adj" fmla="val 8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9" name="table-name"/>
          <p:cNvSpPr txBox="1"/>
          <p:nvPr/>
        </p:nvSpPr>
        <p:spPr>
          <a:xfrm>
            <a:off x="3200400" y="1325880"/>
            <a:ext cx="1965960" cy="274320"/>
          </a:xfrm>
          <a:prstGeom prst="rect">
            <a:avLst/>
          </a:prstGeom>
          <a:noFill/>
          <a:ln/>
        </p:spPr>
        <p:txBody>
          <a:bodyPr wrap="square" lIns="0" tIns="0" rIns="0" bIns="0" rtlCol="0" anchor="t"/>
          <a:lstStyle/>
          <a:p>
            <a:pPr marL="0" indent="0">
              <a:buNone/>
            </a:pPr>
            <a:r>
              <a:rPr lang="en-US" sz="1500" b="1" dirty="0">
                <a:solidFill>
                  <a:schemeClr val="tx1"/>
                </a:solidFill>
              </a:rPr>
              <a:t>products</a:t>
            </a:r>
            <a:endParaRPr lang="en-US" sz="1500" dirty="0"/>
          </a:p>
        </p:txBody>
      </p:sp>
      <p:sp>
        <p:nvSpPr>
          <p:cNvPr id="10" name="table-rows"/>
          <p:cNvSpPr txBox="1"/>
          <p:nvPr/>
        </p:nvSpPr>
        <p:spPr>
          <a:xfrm>
            <a:off x="3200400" y="1645920"/>
            <a:ext cx="196596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765</a:t>
            </a:r>
            <a:endParaRPr lang="en-US" sz="2600" dirty="0"/>
          </a:p>
        </p:txBody>
      </p:sp>
      <p:sp>
        <p:nvSpPr>
          <p:cNvPr id="11" name="table-role"/>
          <p:cNvSpPr txBox="1"/>
          <p:nvPr/>
        </p:nvSpPr>
        <p:spPr>
          <a:xfrm>
            <a:off x="3200400" y="2130552"/>
            <a:ext cx="1965960" cy="201168"/>
          </a:xfrm>
          <a:prstGeom prst="rect">
            <a:avLst/>
          </a:prstGeom>
          <a:noFill/>
          <a:ln/>
        </p:spPr>
        <p:txBody>
          <a:bodyPr wrap="square" lIns="0" tIns="0" rIns="0" bIns="0" rtlCol="0" anchor="t"/>
          <a:lstStyle/>
          <a:p>
            <a:pPr marL="0" indent="0">
              <a:buNone/>
            </a:pPr>
            <a:r>
              <a:rPr lang="en-US" sz="1100" dirty="0">
                <a:solidFill>
                  <a:schemeClr val="accent5"/>
                </a:solidFill>
              </a:rPr>
              <a:t>Product master: price, cogs</a:t>
            </a:r>
            <a:endParaRPr lang="en-US" sz="1100" dirty="0"/>
          </a:p>
        </p:txBody>
      </p:sp>
      <p:sp>
        <p:nvSpPr>
          <p:cNvPr id="12" name="table-type"/>
          <p:cNvSpPr txBox="1"/>
          <p:nvPr/>
        </p:nvSpPr>
        <p:spPr>
          <a:xfrm>
            <a:off x="3200400" y="2331720"/>
            <a:ext cx="1965960" cy="164592"/>
          </a:xfrm>
          <a:prstGeom prst="rect">
            <a:avLst/>
          </a:prstGeom>
          <a:noFill/>
          <a:ln/>
        </p:spPr>
        <p:txBody>
          <a:bodyPr wrap="square" lIns="0" tIns="0" rIns="0" bIns="0" rtlCol="0" anchor="t"/>
          <a:lstStyle/>
          <a:p>
            <a:pPr marL="0" indent="0">
              <a:buNone/>
            </a:pPr>
            <a:r>
              <a:rPr lang="en-US" sz="1000" b="1" dirty="0">
                <a:solidFill>
                  <a:srgbClr val="0B7A75"/>
                </a:solidFill>
              </a:rPr>
              <a:t>MASTER</a:t>
            </a:r>
            <a:endParaRPr lang="en-US" sz="1000" dirty="0"/>
          </a:p>
        </p:txBody>
      </p:sp>
      <p:sp>
        <p:nvSpPr>
          <p:cNvPr id="13" name="table-card"/>
          <p:cNvSpPr/>
          <p:nvPr/>
        </p:nvSpPr>
        <p:spPr>
          <a:xfrm>
            <a:off x="5577840" y="1188720"/>
            <a:ext cx="2331720" cy="1371600"/>
          </a:xfrm>
          <a:prstGeom prst="roundRect">
            <a:avLst>
              <a:gd name="adj" fmla="val 8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4" name="table-name"/>
          <p:cNvSpPr txBox="1"/>
          <p:nvPr/>
        </p:nvSpPr>
        <p:spPr>
          <a:xfrm>
            <a:off x="5760720" y="1325880"/>
            <a:ext cx="1965960" cy="274320"/>
          </a:xfrm>
          <a:prstGeom prst="rect">
            <a:avLst/>
          </a:prstGeom>
          <a:noFill/>
          <a:ln/>
        </p:spPr>
        <p:txBody>
          <a:bodyPr wrap="square" lIns="0" tIns="0" rIns="0" bIns="0" rtlCol="0" anchor="t"/>
          <a:lstStyle/>
          <a:p>
            <a:pPr marL="0" indent="0">
              <a:buNone/>
            </a:pPr>
            <a:r>
              <a:rPr lang="en-US" sz="1500" b="1" dirty="0">
                <a:solidFill>
                  <a:schemeClr val="tx1"/>
                </a:solidFill>
              </a:rPr>
              <a:t>sellers</a:t>
            </a:r>
            <a:endParaRPr lang="en-US" sz="1500" dirty="0"/>
          </a:p>
        </p:txBody>
      </p:sp>
      <p:sp>
        <p:nvSpPr>
          <p:cNvPr id="15" name="table-rows"/>
          <p:cNvSpPr txBox="1"/>
          <p:nvPr/>
        </p:nvSpPr>
        <p:spPr>
          <a:xfrm>
            <a:off x="5760720" y="1645920"/>
            <a:ext cx="196596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54</a:t>
            </a:r>
            <a:endParaRPr lang="en-US" sz="2600" dirty="0"/>
          </a:p>
        </p:txBody>
      </p:sp>
      <p:sp>
        <p:nvSpPr>
          <p:cNvPr id="16" name="table-role"/>
          <p:cNvSpPr txBox="1"/>
          <p:nvPr/>
        </p:nvSpPr>
        <p:spPr>
          <a:xfrm>
            <a:off x="5760720" y="2130552"/>
            <a:ext cx="1965960" cy="201168"/>
          </a:xfrm>
          <a:prstGeom prst="rect">
            <a:avLst/>
          </a:prstGeom>
          <a:noFill/>
          <a:ln/>
        </p:spPr>
        <p:txBody>
          <a:bodyPr wrap="square" lIns="0" tIns="0" rIns="0" bIns="0" rtlCol="0" anchor="t"/>
          <a:lstStyle/>
          <a:p>
            <a:pPr marL="0" indent="0">
              <a:buNone/>
            </a:pPr>
            <a:r>
              <a:rPr lang="en-US" sz="1100" dirty="0">
                <a:solidFill>
                  <a:schemeClr val="accent5"/>
                </a:solidFill>
              </a:rPr>
              <a:t>Seller master</a:t>
            </a:r>
            <a:endParaRPr lang="en-US" sz="1100" dirty="0"/>
          </a:p>
        </p:txBody>
      </p:sp>
      <p:sp>
        <p:nvSpPr>
          <p:cNvPr id="17" name="table-type"/>
          <p:cNvSpPr txBox="1"/>
          <p:nvPr/>
        </p:nvSpPr>
        <p:spPr>
          <a:xfrm>
            <a:off x="5760720" y="2331720"/>
            <a:ext cx="1965960" cy="164592"/>
          </a:xfrm>
          <a:prstGeom prst="rect">
            <a:avLst/>
          </a:prstGeom>
          <a:noFill/>
          <a:ln/>
        </p:spPr>
        <p:txBody>
          <a:bodyPr wrap="square" lIns="0" tIns="0" rIns="0" bIns="0" rtlCol="0" anchor="t"/>
          <a:lstStyle/>
          <a:p>
            <a:pPr marL="0" indent="0">
              <a:buNone/>
            </a:pPr>
            <a:r>
              <a:rPr lang="en-US" sz="1000" b="1" dirty="0">
                <a:solidFill>
                  <a:srgbClr val="0B7A75"/>
                </a:solidFill>
              </a:rPr>
              <a:t>MASTER</a:t>
            </a:r>
            <a:endParaRPr lang="en-US" sz="1000" dirty="0"/>
          </a:p>
        </p:txBody>
      </p:sp>
      <p:sp>
        <p:nvSpPr>
          <p:cNvPr id="18" name="table-card"/>
          <p:cNvSpPr/>
          <p:nvPr/>
        </p:nvSpPr>
        <p:spPr>
          <a:xfrm>
            <a:off x="457200" y="2761488"/>
            <a:ext cx="2331720" cy="1371600"/>
          </a:xfrm>
          <a:prstGeom prst="roundRect">
            <a:avLst>
              <a:gd name="adj" fmla="val 8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9" name="table-name"/>
          <p:cNvSpPr txBox="1"/>
          <p:nvPr/>
        </p:nvSpPr>
        <p:spPr>
          <a:xfrm>
            <a:off x="640080" y="2898648"/>
            <a:ext cx="1965960" cy="274320"/>
          </a:xfrm>
          <a:prstGeom prst="rect">
            <a:avLst/>
          </a:prstGeom>
          <a:noFill/>
          <a:ln/>
        </p:spPr>
        <p:txBody>
          <a:bodyPr wrap="square" lIns="0" tIns="0" rIns="0" bIns="0" rtlCol="0" anchor="t"/>
          <a:lstStyle/>
          <a:p>
            <a:pPr marL="0" indent="0">
              <a:buNone/>
            </a:pPr>
            <a:r>
              <a:rPr lang="en-US" sz="1500" b="1" dirty="0">
                <a:solidFill>
                  <a:schemeClr val="tx1"/>
                </a:solidFill>
              </a:rPr>
              <a:t>category</a:t>
            </a:r>
            <a:endParaRPr lang="en-US" sz="1500" dirty="0"/>
          </a:p>
        </p:txBody>
      </p:sp>
      <p:sp>
        <p:nvSpPr>
          <p:cNvPr id="20" name="table-rows"/>
          <p:cNvSpPr txBox="1"/>
          <p:nvPr/>
        </p:nvSpPr>
        <p:spPr>
          <a:xfrm>
            <a:off x="640080" y="3218688"/>
            <a:ext cx="196596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6</a:t>
            </a:r>
            <a:endParaRPr lang="en-US" sz="2600" dirty="0"/>
          </a:p>
        </p:txBody>
      </p:sp>
      <p:sp>
        <p:nvSpPr>
          <p:cNvPr id="21" name="table-role"/>
          <p:cNvSpPr txBox="1"/>
          <p:nvPr/>
        </p:nvSpPr>
        <p:spPr>
          <a:xfrm>
            <a:off x="640080" y="3703320"/>
            <a:ext cx="1965960" cy="201168"/>
          </a:xfrm>
          <a:prstGeom prst="rect">
            <a:avLst/>
          </a:prstGeom>
          <a:noFill/>
          <a:ln/>
        </p:spPr>
        <p:txBody>
          <a:bodyPr wrap="square" lIns="0" tIns="0" rIns="0" bIns="0" rtlCol="0" anchor="t"/>
          <a:lstStyle/>
          <a:p>
            <a:pPr marL="0" indent="0">
              <a:buNone/>
            </a:pPr>
            <a:r>
              <a:rPr lang="en-US" sz="1100" dirty="0">
                <a:solidFill>
                  <a:schemeClr val="accent5"/>
                </a:solidFill>
              </a:rPr>
              <a:t>Product categories</a:t>
            </a:r>
            <a:endParaRPr lang="en-US" sz="1100" dirty="0"/>
          </a:p>
        </p:txBody>
      </p:sp>
      <p:sp>
        <p:nvSpPr>
          <p:cNvPr id="22" name="table-type"/>
          <p:cNvSpPr txBox="1"/>
          <p:nvPr/>
        </p:nvSpPr>
        <p:spPr>
          <a:xfrm>
            <a:off x="640080" y="3904488"/>
            <a:ext cx="1965960" cy="164592"/>
          </a:xfrm>
          <a:prstGeom prst="rect">
            <a:avLst/>
          </a:prstGeom>
          <a:noFill/>
          <a:ln/>
        </p:spPr>
        <p:txBody>
          <a:bodyPr wrap="square" lIns="0" tIns="0" rIns="0" bIns="0" rtlCol="0" anchor="t"/>
          <a:lstStyle/>
          <a:p>
            <a:pPr marL="0" indent="0">
              <a:buNone/>
            </a:pPr>
            <a:r>
              <a:rPr lang="en-US" sz="1000" b="1" dirty="0">
                <a:solidFill>
                  <a:srgbClr val="2F5FD0"/>
                </a:solidFill>
              </a:rPr>
              <a:t>REFERENCE</a:t>
            </a:r>
            <a:endParaRPr lang="en-US" sz="1000" dirty="0"/>
          </a:p>
        </p:txBody>
      </p:sp>
      <p:sp>
        <p:nvSpPr>
          <p:cNvPr id="23" name="table-card"/>
          <p:cNvSpPr/>
          <p:nvPr/>
        </p:nvSpPr>
        <p:spPr>
          <a:xfrm>
            <a:off x="3017520" y="2761488"/>
            <a:ext cx="2331720" cy="1371600"/>
          </a:xfrm>
          <a:prstGeom prst="roundRect">
            <a:avLst>
              <a:gd name="adj" fmla="val 8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4" name="table-name"/>
          <p:cNvSpPr txBox="1"/>
          <p:nvPr/>
        </p:nvSpPr>
        <p:spPr>
          <a:xfrm>
            <a:off x="3200400" y="2898648"/>
            <a:ext cx="1965960" cy="274320"/>
          </a:xfrm>
          <a:prstGeom prst="rect">
            <a:avLst/>
          </a:prstGeom>
          <a:noFill/>
          <a:ln/>
        </p:spPr>
        <p:txBody>
          <a:bodyPr wrap="square" lIns="0" tIns="0" rIns="0" bIns="0" rtlCol="0" anchor="t"/>
          <a:lstStyle/>
          <a:p>
            <a:pPr marL="0" indent="0">
              <a:buNone/>
            </a:pPr>
            <a:r>
              <a:rPr lang="en-US" sz="1500" b="1" dirty="0">
                <a:solidFill>
                  <a:schemeClr val="tx1"/>
                </a:solidFill>
              </a:rPr>
              <a:t>orders</a:t>
            </a:r>
            <a:endParaRPr lang="en-US" sz="1500" dirty="0"/>
          </a:p>
        </p:txBody>
      </p:sp>
      <p:sp>
        <p:nvSpPr>
          <p:cNvPr id="25" name="table-rows"/>
          <p:cNvSpPr txBox="1"/>
          <p:nvPr/>
        </p:nvSpPr>
        <p:spPr>
          <a:xfrm>
            <a:off x="3200400" y="3218688"/>
            <a:ext cx="196596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21,629</a:t>
            </a:r>
            <a:endParaRPr lang="en-US" sz="2600" dirty="0"/>
          </a:p>
        </p:txBody>
      </p:sp>
      <p:sp>
        <p:nvSpPr>
          <p:cNvPr id="26" name="table-role"/>
          <p:cNvSpPr txBox="1"/>
          <p:nvPr/>
        </p:nvSpPr>
        <p:spPr>
          <a:xfrm>
            <a:off x="3200400" y="3703320"/>
            <a:ext cx="1965960" cy="201168"/>
          </a:xfrm>
          <a:prstGeom prst="rect">
            <a:avLst/>
          </a:prstGeom>
          <a:noFill/>
          <a:ln/>
        </p:spPr>
        <p:txBody>
          <a:bodyPr wrap="square" lIns="0" tIns="0" rIns="0" bIns="0" rtlCol="0" anchor="t"/>
          <a:lstStyle/>
          <a:p>
            <a:pPr marL="0" indent="0">
              <a:buNone/>
            </a:pPr>
            <a:r>
              <a:rPr lang="en-US" sz="1100" dirty="0">
                <a:solidFill>
                  <a:schemeClr val="accent5"/>
                </a:solidFill>
              </a:rPr>
              <a:t>Order header: dates, status</a:t>
            </a:r>
            <a:endParaRPr lang="en-US" sz="1100" dirty="0"/>
          </a:p>
        </p:txBody>
      </p:sp>
      <p:sp>
        <p:nvSpPr>
          <p:cNvPr id="27" name="table-type"/>
          <p:cNvSpPr txBox="1"/>
          <p:nvPr/>
        </p:nvSpPr>
        <p:spPr>
          <a:xfrm>
            <a:off x="3200400" y="3904488"/>
            <a:ext cx="1965960" cy="164592"/>
          </a:xfrm>
          <a:prstGeom prst="rect">
            <a:avLst/>
          </a:prstGeom>
          <a:noFill/>
          <a:ln/>
        </p:spPr>
        <p:txBody>
          <a:bodyPr wrap="square" lIns="0" tIns="0" rIns="0" bIns="0" rtlCol="0" anchor="t"/>
          <a:lstStyle/>
          <a:p>
            <a:pPr marL="0" indent="0">
              <a:buNone/>
            </a:pPr>
            <a:r>
              <a:rPr lang="en-US" sz="1000" b="1" dirty="0">
                <a:solidFill>
                  <a:srgbClr val="C65A00"/>
                </a:solidFill>
              </a:rPr>
              <a:t>TRANSACTION</a:t>
            </a:r>
            <a:endParaRPr lang="en-US" sz="1000" dirty="0"/>
          </a:p>
        </p:txBody>
      </p:sp>
      <p:sp>
        <p:nvSpPr>
          <p:cNvPr id="28" name="table-card"/>
          <p:cNvSpPr/>
          <p:nvPr/>
        </p:nvSpPr>
        <p:spPr>
          <a:xfrm>
            <a:off x="5577840" y="2761488"/>
            <a:ext cx="2331720" cy="1371600"/>
          </a:xfrm>
          <a:prstGeom prst="roundRect">
            <a:avLst>
              <a:gd name="adj" fmla="val 8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9" name="table-name"/>
          <p:cNvSpPr txBox="1"/>
          <p:nvPr/>
        </p:nvSpPr>
        <p:spPr>
          <a:xfrm>
            <a:off x="5760720" y="2898648"/>
            <a:ext cx="1965960" cy="274320"/>
          </a:xfrm>
          <a:prstGeom prst="rect">
            <a:avLst/>
          </a:prstGeom>
          <a:noFill/>
          <a:ln/>
        </p:spPr>
        <p:txBody>
          <a:bodyPr wrap="square" lIns="0" tIns="0" rIns="0" bIns="0" rtlCol="0" anchor="t"/>
          <a:lstStyle/>
          <a:p>
            <a:pPr marL="0" indent="0">
              <a:buNone/>
            </a:pPr>
            <a:r>
              <a:rPr lang="en-US" sz="1500" b="1" dirty="0">
                <a:solidFill>
                  <a:schemeClr val="tx1"/>
                </a:solidFill>
              </a:rPr>
              <a:t>order_items</a:t>
            </a:r>
            <a:endParaRPr lang="en-US" sz="1500" dirty="0"/>
          </a:p>
        </p:txBody>
      </p:sp>
      <p:sp>
        <p:nvSpPr>
          <p:cNvPr id="30" name="table-rows"/>
          <p:cNvSpPr txBox="1"/>
          <p:nvPr/>
        </p:nvSpPr>
        <p:spPr>
          <a:xfrm>
            <a:off x="5760720" y="3218688"/>
            <a:ext cx="196596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21,629</a:t>
            </a:r>
            <a:endParaRPr lang="en-US" sz="2600" dirty="0"/>
          </a:p>
        </p:txBody>
      </p:sp>
      <p:sp>
        <p:nvSpPr>
          <p:cNvPr id="31" name="table-role"/>
          <p:cNvSpPr txBox="1"/>
          <p:nvPr/>
        </p:nvSpPr>
        <p:spPr>
          <a:xfrm>
            <a:off x="5760720" y="3703320"/>
            <a:ext cx="1965960" cy="201168"/>
          </a:xfrm>
          <a:prstGeom prst="rect">
            <a:avLst/>
          </a:prstGeom>
          <a:noFill/>
          <a:ln/>
        </p:spPr>
        <p:txBody>
          <a:bodyPr wrap="square" lIns="0" tIns="0" rIns="0" bIns="0" rtlCol="0" anchor="t"/>
          <a:lstStyle/>
          <a:p>
            <a:pPr marL="0" indent="0">
              <a:buNone/>
            </a:pPr>
            <a:r>
              <a:rPr lang="en-US" sz="1100" dirty="0">
                <a:solidFill>
                  <a:schemeClr val="accent5"/>
                </a:solidFill>
              </a:rPr>
              <a:t>Product line per order</a:t>
            </a:r>
            <a:endParaRPr lang="en-US" sz="1100" dirty="0"/>
          </a:p>
        </p:txBody>
      </p:sp>
      <p:sp>
        <p:nvSpPr>
          <p:cNvPr id="32" name="table-type"/>
          <p:cNvSpPr txBox="1"/>
          <p:nvPr/>
        </p:nvSpPr>
        <p:spPr>
          <a:xfrm>
            <a:off x="5760720" y="3904488"/>
            <a:ext cx="1965960" cy="164592"/>
          </a:xfrm>
          <a:prstGeom prst="rect">
            <a:avLst/>
          </a:prstGeom>
          <a:noFill/>
          <a:ln/>
        </p:spPr>
        <p:txBody>
          <a:bodyPr wrap="square" lIns="0" tIns="0" rIns="0" bIns="0" rtlCol="0" anchor="t"/>
          <a:lstStyle/>
          <a:p>
            <a:pPr marL="0" indent="0">
              <a:buNone/>
            </a:pPr>
            <a:r>
              <a:rPr lang="en-US" sz="1000" b="1" dirty="0">
                <a:solidFill>
                  <a:srgbClr val="C65A00"/>
                </a:solidFill>
              </a:rPr>
              <a:t>TRANSACTION</a:t>
            </a:r>
            <a:endParaRPr lang="en-US" sz="1000" dirty="0"/>
          </a:p>
        </p:txBody>
      </p:sp>
      <p:sp>
        <p:nvSpPr>
          <p:cNvPr id="33" name="table-card"/>
          <p:cNvSpPr/>
          <p:nvPr/>
        </p:nvSpPr>
        <p:spPr>
          <a:xfrm>
            <a:off x="457200" y="4334256"/>
            <a:ext cx="2331720" cy="1371600"/>
          </a:xfrm>
          <a:prstGeom prst="roundRect">
            <a:avLst>
              <a:gd name="adj" fmla="val 8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4" name="table-name"/>
          <p:cNvSpPr txBox="1"/>
          <p:nvPr/>
        </p:nvSpPr>
        <p:spPr>
          <a:xfrm>
            <a:off x="640080" y="4471416"/>
            <a:ext cx="1965960" cy="274320"/>
          </a:xfrm>
          <a:prstGeom prst="rect">
            <a:avLst/>
          </a:prstGeom>
          <a:noFill/>
          <a:ln/>
        </p:spPr>
        <p:txBody>
          <a:bodyPr wrap="square" lIns="0" tIns="0" rIns="0" bIns="0" rtlCol="0" anchor="t"/>
          <a:lstStyle/>
          <a:p>
            <a:pPr marL="0" indent="0">
              <a:buNone/>
            </a:pPr>
            <a:r>
              <a:rPr lang="en-US" sz="1500" b="1" dirty="0">
                <a:solidFill>
                  <a:schemeClr val="tx1"/>
                </a:solidFill>
              </a:rPr>
              <a:t>inventory</a:t>
            </a:r>
            <a:endParaRPr lang="en-US" sz="1500" dirty="0"/>
          </a:p>
        </p:txBody>
      </p:sp>
      <p:sp>
        <p:nvSpPr>
          <p:cNvPr id="35" name="table-rows"/>
          <p:cNvSpPr txBox="1"/>
          <p:nvPr/>
        </p:nvSpPr>
        <p:spPr>
          <a:xfrm>
            <a:off x="640080" y="4791456"/>
            <a:ext cx="196596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765</a:t>
            </a:r>
            <a:endParaRPr lang="en-US" sz="2600" dirty="0"/>
          </a:p>
        </p:txBody>
      </p:sp>
      <p:sp>
        <p:nvSpPr>
          <p:cNvPr id="36" name="table-role"/>
          <p:cNvSpPr txBox="1"/>
          <p:nvPr/>
        </p:nvSpPr>
        <p:spPr>
          <a:xfrm>
            <a:off x="640080" y="5276088"/>
            <a:ext cx="1965960" cy="201168"/>
          </a:xfrm>
          <a:prstGeom prst="rect">
            <a:avLst/>
          </a:prstGeom>
          <a:noFill/>
          <a:ln/>
        </p:spPr>
        <p:txBody>
          <a:bodyPr wrap="square" lIns="0" tIns="0" rIns="0" bIns="0" rtlCol="0" anchor="t"/>
          <a:lstStyle/>
          <a:p>
            <a:pPr marL="0" indent="0">
              <a:buNone/>
            </a:pPr>
            <a:r>
              <a:rPr lang="en-US" sz="1100" dirty="0">
                <a:solidFill>
                  <a:schemeClr val="accent5"/>
                </a:solidFill>
              </a:rPr>
              <a:t>Current stock per product</a:t>
            </a:r>
            <a:endParaRPr lang="en-US" sz="1100" dirty="0"/>
          </a:p>
        </p:txBody>
      </p:sp>
      <p:sp>
        <p:nvSpPr>
          <p:cNvPr id="37" name="table-type"/>
          <p:cNvSpPr txBox="1"/>
          <p:nvPr/>
        </p:nvSpPr>
        <p:spPr>
          <a:xfrm>
            <a:off x="640080" y="5477256"/>
            <a:ext cx="1965960" cy="164592"/>
          </a:xfrm>
          <a:prstGeom prst="rect">
            <a:avLst/>
          </a:prstGeom>
          <a:noFill/>
          <a:ln/>
        </p:spPr>
        <p:txBody>
          <a:bodyPr wrap="square" lIns="0" tIns="0" rIns="0" bIns="0" rtlCol="0" anchor="t"/>
          <a:lstStyle/>
          <a:p>
            <a:pPr marL="0" indent="0">
              <a:buNone/>
            </a:pPr>
            <a:r>
              <a:rPr lang="en-US" sz="1000" b="1" dirty="0">
                <a:solidFill>
                  <a:srgbClr val="5B6B82"/>
                </a:solidFill>
              </a:rPr>
              <a:t>OPERATIONAL</a:t>
            </a:r>
            <a:endParaRPr lang="en-US" sz="1000" dirty="0"/>
          </a:p>
        </p:txBody>
      </p:sp>
      <p:sp>
        <p:nvSpPr>
          <p:cNvPr id="38" name="table-card"/>
          <p:cNvSpPr/>
          <p:nvPr/>
        </p:nvSpPr>
        <p:spPr>
          <a:xfrm>
            <a:off x="3017520" y="4334256"/>
            <a:ext cx="2331720" cy="1371600"/>
          </a:xfrm>
          <a:prstGeom prst="roundRect">
            <a:avLst>
              <a:gd name="adj" fmla="val 8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9" name="table-name"/>
          <p:cNvSpPr txBox="1"/>
          <p:nvPr/>
        </p:nvSpPr>
        <p:spPr>
          <a:xfrm>
            <a:off x="3200400" y="4471416"/>
            <a:ext cx="1965960" cy="274320"/>
          </a:xfrm>
          <a:prstGeom prst="rect">
            <a:avLst/>
          </a:prstGeom>
          <a:noFill/>
          <a:ln/>
        </p:spPr>
        <p:txBody>
          <a:bodyPr wrap="square" lIns="0" tIns="0" rIns="0" bIns="0" rtlCol="0" anchor="t"/>
          <a:lstStyle/>
          <a:p>
            <a:pPr marL="0" indent="0">
              <a:buNone/>
            </a:pPr>
            <a:r>
              <a:rPr lang="en-US" sz="1500" b="1" dirty="0">
                <a:solidFill>
                  <a:schemeClr val="tx1"/>
                </a:solidFill>
              </a:rPr>
              <a:t>payments</a:t>
            </a:r>
            <a:endParaRPr lang="en-US" sz="1500" dirty="0"/>
          </a:p>
        </p:txBody>
      </p:sp>
      <p:sp>
        <p:nvSpPr>
          <p:cNvPr id="40" name="table-rows"/>
          <p:cNvSpPr txBox="1"/>
          <p:nvPr/>
        </p:nvSpPr>
        <p:spPr>
          <a:xfrm>
            <a:off x="3200400" y="4791456"/>
            <a:ext cx="196596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21,629</a:t>
            </a:r>
            <a:endParaRPr lang="en-US" sz="2600" dirty="0"/>
          </a:p>
        </p:txBody>
      </p:sp>
      <p:sp>
        <p:nvSpPr>
          <p:cNvPr id="41" name="table-role"/>
          <p:cNvSpPr txBox="1"/>
          <p:nvPr/>
        </p:nvSpPr>
        <p:spPr>
          <a:xfrm>
            <a:off x="3200400" y="5276088"/>
            <a:ext cx="1965960" cy="201168"/>
          </a:xfrm>
          <a:prstGeom prst="rect">
            <a:avLst/>
          </a:prstGeom>
          <a:noFill/>
          <a:ln/>
        </p:spPr>
        <p:txBody>
          <a:bodyPr wrap="square" lIns="0" tIns="0" rIns="0" bIns="0" rtlCol="0" anchor="t"/>
          <a:lstStyle/>
          <a:p>
            <a:pPr marL="0" indent="0">
              <a:buNone/>
            </a:pPr>
            <a:r>
              <a:rPr lang="en-US" sz="1100" dirty="0">
                <a:solidFill>
                  <a:schemeClr val="accent5"/>
                </a:solidFill>
              </a:rPr>
              <a:t>Payment status per order</a:t>
            </a:r>
            <a:endParaRPr lang="en-US" sz="1100" dirty="0"/>
          </a:p>
        </p:txBody>
      </p:sp>
      <p:sp>
        <p:nvSpPr>
          <p:cNvPr id="42" name="table-type"/>
          <p:cNvSpPr txBox="1"/>
          <p:nvPr/>
        </p:nvSpPr>
        <p:spPr>
          <a:xfrm>
            <a:off x="3200400" y="5477256"/>
            <a:ext cx="1965960" cy="164592"/>
          </a:xfrm>
          <a:prstGeom prst="rect">
            <a:avLst/>
          </a:prstGeom>
          <a:noFill/>
          <a:ln/>
        </p:spPr>
        <p:txBody>
          <a:bodyPr wrap="square" lIns="0" tIns="0" rIns="0" bIns="0" rtlCol="0" anchor="t"/>
          <a:lstStyle/>
          <a:p>
            <a:pPr marL="0" indent="0">
              <a:buNone/>
            </a:pPr>
            <a:r>
              <a:rPr lang="en-US" sz="1000" b="1" dirty="0">
                <a:solidFill>
                  <a:srgbClr val="5B6B82"/>
                </a:solidFill>
              </a:rPr>
              <a:t>OPERATIONAL</a:t>
            </a:r>
            <a:endParaRPr lang="en-US" sz="1000" dirty="0"/>
          </a:p>
        </p:txBody>
      </p:sp>
      <p:sp>
        <p:nvSpPr>
          <p:cNvPr id="43" name="table-card"/>
          <p:cNvSpPr/>
          <p:nvPr/>
        </p:nvSpPr>
        <p:spPr>
          <a:xfrm>
            <a:off x="5577840" y="4334256"/>
            <a:ext cx="2331720" cy="1371600"/>
          </a:xfrm>
          <a:prstGeom prst="roundRect">
            <a:avLst>
              <a:gd name="adj" fmla="val 8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44" name="table-name"/>
          <p:cNvSpPr txBox="1"/>
          <p:nvPr/>
        </p:nvSpPr>
        <p:spPr>
          <a:xfrm>
            <a:off x="5760720" y="4471416"/>
            <a:ext cx="1965960" cy="274320"/>
          </a:xfrm>
          <a:prstGeom prst="rect">
            <a:avLst/>
          </a:prstGeom>
          <a:noFill/>
          <a:ln/>
        </p:spPr>
        <p:txBody>
          <a:bodyPr wrap="square" lIns="0" tIns="0" rIns="0" bIns="0" rtlCol="0" anchor="t"/>
          <a:lstStyle/>
          <a:p>
            <a:pPr marL="0" indent="0">
              <a:buNone/>
            </a:pPr>
            <a:r>
              <a:rPr lang="en-US" sz="1500" b="1" dirty="0">
                <a:solidFill>
                  <a:schemeClr val="tx1"/>
                </a:solidFill>
              </a:rPr>
              <a:t>shipping</a:t>
            </a:r>
            <a:endParaRPr lang="en-US" sz="1500" dirty="0"/>
          </a:p>
        </p:txBody>
      </p:sp>
      <p:sp>
        <p:nvSpPr>
          <p:cNvPr id="45" name="table-rows"/>
          <p:cNvSpPr txBox="1"/>
          <p:nvPr/>
        </p:nvSpPr>
        <p:spPr>
          <a:xfrm>
            <a:off x="5760720" y="4791456"/>
            <a:ext cx="1965960" cy="4572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21,141</a:t>
            </a:r>
            <a:endParaRPr lang="en-US" sz="2600" dirty="0"/>
          </a:p>
        </p:txBody>
      </p:sp>
      <p:sp>
        <p:nvSpPr>
          <p:cNvPr id="46" name="table-role"/>
          <p:cNvSpPr txBox="1"/>
          <p:nvPr/>
        </p:nvSpPr>
        <p:spPr>
          <a:xfrm>
            <a:off x="5760720" y="5276088"/>
            <a:ext cx="1965960" cy="201168"/>
          </a:xfrm>
          <a:prstGeom prst="rect">
            <a:avLst/>
          </a:prstGeom>
          <a:noFill/>
          <a:ln/>
        </p:spPr>
        <p:txBody>
          <a:bodyPr wrap="square" lIns="0" tIns="0" rIns="0" bIns="0" rtlCol="0" anchor="t"/>
          <a:lstStyle/>
          <a:p>
            <a:pPr marL="0" indent="0">
              <a:buNone/>
            </a:pPr>
            <a:r>
              <a:rPr lang="en-US" sz="1100" dirty="0">
                <a:solidFill>
                  <a:schemeClr val="accent5"/>
                </a:solidFill>
              </a:rPr>
              <a:t>Delivery and return info</a:t>
            </a:r>
            <a:endParaRPr lang="en-US" sz="1100" dirty="0"/>
          </a:p>
        </p:txBody>
      </p:sp>
      <p:sp>
        <p:nvSpPr>
          <p:cNvPr id="47" name="table-type"/>
          <p:cNvSpPr txBox="1"/>
          <p:nvPr/>
        </p:nvSpPr>
        <p:spPr>
          <a:xfrm>
            <a:off x="5760720" y="5477256"/>
            <a:ext cx="1965960" cy="164592"/>
          </a:xfrm>
          <a:prstGeom prst="rect">
            <a:avLst/>
          </a:prstGeom>
          <a:noFill/>
          <a:ln/>
        </p:spPr>
        <p:txBody>
          <a:bodyPr wrap="square" lIns="0" tIns="0" rIns="0" bIns="0" rtlCol="0" anchor="t"/>
          <a:lstStyle/>
          <a:p>
            <a:pPr marL="0" indent="0">
              <a:buNone/>
            </a:pPr>
            <a:r>
              <a:rPr lang="en-US" sz="1000" b="1" dirty="0">
                <a:solidFill>
                  <a:srgbClr val="5B6B82"/>
                </a:solidFill>
              </a:rPr>
              <a:t>OPERATIONAL</a:t>
            </a:r>
            <a:endParaRPr lang="en-US" sz="1000" dirty="0"/>
          </a:p>
        </p:txBody>
      </p:sp>
      <p:sp>
        <p:nvSpPr>
          <p:cNvPr id="48" name="kpi-panel"/>
          <p:cNvSpPr/>
          <p:nvPr/>
        </p:nvSpPr>
        <p:spPr>
          <a:xfrm>
            <a:off x="8183880" y="1188720"/>
            <a:ext cx="3547872" cy="4517136"/>
          </a:xfrm>
          <a:prstGeom prst="roundRect">
            <a:avLst>
              <a:gd name="adj" fmla="val 3093"/>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49" name="kpi-title"/>
          <p:cNvSpPr txBox="1"/>
          <p:nvPr/>
        </p:nvSpPr>
        <p:spPr>
          <a:xfrm>
            <a:off x="8412480" y="1325880"/>
            <a:ext cx="3108960" cy="274320"/>
          </a:xfrm>
          <a:prstGeom prst="rect">
            <a:avLst/>
          </a:prstGeom>
          <a:noFill/>
          <a:ln/>
        </p:spPr>
        <p:txBody>
          <a:bodyPr wrap="square" lIns="0" tIns="0" rIns="0" bIns="0" rtlCol="0" anchor="t"/>
          <a:lstStyle/>
          <a:p>
            <a:pPr marL="0" indent="0">
              <a:buNone/>
            </a:pPr>
            <a:r>
              <a:rPr lang="en-US" sz="1500" b="1" dirty="0">
                <a:solidFill>
                  <a:schemeClr val="accent1"/>
                </a:solidFill>
              </a:rPr>
              <a:t>KPI definitions used throughout</a:t>
            </a:r>
            <a:endParaRPr lang="en-US" sz="1500" dirty="0"/>
          </a:p>
        </p:txBody>
      </p:sp>
      <p:sp>
        <p:nvSpPr>
          <p:cNvPr id="50" name="kpi-name"/>
          <p:cNvSpPr txBox="1"/>
          <p:nvPr/>
        </p:nvSpPr>
        <p:spPr>
          <a:xfrm>
            <a:off x="8412480" y="1737360"/>
            <a:ext cx="3108960" cy="219456"/>
          </a:xfrm>
          <a:prstGeom prst="rect">
            <a:avLst/>
          </a:prstGeom>
          <a:noFill/>
          <a:ln/>
        </p:spPr>
        <p:txBody>
          <a:bodyPr wrap="square" lIns="0" tIns="0" rIns="0" bIns="0" rtlCol="0" anchor="t"/>
          <a:lstStyle/>
          <a:p>
            <a:pPr marL="0" indent="0">
              <a:buNone/>
            </a:pPr>
            <a:r>
              <a:rPr lang="en-US" sz="1300" b="1" dirty="0">
                <a:solidFill>
                  <a:schemeClr val="accent2"/>
                </a:solidFill>
              </a:rPr>
              <a:t>Revenue</a:t>
            </a:r>
            <a:endParaRPr lang="en-US" sz="1300" dirty="0"/>
          </a:p>
        </p:txBody>
      </p:sp>
      <p:sp>
        <p:nvSpPr>
          <p:cNvPr id="51" name="kpi-formula"/>
          <p:cNvSpPr txBox="1"/>
          <p:nvPr/>
        </p:nvSpPr>
        <p:spPr>
          <a:xfrm>
            <a:off x="8412480" y="1965960"/>
            <a:ext cx="3108960" cy="384048"/>
          </a:xfrm>
          <a:prstGeom prst="rect">
            <a:avLst/>
          </a:prstGeom>
          <a:noFill/>
          <a:ln/>
        </p:spPr>
        <p:txBody>
          <a:bodyPr wrap="square" lIns="0" tIns="0" rIns="0" bIns="0" rtlCol="0" anchor="t"/>
          <a:lstStyle/>
          <a:p>
            <a:pPr marL="0" indent="0">
              <a:buNone/>
            </a:pPr>
            <a:r>
              <a:rPr lang="en-US" sz="1200" dirty="0">
                <a:solidFill>
                  <a:schemeClr val="tx1"/>
                </a:solidFill>
              </a:rPr>
              <a:t>SUM(quantity × price_per_unit)</a:t>
            </a:r>
            <a:endParaRPr lang="en-US" sz="1200" dirty="0"/>
          </a:p>
        </p:txBody>
      </p:sp>
      <p:sp>
        <p:nvSpPr>
          <p:cNvPr id="52" name="kpi-name"/>
          <p:cNvSpPr txBox="1"/>
          <p:nvPr/>
        </p:nvSpPr>
        <p:spPr>
          <a:xfrm>
            <a:off x="8412480" y="2340864"/>
            <a:ext cx="3108960" cy="219456"/>
          </a:xfrm>
          <a:prstGeom prst="rect">
            <a:avLst/>
          </a:prstGeom>
          <a:noFill/>
          <a:ln/>
        </p:spPr>
        <p:txBody>
          <a:bodyPr wrap="square" lIns="0" tIns="0" rIns="0" bIns="0" rtlCol="0" anchor="t"/>
          <a:lstStyle/>
          <a:p>
            <a:pPr marL="0" indent="0">
              <a:buNone/>
            </a:pPr>
            <a:r>
              <a:rPr lang="en-US" sz="1300" b="1" dirty="0">
                <a:solidFill>
                  <a:schemeClr val="accent2"/>
                </a:solidFill>
              </a:rPr>
              <a:t>AOV</a:t>
            </a:r>
            <a:endParaRPr lang="en-US" sz="1300" dirty="0"/>
          </a:p>
        </p:txBody>
      </p:sp>
      <p:sp>
        <p:nvSpPr>
          <p:cNvPr id="53" name="kpi-formula"/>
          <p:cNvSpPr txBox="1"/>
          <p:nvPr/>
        </p:nvSpPr>
        <p:spPr>
          <a:xfrm>
            <a:off x="8412480" y="2569464"/>
            <a:ext cx="3108960" cy="384048"/>
          </a:xfrm>
          <a:prstGeom prst="rect">
            <a:avLst/>
          </a:prstGeom>
          <a:noFill/>
          <a:ln/>
        </p:spPr>
        <p:txBody>
          <a:bodyPr wrap="square" lIns="0" tIns="0" rIns="0" bIns="0" rtlCol="0" anchor="t"/>
          <a:lstStyle/>
          <a:p>
            <a:pPr marL="0" indent="0">
              <a:buNone/>
            </a:pPr>
            <a:r>
              <a:rPr lang="en-US" sz="1200" dirty="0">
                <a:solidFill>
                  <a:schemeClr val="tx1"/>
                </a:solidFill>
              </a:rPr>
              <a:t>Completed revenue ÷ completed orders</a:t>
            </a:r>
            <a:endParaRPr lang="en-US" sz="1200" dirty="0"/>
          </a:p>
        </p:txBody>
      </p:sp>
      <p:sp>
        <p:nvSpPr>
          <p:cNvPr id="54" name="kpi-name"/>
          <p:cNvSpPr txBox="1"/>
          <p:nvPr/>
        </p:nvSpPr>
        <p:spPr>
          <a:xfrm>
            <a:off x="8412480" y="2944368"/>
            <a:ext cx="3108960" cy="219456"/>
          </a:xfrm>
          <a:prstGeom prst="rect">
            <a:avLst/>
          </a:prstGeom>
          <a:noFill/>
          <a:ln/>
        </p:spPr>
        <p:txBody>
          <a:bodyPr wrap="square" lIns="0" tIns="0" rIns="0" bIns="0" rtlCol="0" anchor="t"/>
          <a:lstStyle/>
          <a:p>
            <a:pPr marL="0" indent="0">
              <a:buNone/>
            </a:pPr>
            <a:r>
              <a:rPr lang="en-US" sz="1300" b="1" dirty="0">
                <a:solidFill>
                  <a:schemeClr val="accent2"/>
                </a:solidFill>
              </a:rPr>
              <a:t>Historical CLTV</a:t>
            </a:r>
            <a:endParaRPr lang="en-US" sz="1300" dirty="0"/>
          </a:p>
        </p:txBody>
      </p:sp>
      <p:sp>
        <p:nvSpPr>
          <p:cNvPr id="55" name="kpi-formula"/>
          <p:cNvSpPr txBox="1"/>
          <p:nvPr/>
        </p:nvSpPr>
        <p:spPr>
          <a:xfrm>
            <a:off x="8412480" y="3172968"/>
            <a:ext cx="3108960" cy="384048"/>
          </a:xfrm>
          <a:prstGeom prst="rect">
            <a:avLst/>
          </a:prstGeom>
          <a:noFill/>
          <a:ln/>
        </p:spPr>
        <p:txBody>
          <a:bodyPr wrap="square" lIns="0" tIns="0" rIns="0" bIns="0" rtlCol="0" anchor="t"/>
          <a:lstStyle/>
          <a:p>
            <a:pPr marL="0" indent="0">
              <a:buNone/>
            </a:pPr>
            <a:r>
              <a:rPr lang="en-US" sz="1200" dirty="0">
                <a:solidFill>
                  <a:schemeClr val="tx1"/>
                </a:solidFill>
              </a:rPr>
              <a:t>Cumulative completed revenue per customer</a:t>
            </a:r>
            <a:endParaRPr lang="en-US" sz="1200" dirty="0"/>
          </a:p>
        </p:txBody>
      </p:sp>
      <p:sp>
        <p:nvSpPr>
          <p:cNvPr id="56" name="kpi-name"/>
          <p:cNvSpPr txBox="1"/>
          <p:nvPr/>
        </p:nvSpPr>
        <p:spPr>
          <a:xfrm>
            <a:off x="8412480" y="3547872"/>
            <a:ext cx="3108960" cy="219456"/>
          </a:xfrm>
          <a:prstGeom prst="rect">
            <a:avLst/>
          </a:prstGeom>
          <a:noFill/>
          <a:ln/>
        </p:spPr>
        <p:txBody>
          <a:bodyPr wrap="square" lIns="0" tIns="0" rIns="0" bIns="0" rtlCol="0" anchor="t"/>
          <a:lstStyle/>
          <a:p>
            <a:pPr marL="0" indent="0">
              <a:buNone/>
            </a:pPr>
            <a:r>
              <a:rPr lang="en-US" sz="1300" b="1" dirty="0">
                <a:solidFill>
                  <a:schemeClr val="accent2"/>
                </a:solidFill>
              </a:rPr>
              <a:t>Gross profit</a:t>
            </a:r>
            <a:endParaRPr lang="en-US" sz="1300" dirty="0"/>
          </a:p>
        </p:txBody>
      </p:sp>
      <p:sp>
        <p:nvSpPr>
          <p:cNvPr id="57" name="kpi-formula"/>
          <p:cNvSpPr txBox="1"/>
          <p:nvPr/>
        </p:nvSpPr>
        <p:spPr>
          <a:xfrm>
            <a:off x="8412480" y="3776472"/>
            <a:ext cx="3108960" cy="384048"/>
          </a:xfrm>
          <a:prstGeom prst="rect">
            <a:avLst/>
          </a:prstGeom>
          <a:noFill/>
          <a:ln/>
        </p:spPr>
        <p:txBody>
          <a:bodyPr wrap="square" lIns="0" tIns="0" rIns="0" bIns="0" rtlCol="0" anchor="t"/>
          <a:lstStyle/>
          <a:p>
            <a:pPr marL="0" indent="0">
              <a:buNone/>
            </a:pPr>
            <a:r>
              <a:rPr lang="en-US" sz="1200" dirty="0">
                <a:solidFill>
                  <a:schemeClr val="tx1"/>
                </a:solidFill>
              </a:rPr>
              <a:t>(price_per_unit − cogs) × quantity</a:t>
            </a:r>
            <a:endParaRPr lang="en-US" sz="1200" dirty="0"/>
          </a:p>
        </p:txBody>
      </p:sp>
      <p:sp>
        <p:nvSpPr>
          <p:cNvPr id="58" name="kpi-name"/>
          <p:cNvSpPr txBox="1"/>
          <p:nvPr/>
        </p:nvSpPr>
        <p:spPr>
          <a:xfrm>
            <a:off x="8412480" y="4151376"/>
            <a:ext cx="3108960" cy="219456"/>
          </a:xfrm>
          <a:prstGeom prst="rect">
            <a:avLst/>
          </a:prstGeom>
          <a:noFill/>
          <a:ln/>
        </p:spPr>
        <p:txBody>
          <a:bodyPr wrap="square" lIns="0" tIns="0" rIns="0" bIns="0" rtlCol="0" anchor="t"/>
          <a:lstStyle/>
          <a:p>
            <a:pPr marL="0" indent="0">
              <a:buNone/>
            </a:pPr>
            <a:r>
              <a:rPr lang="en-US" sz="1300" b="1" dirty="0">
                <a:solidFill>
                  <a:schemeClr val="accent2"/>
                </a:solidFill>
              </a:rPr>
              <a:t>Return rate</a:t>
            </a:r>
            <a:endParaRPr lang="en-US" sz="1300" dirty="0"/>
          </a:p>
        </p:txBody>
      </p:sp>
      <p:sp>
        <p:nvSpPr>
          <p:cNvPr id="59" name="kpi-formula"/>
          <p:cNvSpPr txBox="1"/>
          <p:nvPr/>
        </p:nvSpPr>
        <p:spPr>
          <a:xfrm>
            <a:off x="8412480" y="4379976"/>
            <a:ext cx="3108960" cy="384048"/>
          </a:xfrm>
          <a:prstGeom prst="rect">
            <a:avLst/>
          </a:prstGeom>
          <a:noFill/>
          <a:ln/>
        </p:spPr>
        <p:txBody>
          <a:bodyPr wrap="square" lIns="0" tIns="0" rIns="0" bIns="0" rtlCol="0" anchor="t"/>
          <a:lstStyle/>
          <a:p>
            <a:pPr marL="0" indent="0">
              <a:buNone/>
            </a:pPr>
            <a:r>
              <a:rPr lang="en-US" sz="1200" dirty="0">
                <a:solidFill>
                  <a:schemeClr val="tx1"/>
                </a:solidFill>
              </a:rPr>
              <a:t>Returned units ÷ total units × 100</a:t>
            </a:r>
            <a:endParaRPr lang="en-US" sz="1200" dirty="0"/>
          </a:p>
        </p:txBody>
      </p:sp>
      <p:sp>
        <p:nvSpPr>
          <p:cNvPr id="60" name="kpi-name"/>
          <p:cNvSpPr txBox="1"/>
          <p:nvPr/>
        </p:nvSpPr>
        <p:spPr>
          <a:xfrm>
            <a:off x="8412480" y="4754880"/>
            <a:ext cx="3108960" cy="219456"/>
          </a:xfrm>
          <a:prstGeom prst="rect">
            <a:avLst/>
          </a:prstGeom>
          <a:noFill/>
          <a:ln/>
        </p:spPr>
        <p:txBody>
          <a:bodyPr wrap="square" lIns="0" tIns="0" rIns="0" bIns="0" rtlCol="0" anchor="t"/>
          <a:lstStyle/>
          <a:p>
            <a:pPr marL="0" indent="0">
              <a:buNone/>
            </a:pPr>
            <a:r>
              <a:rPr lang="en-US" sz="1300" b="1" dirty="0">
                <a:solidFill>
                  <a:schemeClr val="accent2"/>
                </a:solidFill>
              </a:rPr>
              <a:t>Stock risk</a:t>
            </a:r>
            <a:endParaRPr lang="en-US" sz="1300" dirty="0"/>
          </a:p>
        </p:txBody>
      </p:sp>
      <p:sp>
        <p:nvSpPr>
          <p:cNvPr id="61" name="kpi-formula"/>
          <p:cNvSpPr txBox="1"/>
          <p:nvPr/>
        </p:nvSpPr>
        <p:spPr>
          <a:xfrm>
            <a:off x="8412480" y="4983480"/>
            <a:ext cx="3108960" cy="384048"/>
          </a:xfrm>
          <a:prstGeom prst="rect">
            <a:avLst/>
          </a:prstGeom>
          <a:noFill/>
          <a:ln/>
        </p:spPr>
        <p:txBody>
          <a:bodyPr wrap="square" lIns="0" tIns="0" rIns="0" bIns="0" rtlCol="0" anchor="t"/>
          <a:lstStyle/>
          <a:p>
            <a:pPr marL="0" indent="0">
              <a:buNone/>
            </a:pPr>
            <a:r>
              <a:rPr lang="en-US" sz="1200" dirty="0">
                <a:solidFill>
                  <a:schemeClr val="tx1"/>
                </a:solidFill>
              </a:rPr>
              <a:t>Products with stock &lt; 10 units</a:t>
            </a:r>
            <a:endParaRPr lang="en-US" sz="1200" dirty="0"/>
          </a:p>
        </p:txBody>
      </p:sp>
      <p:sp>
        <p:nvSpPr>
          <p:cNvPr id="62" name="kpi-footnote"/>
          <p:cNvSpPr txBox="1"/>
          <p:nvPr/>
        </p:nvSpPr>
        <p:spPr>
          <a:xfrm>
            <a:off x="8412480" y="5394960"/>
            <a:ext cx="3108960" cy="329184"/>
          </a:xfrm>
          <a:prstGeom prst="rect">
            <a:avLst/>
          </a:prstGeom>
          <a:noFill/>
          <a:ln/>
        </p:spPr>
        <p:txBody>
          <a:bodyPr wrap="square" lIns="0" tIns="0" rIns="0" bIns="0" rtlCol="0" anchor="t"/>
          <a:lstStyle/>
          <a:p>
            <a:pPr marL="0" indent="0">
              <a:buNone/>
            </a:pPr>
            <a:r>
              <a:rPr lang="en-US" sz="1000" dirty="0">
                <a:solidFill>
                  <a:schemeClr val="accent5"/>
                </a:solidFill>
              </a:rPr>
              <a:t>Revenue, AOV, CLTV and profit use completed orders unless stated.</a:t>
            </a:r>
            <a:endParaRPr lang="en-US" sz="1000" dirty="0"/>
          </a:p>
        </p:txBody>
      </p:sp>
      <p:sp>
        <p:nvSpPr>
          <p:cNvPr id="63" name="schema-note"/>
          <p:cNvSpPr/>
          <p:nvPr/>
        </p:nvSpPr>
        <p:spPr>
          <a:xfrm>
            <a:off x="457200" y="5852160"/>
            <a:ext cx="11274552" cy="365760"/>
          </a:xfrm>
          <a:prstGeom prst="roundRect">
            <a:avLst>
              <a:gd name="adj" fmla="val 30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64" name="schema-note-text"/>
          <p:cNvSpPr txBox="1"/>
          <p:nvPr/>
        </p:nvSpPr>
        <p:spPr>
          <a:xfrm>
            <a:off x="640080" y="5852160"/>
            <a:ext cx="10881360" cy="365760"/>
          </a:xfrm>
          <a:prstGeom prst="rect">
            <a:avLst/>
          </a:prstGeom>
          <a:noFill/>
          <a:ln/>
        </p:spPr>
        <p:txBody>
          <a:bodyPr wrap="square" lIns="0" tIns="0" rIns="0" bIns="0" rtlCol="0" anchor="ctr"/>
          <a:lstStyle/>
          <a:p>
            <a:pPr marL="0" indent="0">
              <a:buNone/>
            </a:pPr>
            <a:r>
              <a:rPr lang="en-US" sz="1200" dirty="0">
                <a:solidFill>
                  <a:schemeClr val="accent5"/>
                </a:solidFill>
              </a:rPr>
              <a:t>Row counts are from the supplied CSV files. Each order has 1 order_item row and 1 payment row; shipping has 488 fewer rows (cancelled orders).</a:t>
            </a:r>
            <a:endParaRPr lang="en-US" sz="1200" dirty="0"/>
          </a:p>
        </p:txBody>
      </p:sp>
      <p:sp>
        <p:nvSpPr>
          <p:cNvPr id="65"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Methodology: from raw CSV to recommendations</a:t>
            </a:r>
            <a:endParaRPr lang="en-US" sz="2800" dirty="0"/>
          </a:p>
        </p:txBody>
      </p:sp>
      <p:sp>
        <p:nvSpPr>
          <p:cNvPr id="3" name="pipeline-step"/>
          <p:cNvSpPr/>
          <p:nvPr/>
        </p:nvSpPr>
        <p:spPr>
          <a:xfrm>
            <a:off x="457200" y="1188720"/>
            <a:ext cx="2011680" cy="960120"/>
          </a:xfrm>
          <a:prstGeom prst="roundRect">
            <a:avLst>
              <a:gd name="adj" fmla="val 1142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4" name="step-number-bg"/>
          <p:cNvSpPr/>
          <p:nvPr/>
        </p:nvSpPr>
        <p:spPr>
          <a:xfrm>
            <a:off x="594360" y="1325880"/>
            <a:ext cx="310896" cy="310896"/>
          </a:xfrm>
          <a:prstGeom prst="ellipse">
            <a:avLst/>
          </a:prstGeom>
          <a:solidFill>
            <a:schemeClr val="accent2"/>
          </a:solidFill>
          <a:ln w="6350">
            <a:solidFill>
              <a:schemeClr val="bg1"/>
            </a:solidFill>
            <a:prstDash val="solid"/>
          </a:ln>
        </p:spPr>
      </p:sp>
      <p:sp>
        <p:nvSpPr>
          <p:cNvPr id="5" name="step-number"/>
          <p:cNvSpPr txBox="1"/>
          <p:nvPr/>
        </p:nvSpPr>
        <p:spPr>
          <a:xfrm>
            <a:off x="594360" y="132588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6" name="step-title"/>
          <p:cNvSpPr txBox="1"/>
          <p:nvPr/>
        </p:nvSpPr>
        <p:spPr>
          <a:xfrm>
            <a:off x="1005840" y="1298448"/>
            <a:ext cx="1371600" cy="365760"/>
          </a:xfrm>
          <a:prstGeom prst="rect">
            <a:avLst/>
          </a:prstGeom>
          <a:noFill/>
          <a:ln/>
        </p:spPr>
        <p:txBody>
          <a:bodyPr wrap="square" lIns="0" tIns="0" rIns="0" bIns="0" rtlCol="0" anchor="ctr"/>
          <a:lstStyle/>
          <a:p>
            <a:pPr marL="0" indent="0">
              <a:buNone/>
            </a:pPr>
            <a:r>
              <a:rPr lang="en-US" sz="1300" b="1" dirty="0">
                <a:solidFill>
                  <a:schemeClr val="tx1"/>
                </a:solidFill>
              </a:rPr>
              <a:t>Raw CSV files</a:t>
            </a:r>
            <a:endParaRPr lang="en-US" sz="1300" dirty="0"/>
          </a:p>
        </p:txBody>
      </p:sp>
      <p:sp>
        <p:nvSpPr>
          <p:cNvPr id="7" name="step-sub"/>
          <p:cNvSpPr txBox="1"/>
          <p:nvPr/>
        </p:nvSpPr>
        <p:spPr>
          <a:xfrm>
            <a:off x="594360" y="1755648"/>
            <a:ext cx="1737360" cy="274320"/>
          </a:xfrm>
          <a:prstGeom prst="rect">
            <a:avLst/>
          </a:prstGeom>
          <a:noFill/>
          <a:ln/>
        </p:spPr>
        <p:txBody>
          <a:bodyPr wrap="square" lIns="0" tIns="0" rIns="0" bIns="0" rtlCol="0" anchor="t"/>
          <a:lstStyle/>
          <a:p>
            <a:pPr marL="0" indent="0">
              <a:buNone/>
            </a:pPr>
            <a:r>
              <a:rPr lang="en-US" sz="1200" dirty="0">
                <a:solidFill>
                  <a:schemeClr val="accent5"/>
                </a:solidFill>
              </a:rPr>
              <a:t>9 files loaded</a:t>
            </a:r>
            <a:endParaRPr lang="en-US" sz="1200" dirty="0"/>
          </a:p>
        </p:txBody>
      </p:sp>
      <p:sp>
        <p:nvSpPr>
          <p:cNvPr id="8" name="pipeline-step"/>
          <p:cNvSpPr/>
          <p:nvPr/>
        </p:nvSpPr>
        <p:spPr>
          <a:xfrm>
            <a:off x="2770632" y="1188720"/>
            <a:ext cx="2011680" cy="960120"/>
          </a:xfrm>
          <a:prstGeom prst="roundRect">
            <a:avLst>
              <a:gd name="adj" fmla="val 1142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9" name="step-number-bg"/>
          <p:cNvSpPr/>
          <p:nvPr/>
        </p:nvSpPr>
        <p:spPr>
          <a:xfrm>
            <a:off x="2907792" y="1325880"/>
            <a:ext cx="310896" cy="310896"/>
          </a:xfrm>
          <a:prstGeom prst="ellipse">
            <a:avLst/>
          </a:prstGeom>
          <a:solidFill>
            <a:schemeClr val="accent2"/>
          </a:solidFill>
          <a:ln w="6350">
            <a:solidFill>
              <a:schemeClr val="bg1"/>
            </a:solidFill>
            <a:prstDash val="solid"/>
          </a:ln>
        </p:spPr>
      </p:sp>
      <p:sp>
        <p:nvSpPr>
          <p:cNvPr id="10" name="step-number"/>
          <p:cNvSpPr txBox="1"/>
          <p:nvPr/>
        </p:nvSpPr>
        <p:spPr>
          <a:xfrm>
            <a:off x="2907792" y="132588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1" name="step-title"/>
          <p:cNvSpPr txBox="1"/>
          <p:nvPr/>
        </p:nvSpPr>
        <p:spPr>
          <a:xfrm>
            <a:off x="3319272" y="1298448"/>
            <a:ext cx="1371600" cy="365760"/>
          </a:xfrm>
          <a:prstGeom prst="rect">
            <a:avLst/>
          </a:prstGeom>
          <a:noFill/>
          <a:ln/>
        </p:spPr>
        <p:txBody>
          <a:bodyPr wrap="square" lIns="0" tIns="0" rIns="0" bIns="0" rtlCol="0" anchor="ctr"/>
          <a:lstStyle/>
          <a:p>
            <a:pPr marL="0" indent="0">
              <a:buNone/>
            </a:pPr>
            <a:r>
              <a:rPr lang="en-US" sz="1300" b="1" dirty="0">
                <a:solidFill>
                  <a:schemeClr val="tx1"/>
                </a:solidFill>
              </a:rPr>
              <a:t>Data profiling</a:t>
            </a:r>
            <a:endParaRPr lang="en-US" sz="1300" dirty="0"/>
          </a:p>
        </p:txBody>
      </p:sp>
      <p:sp>
        <p:nvSpPr>
          <p:cNvPr id="12" name="step-sub"/>
          <p:cNvSpPr txBox="1"/>
          <p:nvPr/>
        </p:nvSpPr>
        <p:spPr>
          <a:xfrm>
            <a:off x="2907792" y="1755648"/>
            <a:ext cx="1737360" cy="274320"/>
          </a:xfrm>
          <a:prstGeom prst="rect">
            <a:avLst/>
          </a:prstGeom>
          <a:noFill/>
          <a:ln/>
        </p:spPr>
        <p:txBody>
          <a:bodyPr wrap="square" lIns="0" tIns="0" rIns="0" bIns="0" rtlCol="0" anchor="t"/>
          <a:lstStyle/>
          <a:p>
            <a:pPr marL="0" indent="0">
              <a:buNone/>
            </a:pPr>
            <a:r>
              <a:rPr lang="en-US" sz="1200" dirty="0">
                <a:solidFill>
                  <a:schemeClr val="accent5"/>
                </a:solidFill>
              </a:rPr>
              <a:t>Rows, keys, nulls</a:t>
            </a:r>
            <a:endParaRPr lang="en-US" sz="1200" dirty="0"/>
          </a:p>
        </p:txBody>
      </p:sp>
      <p:sp>
        <p:nvSpPr>
          <p:cNvPr id="13" name="pipeline-step"/>
          <p:cNvSpPr/>
          <p:nvPr/>
        </p:nvSpPr>
        <p:spPr>
          <a:xfrm>
            <a:off x="5084064" y="1188720"/>
            <a:ext cx="2011680" cy="960120"/>
          </a:xfrm>
          <a:prstGeom prst="roundRect">
            <a:avLst>
              <a:gd name="adj" fmla="val 1142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4" name="step-number-bg"/>
          <p:cNvSpPr/>
          <p:nvPr/>
        </p:nvSpPr>
        <p:spPr>
          <a:xfrm>
            <a:off x="5221224" y="1325880"/>
            <a:ext cx="310896" cy="310896"/>
          </a:xfrm>
          <a:prstGeom prst="ellipse">
            <a:avLst/>
          </a:prstGeom>
          <a:solidFill>
            <a:schemeClr val="accent2"/>
          </a:solidFill>
          <a:ln w="6350">
            <a:solidFill>
              <a:schemeClr val="bg1"/>
            </a:solidFill>
            <a:prstDash val="solid"/>
          </a:ln>
        </p:spPr>
      </p:sp>
      <p:sp>
        <p:nvSpPr>
          <p:cNvPr id="15" name="step-number"/>
          <p:cNvSpPr txBox="1"/>
          <p:nvPr/>
        </p:nvSpPr>
        <p:spPr>
          <a:xfrm>
            <a:off x="5221224" y="132588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6" name="step-title"/>
          <p:cNvSpPr txBox="1"/>
          <p:nvPr/>
        </p:nvSpPr>
        <p:spPr>
          <a:xfrm>
            <a:off x="5632704" y="1298448"/>
            <a:ext cx="1371600" cy="365760"/>
          </a:xfrm>
          <a:prstGeom prst="rect">
            <a:avLst/>
          </a:prstGeom>
          <a:noFill/>
          <a:ln/>
        </p:spPr>
        <p:txBody>
          <a:bodyPr wrap="square" lIns="0" tIns="0" rIns="0" bIns="0" rtlCol="0" anchor="ctr"/>
          <a:lstStyle/>
          <a:p>
            <a:pPr marL="0" indent="0">
              <a:buNone/>
            </a:pPr>
            <a:r>
              <a:rPr lang="en-US" sz="1300" b="1" dirty="0">
                <a:solidFill>
                  <a:schemeClr val="tx1"/>
                </a:solidFill>
              </a:rPr>
              <a:t>Data cleaning</a:t>
            </a:r>
            <a:endParaRPr lang="en-US" sz="1300" dirty="0"/>
          </a:p>
        </p:txBody>
      </p:sp>
      <p:sp>
        <p:nvSpPr>
          <p:cNvPr id="17" name="step-sub"/>
          <p:cNvSpPr txBox="1"/>
          <p:nvPr/>
        </p:nvSpPr>
        <p:spPr>
          <a:xfrm>
            <a:off x="5221224" y="1755648"/>
            <a:ext cx="1737360" cy="274320"/>
          </a:xfrm>
          <a:prstGeom prst="rect">
            <a:avLst/>
          </a:prstGeom>
          <a:noFill/>
          <a:ln/>
        </p:spPr>
        <p:txBody>
          <a:bodyPr wrap="square" lIns="0" tIns="0" rIns="0" bIns="0" rtlCol="0" anchor="t"/>
          <a:lstStyle/>
          <a:p>
            <a:pPr marL="0" indent="0">
              <a:buNone/>
            </a:pPr>
            <a:r>
              <a:rPr lang="en-US" sz="1200" dirty="0">
                <a:solidFill>
                  <a:schemeClr val="accent5"/>
                </a:solidFill>
              </a:rPr>
              <a:t>Rename, TRIM</a:t>
            </a:r>
            <a:endParaRPr lang="en-US" sz="1200" dirty="0"/>
          </a:p>
        </p:txBody>
      </p:sp>
      <p:sp>
        <p:nvSpPr>
          <p:cNvPr id="18" name="pipeline-step"/>
          <p:cNvSpPr/>
          <p:nvPr/>
        </p:nvSpPr>
        <p:spPr>
          <a:xfrm>
            <a:off x="7397496" y="1188720"/>
            <a:ext cx="2011680" cy="960120"/>
          </a:xfrm>
          <a:prstGeom prst="roundRect">
            <a:avLst>
              <a:gd name="adj" fmla="val 1142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9" name="step-number-bg"/>
          <p:cNvSpPr/>
          <p:nvPr/>
        </p:nvSpPr>
        <p:spPr>
          <a:xfrm>
            <a:off x="7534656" y="1325880"/>
            <a:ext cx="310896" cy="310896"/>
          </a:xfrm>
          <a:prstGeom prst="ellipse">
            <a:avLst/>
          </a:prstGeom>
          <a:solidFill>
            <a:schemeClr val="accent2"/>
          </a:solidFill>
          <a:ln w="6350">
            <a:solidFill>
              <a:schemeClr val="bg1"/>
            </a:solidFill>
            <a:prstDash val="solid"/>
          </a:ln>
        </p:spPr>
      </p:sp>
      <p:sp>
        <p:nvSpPr>
          <p:cNvPr id="20" name="step-number"/>
          <p:cNvSpPr txBox="1"/>
          <p:nvPr/>
        </p:nvSpPr>
        <p:spPr>
          <a:xfrm>
            <a:off x="7534656" y="132588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1" name="step-title"/>
          <p:cNvSpPr txBox="1"/>
          <p:nvPr/>
        </p:nvSpPr>
        <p:spPr>
          <a:xfrm>
            <a:off x="7946136" y="1298448"/>
            <a:ext cx="1371600" cy="365760"/>
          </a:xfrm>
          <a:prstGeom prst="rect">
            <a:avLst/>
          </a:prstGeom>
          <a:noFill/>
          <a:ln/>
        </p:spPr>
        <p:txBody>
          <a:bodyPr wrap="square" lIns="0" tIns="0" rIns="0" bIns="0" rtlCol="0" anchor="ctr"/>
          <a:lstStyle/>
          <a:p>
            <a:pPr marL="0" indent="0">
              <a:buNone/>
            </a:pPr>
            <a:r>
              <a:rPr lang="en-US" sz="1300" b="1" dirty="0">
                <a:solidFill>
                  <a:schemeClr val="tx1"/>
                </a:solidFill>
              </a:rPr>
              <a:t>Type standardization</a:t>
            </a:r>
            <a:endParaRPr lang="en-US" sz="1300" dirty="0"/>
          </a:p>
        </p:txBody>
      </p:sp>
      <p:sp>
        <p:nvSpPr>
          <p:cNvPr id="22" name="step-sub"/>
          <p:cNvSpPr txBox="1"/>
          <p:nvPr/>
        </p:nvSpPr>
        <p:spPr>
          <a:xfrm>
            <a:off x="7534656" y="1755648"/>
            <a:ext cx="1737360" cy="274320"/>
          </a:xfrm>
          <a:prstGeom prst="rect">
            <a:avLst/>
          </a:prstGeom>
          <a:noFill/>
          <a:ln/>
        </p:spPr>
        <p:txBody>
          <a:bodyPr wrap="square" lIns="0" tIns="0" rIns="0" bIns="0" rtlCol="0" anchor="t"/>
          <a:lstStyle/>
          <a:p>
            <a:pPr marL="0" indent="0">
              <a:buNone/>
            </a:pPr>
            <a:r>
              <a:rPr lang="en-US" sz="1200" dirty="0">
                <a:solidFill>
                  <a:schemeClr val="accent5"/>
                </a:solidFill>
              </a:rPr>
              <a:t>DATE, DECIMAL</a:t>
            </a:r>
            <a:endParaRPr lang="en-US" sz="1200" dirty="0"/>
          </a:p>
        </p:txBody>
      </p:sp>
      <p:sp>
        <p:nvSpPr>
          <p:cNvPr id="23" name="pipeline-step"/>
          <p:cNvSpPr/>
          <p:nvPr/>
        </p:nvSpPr>
        <p:spPr>
          <a:xfrm>
            <a:off x="9710928" y="1188720"/>
            <a:ext cx="2011680" cy="960120"/>
          </a:xfrm>
          <a:prstGeom prst="roundRect">
            <a:avLst>
              <a:gd name="adj" fmla="val 1142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4" name="step-number-bg"/>
          <p:cNvSpPr/>
          <p:nvPr/>
        </p:nvSpPr>
        <p:spPr>
          <a:xfrm>
            <a:off x="9848088" y="1325880"/>
            <a:ext cx="310896" cy="310896"/>
          </a:xfrm>
          <a:prstGeom prst="ellipse">
            <a:avLst/>
          </a:prstGeom>
          <a:solidFill>
            <a:schemeClr val="accent2"/>
          </a:solidFill>
          <a:ln w="6350">
            <a:solidFill>
              <a:schemeClr val="bg1"/>
            </a:solidFill>
            <a:prstDash val="solid"/>
          </a:ln>
        </p:spPr>
      </p:sp>
      <p:sp>
        <p:nvSpPr>
          <p:cNvPr id="25" name="step-number"/>
          <p:cNvSpPr txBox="1"/>
          <p:nvPr/>
        </p:nvSpPr>
        <p:spPr>
          <a:xfrm>
            <a:off x="9848088" y="132588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6" name="step-title"/>
          <p:cNvSpPr txBox="1"/>
          <p:nvPr/>
        </p:nvSpPr>
        <p:spPr>
          <a:xfrm>
            <a:off x="10259568" y="1298448"/>
            <a:ext cx="1371600" cy="365760"/>
          </a:xfrm>
          <a:prstGeom prst="rect">
            <a:avLst/>
          </a:prstGeom>
          <a:noFill/>
          <a:ln/>
        </p:spPr>
        <p:txBody>
          <a:bodyPr wrap="square" lIns="0" tIns="0" rIns="0" bIns="0" rtlCol="0" anchor="ctr"/>
          <a:lstStyle/>
          <a:p>
            <a:pPr marL="0" indent="0">
              <a:buNone/>
            </a:pPr>
            <a:r>
              <a:rPr lang="en-US" sz="1300" b="1" dirty="0">
                <a:solidFill>
                  <a:schemeClr val="tx1"/>
                </a:solidFill>
              </a:rPr>
              <a:t>Relational database</a:t>
            </a:r>
            <a:endParaRPr lang="en-US" sz="1300" dirty="0"/>
          </a:p>
        </p:txBody>
      </p:sp>
      <p:sp>
        <p:nvSpPr>
          <p:cNvPr id="27" name="step-sub"/>
          <p:cNvSpPr txBox="1"/>
          <p:nvPr/>
        </p:nvSpPr>
        <p:spPr>
          <a:xfrm>
            <a:off x="9848088" y="1755648"/>
            <a:ext cx="1737360" cy="274320"/>
          </a:xfrm>
          <a:prstGeom prst="rect">
            <a:avLst/>
          </a:prstGeom>
          <a:noFill/>
          <a:ln/>
        </p:spPr>
        <p:txBody>
          <a:bodyPr wrap="square" lIns="0" tIns="0" rIns="0" bIns="0" rtlCol="0" anchor="t"/>
          <a:lstStyle/>
          <a:p>
            <a:pPr marL="0" indent="0">
              <a:buNone/>
            </a:pPr>
            <a:r>
              <a:rPr lang="en-US" sz="1200" dirty="0">
                <a:solidFill>
                  <a:schemeClr val="accent5"/>
                </a:solidFill>
              </a:rPr>
              <a:t>MySQL tables</a:t>
            </a:r>
            <a:endParaRPr lang="en-US" sz="1200" dirty="0"/>
          </a:p>
        </p:txBody>
      </p:sp>
      <p:sp>
        <p:nvSpPr>
          <p:cNvPr id="28" name="pipeline-step"/>
          <p:cNvSpPr/>
          <p:nvPr/>
        </p:nvSpPr>
        <p:spPr>
          <a:xfrm>
            <a:off x="9710928" y="2560320"/>
            <a:ext cx="2011680" cy="960120"/>
          </a:xfrm>
          <a:prstGeom prst="roundRect">
            <a:avLst>
              <a:gd name="adj" fmla="val 1142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9" name="step-number-bg"/>
          <p:cNvSpPr/>
          <p:nvPr/>
        </p:nvSpPr>
        <p:spPr>
          <a:xfrm>
            <a:off x="9848088" y="2697480"/>
            <a:ext cx="310896" cy="310896"/>
          </a:xfrm>
          <a:prstGeom prst="ellipse">
            <a:avLst/>
          </a:prstGeom>
          <a:solidFill>
            <a:schemeClr val="accent1"/>
          </a:solidFill>
          <a:ln w="6350">
            <a:solidFill>
              <a:schemeClr val="bg1"/>
            </a:solidFill>
            <a:prstDash val="solid"/>
          </a:ln>
        </p:spPr>
      </p:sp>
      <p:sp>
        <p:nvSpPr>
          <p:cNvPr id="30" name="step-number"/>
          <p:cNvSpPr txBox="1"/>
          <p:nvPr/>
        </p:nvSpPr>
        <p:spPr>
          <a:xfrm>
            <a:off x="9848088" y="269748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31" name="step-title"/>
          <p:cNvSpPr txBox="1"/>
          <p:nvPr/>
        </p:nvSpPr>
        <p:spPr>
          <a:xfrm>
            <a:off x="10259568" y="2670048"/>
            <a:ext cx="1371600" cy="365760"/>
          </a:xfrm>
          <a:prstGeom prst="rect">
            <a:avLst/>
          </a:prstGeom>
          <a:noFill/>
          <a:ln/>
        </p:spPr>
        <p:txBody>
          <a:bodyPr wrap="square" lIns="0" tIns="0" rIns="0" bIns="0" rtlCol="0" anchor="ctr"/>
          <a:lstStyle/>
          <a:p>
            <a:pPr marL="0" indent="0">
              <a:buNone/>
            </a:pPr>
            <a:r>
              <a:rPr lang="en-US" sz="1300" b="1" dirty="0">
                <a:solidFill>
                  <a:schemeClr val="tx1"/>
                </a:solidFill>
              </a:rPr>
              <a:t>ERD / relationships</a:t>
            </a:r>
            <a:endParaRPr lang="en-US" sz="1300" dirty="0"/>
          </a:p>
        </p:txBody>
      </p:sp>
      <p:sp>
        <p:nvSpPr>
          <p:cNvPr id="32" name="step-sub"/>
          <p:cNvSpPr txBox="1"/>
          <p:nvPr/>
        </p:nvSpPr>
        <p:spPr>
          <a:xfrm>
            <a:off x="9848088" y="3127248"/>
            <a:ext cx="1737360" cy="274320"/>
          </a:xfrm>
          <a:prstGeom prst="rect">
            <a:avLst/>
          </a:prstGeom>
          <a:noFill/>
          <a:ln/>
        </p:spPr>
        <p:txBody>
          <a:bodyPr wrap="square" lIns="0" tIns="0" rIns="0" bIns="0" rtlCol="0" anchor="t"/>
          <a:lstStyle/>
          <a:p>
            <a:pPr marL="0" indent="0">
              <a:buNone/>
            </a:pPr>
            <a:r>
              <a:rPr lang="en-US" sz="1200" dirty="0">
                <a:solidFill>
                  <a:schemeClr val="accent5"/>
                </a:solidFill>
              </a:rPr>
              <a:t>PK and FK checks</a:t>
            </a:r>
            <a:endParaRPr lang="en-US" sz="1200" dirty="0"/>
          </a:p>
        </p:txBody>
      </p:sp>
      <p:sp>
        <p:nvSpPr>
          <p:cNvPr id="33" name="pipeline-step"/>
          <p:cNvSpPr/>
          <p:nvPr/>
        </p:nvSpPr>
        <p:spPr>
          <a:xfrm>
            <a:off x="7397496" y="2560320"/>
            <a:ext cx="2011680" cy="960120"/>
          </a:xfrm>
          <a:prstGeom prst="roundRect">
            <a:avLst>
              <a:gd name="adj" fmla="val 1142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4" name="step-number-bg"/>
          <p:cNvSpPr/>
          <p:nvPr/>
        </p:nvSpPr>
        <p:spPr>
          <a:xfrm>
            <a:off x="7534656" y="2697480"/>
            <a:ext cx="310896" cy="310896"/>
          </a:xfrm>
          <a:prstGeom prst="ellipse">
            <a:avLst/>
          </a:prstGeom>
          <a:solidFill>
            <a:schemeClr val="accent1"/>
          </a:solidFill>
          <a:ln w="6350">
            <a:solidFill>
              <a:schemeClr val="bg1"/>
            </a:solidFill>
            <a:prstDash val="solid"/>
          </a:ln>
        </p:spPr>
      </p:sp>
      <p:sp>
        <p:nvSpPr>
          <p:cNvPr id="35" name="step-number"/>
          <p:cNvSpPr txBox="1"/>
          <p:nvPr/>
        </p:nvSpPr>
        <p:spPr>
          <a:xfrm>
            <a:off x="7534656" y="269748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7</a:t>
            </a:r>
            <a:endParaRPr lang="en-US" sz="1200" dirty="0"/>
          </a:p>
        </p:txBody>
      </p:sp>
      <p:sp>
        <p:nvSpPr>
          <p:cNvPr id="36" name="step-title"/>
          <p:cNvSpPr txBox="1"/>
          <p:nvPr/>
        </p:nvSpPr>
        <p:spPr>
          <a:xfrm>
            <a:off x="7946136" y="2670048"/>
            <a:ext cx="1371600" cy="365760"/>
          </a:xfrm>
          <a:prstGeom prst="rect">
            <a:avLst/>
          </a:prstGeom>
          <a:noFill/>
          <a:ln/>
        </p:spPr>
        <p:txBody>
          <a:bodyPr wrap="square" lIns="0" tIns="0" rIns="0" bIns="0" rtlCol="0" anchor="ctr"/>
          <a:lstStyle/>
          <a:p>
            <a:pPr marL="0" indent="0">
              <a:buNone/>
            </a:pPr>
            <a:r>
              <a:rPr lang="en-US" sz="1300" b="1" dirty="0">
                <a:solidFill>
                  <a:schemeClr val="tx1"/>
                </a:solidFill>
              </a:rPr>
              <a:t>SQL analysis</a:t>
            </a:r>
            <a:endParaRPr lang="en-US" sz="1300" dirty="0"/>
          </a:p>
        </p:txBody>
      </p:sp>
      <p:sp>
        <p:nvSpPr>
          <p:cNvPr id="37" name="step-sub"/>
          <p:cNvSpPr txBox="1"/>
          <p:nvPr/>
        </p:nvSpPr>
        <p:spPr>
          <a:xfrm>
            <a:off x="7534656" y="3127248"/>
            <a:ext cx="1737360" cy="274320"/>
          </a:xfrm>
          <a:prstGeom prst="rect">
            <a:avLst/>
          </a:prstGeom>
          <a:noFill/>
          <a:ln/>
        </p:spPr>
        <p:txBody>
          <a:bodyPr wrap="square" lIns="0" tIns="0" rIns="0" bIns="0" rtlCol="0" anchor="t"/>
          <a:lstStyle/>
          <a:p>
            <a:pPr marL="0" indent="0">
              <a:buNone/>
            </a:pPr>
            <a:r>
              <a:rPr lang="en-US" sz="1200" dirty="0">
                <a:solidFill>
                  <a:schemeClr val="accent5"/>
                </a:solidFill>
              </a:rPr>
              <a:t>10 business questions</a:t>
            </a:r>
            <a:endParaRPr lang="en-US" sz="1200" dirty="0"/>
          </a:p>
        </p:txBody>
      </p:sp>
      <p:sp>
        <p:nvSpPr>
          <p:cNvPr id="38" name="pipeline-step"/>
          <p:cNvSpPr/>
          <p:nvPr/>
        </p:nvSpPr>
        <p:spPr>
          <a:xfrm>
            <a:off x="5084064" y="2560320"/>
            <a:ext cx="2011680" cy="960120"/>
          </a:xfrm>
          <a:prstGeom prst="roundRect">
            <a:avLst>
              <a:gd name="adj" fmla="val 1142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9" name="step-number-bg"/>
          <p:cNvSpPr/>
          <p:nvPr/>
        </p:nvSpPr>
        <p:spPr>
          <a:xfrm>
            <a:off x="5221224" y="2697480"/>
            <a:ext cx="310896" cy="310896"/>
          </a:xfrm>
          <a:prstGeom prst="ellipse">
            <a:avLst/>
          </a:prstGeom>
          <a:solidFill>
            <a:schemeClr val="accent3"/>
          </a:solidFill>
          <a:ln w="6350">
            <a:solidFill>
              <a:schemeClr val="bg1"/>
            </a:solidFill>
            <a:prstDash val="solid"/>
          </a:ln>
        </p:spPr>
      </p:sp>
      <p:sp>
        <p:nvSpPr>
          <p:cNvPr id="40" name="step-number"/>
          <p:cNvSpPr txBox="1"/>
          <p:nvPr/>
        </p:nvSpPr>
        <p:spPr>
          <a:xfrm>
            <a:off x="5221224" y="269748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8</a:t>
            </a:r>
            <a:endParaRPr lang="en-US" sz="1200" dirty="0"/>
          </a:p>
        </p:txBody>
      </p:sp>
      <p:sp>
        <p:nvSpPr>
          <p:cNvPr id="41" name="step-title"/>
          <p:cNvSpPr txBox="1"/>
          <p:nvPr/>
        </p:nvSpPr>
        <p:spPr>
          <a:xfrm>
            <a:off x="5632704" y="2670048"/>
            <a:ext cx="1371600" cy="365760"/>
          </a:xfrm>
          <a:prstGeom prst="rect">
            <a:avLst/>
          </a:prstGeom>
          <a:noFill/>
          <a:ln/>
        </p:spPr>
        <p:txBody>
          <a:bodyPr wrap="square" lIns="0" tIns="0" rIns="0" bIns="0" rtlCol="0" anchor="ctr"/>
          <a:lstStyle/>
          <a:p>
            <a:pPr marL="0" indent="0">
              <a:buNone/>
            </a:pPr>
            <a:r>
              <a:rPr lang="en-US" sz="1300" b="1" dirty="0">
                <a:solidFill>
                  <a:schemeClr val="tx1"/>
                </a:solidFill>
              </a:rPr>
              <a:t>Business KPIs</a:t>
            </a:r>
            <a:endParaRPr lang="en-US" sz="1300" dirty="0"/>
          </a:p>
        </p:txBody>
      </p:sp>
      <p:sp>
        <p:nvSpPr>
          <p:cNvPr id="42" name="step-sub"/>
          <p:cNvSpPr txBox="1"/>
          <p:nvPr/>
        </p:nvSpPr>
        <p:spPr>
          <a:xfrm>
            <a:off x="5221224" y="3127248"/>
            <a:ext cx="1737360" cy="274320"/>
          </a:xfrm>
          <a:prstGeom prst="rect">
            <a:avLst/>
          </a:prstGeom>
          <a:noFill/>
          <a:ln/>
        </p:spPr>
        <p:txBody>
          <a:bodyPr wrap="square" lIns="0" tIns="0" rIns="0" bIns="0" rtlCol="0" anchor="t"/>
          <a:lstStyle/>
          <a:p>
            <a:pPr marL="0" indent="0">
              <a:buNone/>
            </a:pPr>
            <a:r>
              <a:rPr lang="en-US" sz="1200" dirty="0">
                <a:solidFill>
                  <a:schemeClr val="accent5"/>
                </a:solidFill>
              </a:rPr>
              <a:t>Revenue, AOV, CLTV</a:t>
            </a:r>
            <a:endParaRPr lang="en-US" sz="1200" dirty="0"/>
          </a:p>
        </p:txBody>
      </p:sp>
      <p:sp>
        <p:nvSpPr>
          <p:cNvPr id="43" name="pipeline-step"/>
          <p:cNvSpPr/>
          <p:nvPr/>
        </p:nvSpPr>
        <p:spPr>
          <a:xfrm>
            <a:off x="2770632" y="2560320"/>
            <a:ext cx="2011680" cy="960120"/>
          </a:xfrm>
          <a:prstGeom prst="roundRect">
            <a:avLst>
              <a:gd name="adj" fmla="val 1142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44" name="step-number-bg"/>
          <p:cNvSpPr/>
          <p:nvPr/>
        </p:nvSpPr>
        <p:spPr>
          <a:xfrm>
            <a:off x="2907792" y="2697480"/>
            <a:ext cx="310896" cy="310896"/>
          </a:xfrm>
          <a:prstGeom prst="ellipse">
            <a:avLst/>
          </a:prstGeom>
          <a:solidFill>
            <a:schemeClr val="accent3"/>
          </a:solidFill>
          <a:ln w="6350">
            <a:solidFill>
              <a:schemeClr val="bg1"/>
            </a:solidFill>
            <a:prstDash val="solid"/>
          </a:ln>
        </p:spPr>
      </p:sp>
      <p:sp>
        <p:nvSpPr>
          <p:cNvPr id="45" name="step-number"/>
          <p:cNvSpPr txBox="1"/>
          <p:nvPr/>
        </p:nvSpPr>
        <p:spPr>
          <a:xfrm>
            <a:off x="2907792" y="269748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9</a:t>
            </a:r>
            <a:endParaRPr lang="en-US" sz="1200" dirty="0"/>
          </a:p>
        </p:txBody>
      </p:sp>
      <p:sp>
        <p:nvSpPr>
          <p:cNvPr id="46" name="step-title"/>
          <p:cNvSpPr txBox="1"/>
          <p:nvPr/>
        </p:nvSpPr>
        <p:spPr>
          <a:xfrm>
            <a:off x="3319272" y="2670048"/>
            <a:ext cx="1371600" cy="365760"/>
          </a:xfrm>
          <a:prstGeom prst="rect">
            <a:avLst/>
          </a:prstGeom>
          <a:noFill/>
          <a:ln/>
        </p:spPr>
        <p:txBody>
          <a:bodyPr wrap="square" lIns="0" tIns="0" rIns="0" bIns="0" rtlCol="0" anchor="ctr"/>
          <a:lstStyle/>
          <a:p>
            <a:pPr marL="0" indent="0">
              <a:buNone/>
            </a:pPr>
            <a:r>
              <a:rPr lang="en-US" sz="1300" b="1" dirty="0">
                <a:solidFill>
                  <a:schemeClr val="tx1"/>
                </a:solidFill>
              </a:rPr>
              <a:t>Insights</a:t>
            </a:r>
            <a:endParaRPr lang="en-US" sz="1300" dirty="0"/>
          </a:p>
        </p:txBody>
      </p:sp>
      <p:sp>
        <p:nvSpPr>
          <p:cNvPr id="47" name="step-sub"/>
          <p:cNvSpPr txBox="1"/>
          <p:nvPr/>
        </p:nvSpPr>
        <p:spPr>
          <a:xfrm>
            <a:off x="2907792" y="3127248"/>
            <a:ext cx="1737360" cy="274320"/>
          </a:xfrm>
          <a:prstGeom prst="rect">
            <a:avLst/>
          </a:prstGeom>
          <a:noFill/>
          <a:ln/>
        </p:spPr>
        <p:txBody>
          <a:bodyPr wrap="square" lIns="0" tIns="0" rIns="0" bIns="0" rtlCol="0" anchor="t"/>
          <a:lstStyle/>
          <a:p>
            <a:pPr marL="0" indent="0">
              <a:buNone/>
            </a:pPr>
            <a:r>
              <a:rPr lang="en-US" sz="1200" dirty="0">
                <a:solidFill>
                  <a:schemeClr val="accent5"/>
                </a:solidFill>
              </a:rPr>
              <a:t>What the numbers say</a:t>
            </a:r>
            <a:endParaRPr lang="en-US" sz="1200" dirty="0"/>
          </a:p>
        </p:txBody>
      </p:sp>
      <p:sp>
        <p:nvSpPr>
          <p:cNvPr id="48" name="pipeline-step"/>
          <p:cNvSpPr/>
          <p:nvPr/>
        </p:nvSpPr>
        <p:spPr>
          <a:xfrm>
            <a:off x="457200" y="2560320"/>
            <a:ext cx="2011680" cy="960120"/>
          </a:xfrm>
          <a:prstGeom prst="roundRect">
            <a:avLst>
              <a:gd name="adj" fmla="val 1142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49" name="step-number-bg"/>
          <p:cNvSpPr/>
          <p:nvPr/>
        </p:nvSpPr>
        <p:spPr>
          <a:xfrm>
            <a:off x="594360" y="2697480"/>
            <a:ext cx="310896" cy="310896"/>
          </a:xfrm>
          <a:prstGeom prst="ellipse">
            <a:avLst/>
          </a:prstGeom>
          <a:solidFill>
            <a:schemeClr val="accent3"/>
          </a:solidFill>
          <a:ln w="6350">
            <a:solidFill>
              <a:schemeClr val="bg1"/>
            </a:solidFill>
            <a:prstDash val="solid"/>
          </a:ln>
        </p:spPr>
      </p:sp>
      <p:sp>
        <p:nvSpPr>
          <p:cNvPr id="50" name="step-number"/>
          <p:cNvSpPr txBox="1"/>
          <p:nvPr/>
        </p:nvSpPr>
        <p:spPr>
          <a:xfrm>
            <a:off x="594360" y="269748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10</a:t>
            </a:r>
            <a:endParaRPr lang="en-US" sz="1200" dirty="0"/>
          </a:p>
        </p:txBody>
      </p:sp>
      <p:sp>
        <p:nvSpPr>
          <p:cNvPr id="51" name="step-title"/>
          <p:cNvSpPr txBox="1"/>
          <p:nvPr/>
        </p:nvSpPr>
        <p:spPr>
          <a:xfrm>
            <a:off x="1005840" y="2670048"/>
            <a:ext cx="1371600" cy="365760"/>
          </a:xfrm>
          <a:prstGeom prst="rect">
            <a:avLst/>
          </a:prstGeom>
          <a:noFill/>
          <a:ln/>
        </p:spPr>
        <p:txBody>
          <a:bodyPr wrap="square" lIns="0" tIns="0" rIns="0" bIns="0" rtlCol="0" anchor="ctr"/>
          <a:lstStyle/>
          <a:p>
            <a:pPr marL="0" indent="0">
              <a:buNone/>
            </a:pPr>
            <a:r>
              <a:rPr lang="en-US" sz="1300" b="1" dirty="0">
                <a:solidFill>
                  <a:schemeClr val="tx1"/>
                </a:solidFill>
              </a:rPr>
              <a:t>Recommendations</a:t>
            </a:r>
            <a:endParaRPr lang="en-US" sz="1300" dirty="0"/>
          </a:p>
        </p:txBody>
      </p:sp>
      <p:sp>
        <p:nvSpPr>
          <p:cNvPr id="52" name="step-sub"/>
          <p:cNvSpPr txBox="1"/>
          <p:nvPr/>
        </p:nvSpPr>
        <p:spPr>
          <a:xfrm>
            <a:off x="594360" y="3127248"/>
            <a:ext cx="1737360" cy="274320"/>
          </a:xfrm>
          <a:prstGeom prst="rect">
            <a:avLst/>
          </a:prstGeom>
          <a:noFill/>
          <a:ln/>
        </p:spPr>
        <p:txBody>
          <a:bodyPr wrap="square" lIns="0" tIns="0" rIns="0" bIns="0" rtlCol="0" anchor="t"/>
          <a:lstStyle/>
          <a:p>
            <a:pPr marL="0" indent="0">
              <a:buNone/>
            </a:pPr>
            <a:r>
              <a:rPr lang="en-US" sz="1200" dirty="0">
                <a:solidFill>
                  <a:schemeClr val="accent5"/>
                </a:solidFill>
              </a:rPr>
              <a:t>Management actions</a:t>
            </a:r>
            <a:endParaRPr lang="en-US" sz="1200" dirty="0"/>
          </a:p>
        </p:txBody>
      </p:sp>
      <p:sp>
        <p:nvSpPr>
          <p:cNvPr id="53" name="pipeline-arrow"/>
          <p:cNvSpPr/>
          <p:nvPr/>
        </p:nvSpPr>
        <p:spPr>
          <a:xfrm>
            <a:off x="2505456" y="1668780"/>
            <a:ext cx="228600" cy="0"/>
          </a:xfrm>
          <a:prstGeom prst="line">
            <a:avLst/>
          </a:prstGeom>
          <a:noFill/>
          <a:ln w="19050">
            <a:solidFill>
              <a:schemeClr val="accent5"/>
            </a:solidFill>
            <a:prstDash val="solid"/>
            <a:tailEnd type="triangle"/>
          </a:ln>
        </p:spPr>
      </p:sp>
      <p:sp>
        <p:nvSpPr>
          <p:cNvPr id="54" name="pipeline-arrow"/>
          <p:cNvSpPr/>
          <p:nvPr/>
        </p:nvSpPr>
        <p:spPr>
          <a:xfrm>
            <a:off x="4818888" y="1668780"/>
            <a:ext cx="228600" cy="0"/>
          </a:xfrm>
          <a:prstGeom prst="line">
            <a:avLst/>
          </a:prstGeom>
          <a:noFill/>
          <a:ln w="19050">
            <a:solidFill>
              <a:schemeClr val="accent5"/>
            </a:solidFill>
            <a:prstDash val="solid"/>
            <a:tailEnd type="triangle"/>
          </a:ln>
        </p:spPr>
      </p:sp>
      <p:sp>
        <p:nvSpPr>
          <p:cNvPr id="55" name="pipeline-arrow"/>
          <p:cNvSpPr/>
          <p:nvPr/>
        </p:nvSpPr>
        <p:spPr>
          <a:xfrm>
            <a:off x="7132320" y="1668780"/>
            <a:ext cx="228600" cy="0"/>
          </a:xfrm>
          <a:prstGeom prst="line">
            <a:avLst/>
          </a:prstGeom>
          <a:noFill/>
          <a:ln w="19050">
            <a:solidFill>
              <a:schemeClr val="accent5"/>
            </a:solidFill>
            <a:prstDash val="solid"/>
            <a:tailEnd type="triangle"/>
          </a:ln>
        </p:spPr>
      </p:sp>
      <p:sp>
        <p:nvSpPr>
          <p:cNvPr id="56" name="pipeline-arrow"/>
          <p:cNvSpPr/>
          <p:nvPr/>
        </p:nvSpPr>
        <p:spPr>
          <a:xfrm>
            <a:off x="9445752" y="1668780"/>
            <a:ext cx="228600" cy="0"/>
          </a:xfrm>
          <a:prstGeom prst="line">
            <a:avLst/>
          </a:prstGeom>
          <a:noFill/>
          <a:ln w="19050">
            <a:solidFill>
              <a:schemeClr val="accent5"/>
            </a:solidFill>
            <a:prstDash val="solid"/>
            <a:tailEnd type="triangle"/>
          </a:ln>
        </p:spPr>
      </p:sp>
      <p:sp>
        <p:nvSpPr>
          <p:cNvPr id="57" name="pipeline-arrow"/>
          <p:cNvSpPr/>
          <p:nvPr/>
        </p:nvSpPr>
        <p:spPr>
          <a:xfrm>
            <a:off x="10716768" y="2176272"/>
            <a:ext cx="0" cy="356616"/>
          </a:xfrm>
          <a:prstGeom prst="line">
            <a:avLst/>
          </a:prstGeom>
          <a:noFill/>
          <a:ln w="19050">
            <a:solidFill>
              <a:schemeClr val="accent5"/>
            </a:solidFill>
            <a:prstDash val="solid"/>
            <a:tailEnd type="triangle"/>
          </a:ln>
        </p:spPr>
      </p:sp>
      <p:sp>
        <p:nvSpPr>
          <p:cNvPr id="58" name="pipeline-arrow"/>
          <p:cNvSpPr/>
          <p:nvPr/>
        </p:nvSpPr>
        <p:spPr>
          <a:xfrm flipH="1">
            <a:off x="9445752" y="3040380"/>
            <a:ext cx="228600" cy="0"/>
          </a:xfrm>
          <a:prstGeom prst="line">
            <a:avLst/>
          </a:prstGeom>
          <a:noFill/>
          <a:ln w="19050">
            <a:solidFill>
              <a:schemeClr val="accent5"/>
            </a:solidFill>
            <a:prstDash val="solid"/>
            <a:tailEnd type="triangle"/>
          </a:ln>
        </p:spPr>
      </p:sp>
      <p:sp>
        <p:nvSpPr>
          <p:cNvPr id="59" name="pipeline-arrow"/>
          <p:cNvSpPr/>
          <p:nvPr/>
        </p:nvSpPr>
        <p:spPr>
          <a:xfrm flipH="1">
            <a:off x="7132320" y="3040380"/>
            <a:ext cx="228600" cy="0"/>
          </a:xfrm>
          <a:prstGeom prst="line">
            <a:avLst/>
          </a:prstGeom>
          <a:noFill/>
          <a:ln w="19050">
            <a:solidFill>
              <a:schemeClr val="accent5"/>
            </a:solidFill>
            <a:prstDash val="solid"/>
            <a:tailEnd type="triangle"/>
          </a:ln>
        </p:spPr>
      </p:sp>
      <p:sp>
        <p:nvSpPr>
          <p:cNvPr id="60" name="pipeline-arrow"/>
          <p:cNvSpPr/>
          <p:nvPr/>
        </p:nvSpPr>
        <p:spPr>
          <a:xfrm flipH="1">
            <a:off x="4818888" y="3040380"/>
            <a:ext cx="228600" cy="0"/>
          </a:xfrm>
          <a:prstGeom prst="line">
            <a:avLst/>
          </a:prstGeom>
          <a:noFill/>
          <a:ln w="19050">
            <a:solidFill>
              <a:schemeClr val="accent5"/>
            </a:solidFill>
            <a:prstDash val="solid"/>
            <a:tailEnd type="triangle"/>
          </a:ln>
        </p:spPr>
      </p:sp>
      <p:sp>
        <p:nvSpPr>
          <p:cNvPr id="61" name="pipeline-arrow"/>
          <p:cNvSpPr/>
          <p:nvPr/>
        </p:nvSpPr>
        <p:spPr>
          <a:xfrm flipH="1">
            <a:off x="2505456" y="3040380"/>
            <a:ext cx="228600" cy="0"/>
          </a:xfrm>
          <a:prstGeom prst="line">
            <a:avLst/>
          </a:prstGeom>
          <a:noFill/>
          <a:ln w="19050">
            <a:solidFill>
              <a:schemeClr val="accent5"/>
            </a:solidFill>
            <a:prstDash val="solid"/>
            <a:tailEnd type="triangle"/>
          </a:ln>
        </p:spPr>
      </p:sp>
      <p:sp>
        <p:nvSpPr>
          <p:cNvPr id="62" name="sql-heading"/>
          <p:cNvSpPr txBox="1"/>
          <p:nvPr/>
        </p:nvSpPr>
        <p:spPr>
          <a:xfrm>
            <a:off x="457200" y="3749040"/>
            <a:ext cx="5486400" cy="274320"/>
          </a:xfrm>
          <a:prstGeom prst="rect">
            <a:avLst/>
          </a:prstGeom>
          <a:noFill/>
          <a:ln/>
        </p:spPr>
        <p:txBody>
          <a:bodyPr wrap="square" lIns="0" tIns="0" rIns="0" bIns="0" rtlCol="0" anchor="t"/>
          <a:lstStyle/>
          <a:p>
            <a:pPr marL="0" indent="0">
              <a:buNone/>
            </a:pPr>
            <a:r>
              <a:rPr lang="en-US" sz="1500" b="1" dirty="0">
                <a:solidFill>
                  <a:schemeClr val="accent1"/>
                </a:solidFill>
              </a:rPr>
              <a:t>SQL techniques demonstrated</a:t>
            </a:r>
            <a:endParaRPr lang="en-US" sz="1500" dirty="0"/>
          </a:p>
        </p:txBody>
      </p:sp>
      <p:sp>
        <p:nvSpPr>
          <p:cNvPr id="63" name="tech-card"/>
          <p:cNvSpPr/>
          <p:nvPr/>
        </p:nvSpPr>
        <p:spPr>
          <a:xfrm>
            <a:off x="457200" y="4114800"/>
            <a:ext cx="2103120" cy="2103120"/>
          </a:xfrm>
          <a:prstGeom prst="roundRect">
            <a:avLst>
              <a:gd name="adj" fmla="val 5217"/>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64" name="tech-title"/>
          <p:cNvSpPr txBox="1"/>
          <p:nvPr/>
        </p:nvSpPr>
        <p:spPr>
          <a:xfrm>
            <a:off x="640080" y="4224528"/>
            <a:ext cx="1737360" cy="274320"/>
          </a:xfrm>
          <a:prstGeom prst="rect">
            <a:avLst/>
          </a:prstGeom>
          <a:noFill/>
          <a:ln/>
        </p:spPr>
        <p:txBody>
          <a:bodyPr wrap="square" lIns="0" tIns="0" rIns="0" bIns="0" rtlCol="0" anchor="t"/>
          <a:lstStyle/>
          <a:p>
            <a:pPr marL="0" indent="0">
              <a:buNone/>
            </a:pPr>
            <a:r>
              <a:rPr lang="en-US" sz="1400" b="1" dirty="0">
                <a:solidFill>
                  <a:schemeClr val="accent2"/>
                </a:solidFill>
              </a:rPr>
              <a:t>Basic SQL</a:t>
            </a:r>
            <a:endParaRPr lang="en-US" sz="1400" dirty="0"/>
          </a:p>
        </p:txBody>
      </p:sp>
      <p:sp>
        <p:nvSpPr>
          <p:cNvPr id="65" name="tech-list"/>
          <p:cNvSpPr txBox="1"/>
          <p:nvPr/>
        </p:nvSpPr>
        <p:spPr>
          <a:xfrm>
            <a:off x="640080" y="4572000"/>
            <a:ext cx="1783080" cy="13258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SELECT</a:t>
            </a:r>
            <a:endParaRPr lang="en-US" sz="1300" dirty="0"/>
          </a:p>
          <a:p>
            <a:pPr marL="342900" indent="-342900">
              <a:spcAft>
                <a:spcPts val="300"/>
              </a:spcAft>
              <a:buSzPct val="100000"/>
              <a:buChar char="•"/>
            </a:pPr>
            <a:r>
              <a:rPr lang="en-US" sz="1300" dirty="0">
                <a:solidFill>
                  <a:schemeClr val="tx1"/>
                </a:solidFill>
              </a:rPr>
              <a:t>WHERE</a:t>
            </a:r>
            <a:endParaRPr lang="en-US" sz="1300" dirty="0"/>
          </a:p>
          <a:p>
            <a:pPr marL="342900" indent="-342900">
              <a:spcAft>
                <a:spcPts val="300"/>
              </a:spcAft>
              <a:buSzPct val="100000"/>
              <a:buChar char="•"/>
            </a:pPr>
            <a:r>
              <a:rPr lang="en-US" sz="1300" dirty="0">
                <a:solidFill>
                  <a:schemeClr val="tx1"/>
                </a:solidFill>
              </a:rPr>
              <a:t>ORDER BY</a:t>
            </a:r>
            <a:endParaRPr lang="en-US" sz="1300" dirty="0"/>
          </a:p>
          <a:p>
            <a:pPr marL="342900" indent="-342900">
              <a:spcAft>
                <a:spcPts val="300"/>
              </a:spcAft>
              <a:buSzPct val="100000"/>
              <a:buChar char="•"/>
            </a:pPr>
            <a:r>
              <a:rPr lang="en-US" sz="1300" dirty="0">
                <a:solidFill>
                  <a:schemeClr val="tx1"/>
                </a:solidFill>
              </a:rPr>
              <a:t>LIMIT</a:t>
            </a:r>
            <a:endParaRPr lang="en-US" sz="1300" dirty="0"/>
          </a:p>
        </p:txBody>
      </p:sp>
      <p:sp>
        <p:nvSpPr>
          <p:cNvPr id="66" name="tech-card"/>
          <p:cNvSpPr/>
          <p:nvPr/>
        </p:nvSpPr>
        <p:spPr>
          <a:xfrm>
            <a:off x="2750058" y="4114800"/>
            <a:ext cx="2103120" cy="2103120"/>
          </a:xfrm>
          <a:prstGeom prst="roundRect">
            <a:avLst>
              <a:gd name="adj" fmla="val 5217"/>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67" name="tech-title"/>
          <p:cNvSpPr txBox="1"/>
          <p:nvPr/>
        </p:nvSpPr>
        <p:spPr>
          <a:xfrm>
            <a:off x="2932938" y="4224528"/>
            <a:ext cx="1737360" cy="274320"/>
          </a:xfrm>
          <a:prstGeom prst="rect">
            <a:avLst/>
          </a:prstGeom>
          <a:noFill/>
          <a:ln/>
        </p:spPr>
        <p:txBody>
          <a:bodyPr wrap="square" lIns="0" tIns="0" rIns="0" bIns="0" rtlCol="0" anchor="t"/>
          <a:lstStyle/>
          <a:p>
            <a:pPr marL="0" indent="0">
              <a:buNone/>
            </a:pPr>
            <a:r>
              <a:rPr lang="en-US" sz="1400" b="1" dirty="0">
                <a:solidFill>
                  <a:schemeClr val="accent2"/>
                </a:solidFill>
              </a:rPr>
              <a:t>Aggregation</a:t>
            </a:r>
            <a:endParaRPr lang="en-US" sz="1400" dirty="0"/>
          </a:p>
        </p:txBody>
      </p:sp>
      <p:sp>
        <p:nvSpPr>
          <p:cNvPr id="68" name="tech-list"/>
          <p:cNvSpPr txBox="1"/>
          <p:nvPr/>
        </p:nvSpPr>
        <p:spPr>
          <a:xfrm>
            <a:off x="2932938" y="4572000"/>
            <a:ext cx="1783080" cy="13258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SUM()</a:t>
            </a:r>
            <a:endParaRPr lang="en-US" sz="1300" dirty="0"/>
          </a:p>
          <a:p>
            <a:pPr marL="342900" indent="-342900">
              <a:spcAft>
                <a:spcPts val="300"/>
              </a:spcAft>
              <a:buSzPct val="100000"/>
              <a:buChar char="•"/>
            </a:pPr>
            <a:r>
              <a:rPr lang="en-US" sz="1300" dirty="0">
                <a:solidFill>
                  <a:schemeClr val="tx1"/>
                </a:solidFill>
              </a:rPr>
              <a:t>COUNT()</a:t>
            </a:r>
            <a:endParaRPr lang="en-US" sz="1300" dirty="0"/>
          </a:p>
          <a:p>
            <a:pPr marL="342900" indent="-342900">
              <a:spcAft>
                <a:spcPts val="300"/>
              </a:spcAft>
              <a:buSzPct val="100000"/>
              <a:buChar char="•"/>
            </a:pPr>
            <a:r>
              <a:rPr lang="en-US" sz="1300" dirty="0">
                <a:solidFill>
                  <a:schemeClr val="tx1"/>
                </a:solidFill>
              </a:rPr>
              <a:t>AVG()</a:t>
            </a:r>
            <a:endParaRPr lang="en-US" sz="1300" dirty="0"/>
          </a:p>
          <a:p>
            <a:pPr marL="342900" indent="-342900">
              <a:spcAft>
                <a:spcPts val="300"/>
              </a:spcAft>
              <a:buSzPct val="100000"/>
              <a:buChar char="•"/>
            </a:pPr>
            <a:r>
              <a:rPr lang="en-US" sz="1300" dirty="0">
                <a:solidFill>
                  <a:schemeClr val="tx1"/>
                </a:solidFill>
              </a:rPr>
              <a:t>GROUP BY</a:t>
            </a:r>
            <a:endParaRPr lang="en-US" sz="1300" dirty="0"/>
          </a:p>
          <a:p>
            <a:pPr marL="342900" indent="-342900">
              <a:spcAft>
                <a:spcPts val="300"/>
              </a:spcAft>
              <a:buSzPct val="100000"/>
              <a:buChar char="•"/>
            </a:pPr>
            <a:r>
              <a:rPr lang="en-US" sz="1300" dirty="0">
                <a:solidFill>
                  <a:schemeClr val="tx1"/>
                </a:solidFill>
              </a:rPr>
              <a:t>HAVING</a:t>
            </a:r>
            <a:endParaRPr lang="en-US" sz="1300" dirty="0"/>
          </a:p>
        </p:txBody>
      </p:sp>
      <p:sp>
        <p:nvSpPr>
          <p:cNvPr id="69" name="tech-card"/>
          <p:cNvSpPr/>
          <p:nvPr/>
        </p:nvSpPr>
        <p:spPr>
          <a:xfrm>
            <a:off x="5042916" y="4114800"/>
            <a:ext cx="2103120" cy="2103120"/>
          </a:xfrm>
          <a:prstGeom prst="roundRect">
            <a:avLst>
              <a:gd name="adj" fmla="val 5217"/>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70" name="tech-title"/>
          <p:cNvSpPr txBox="1"/>
          <p:nvPr/>
        </p:nvSpPr>
        <p:spPr>
          <a:xfrm>
            <a:off x="5225796" y="4224528"/>
            <a:ext cx="1737360" cy="274320"/>
          </a:xfrm>
          <a:prstGeom prst="rect">
            <a:avLst/>
          </a:prstGeom>
          <a:noFill/>
          <a:ln/>
        </p:spPr>
        <p:txBody>
          <a:bodyPr wrap="square" lIns="0" tIns="0" rIns="0" bIns="0" rtlCol="0" anchor="t"/>
          <a:lstStyle/>
          <a:p>
            <a:pPr marL="0" indent="0">
              <a:buNone/>
            </a:pPr>
            <a:r>
              <a:rPr lang="en-US" sz="1400" b="1" dirty="0">
                <a:solidFill>
                  <a:schemeClr val="accent2"/>
                </a:solidFill>
              </a:rPr>
              <a:t>Joins</a:t>
            </a:r>
            <a:endParaRPr lang="en-US" sz="1400" dirty="0"/>
          </a:p>
        </p:txBody>
      </p:sp>
      <p:sp>
        <p:nvSpPr>
          <p:cNvPr id="71" name="tech-list"/>
          <p:cNvSpPr txBox="1"/>
          <p:nvPr/>
        </p:nvSpPr>
        <p:spPr>
          <a:xfrm>
            <a:off x="5225796" y="4572000"/>
            <a:ext cx="1783080" cy="13258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INNER JOIN</a:t>
            </a:r>
            <a:endParaRPr lang="en-US" sz="1300" dirty="0"/>
          </a:p>
          <a:p>
            <a:pPr marL="342900" indent="-342900">
              <a:spcAft>
                <a:spcPts val="300"/>
              </a:spcAft>
              <a:buSzPct val="100000"/>
              <a:buChar char="•"/>
            </a:pPr>
            <a:r>
              <a:rPr lang="en-US" sz="1300" dirty="0">
                <a:solidFill>
                  <a:schemeClr val="tx1"/>
                </a:solidFill>
              </a:rPr>
              <a:t>LEFT JOIN</a:t>
            </a:r>
            <a:endParaRPr lang="en-US" sz="1300" dirty="0"/>
          </a:p>
        </p:txBody>
      </p:sp>
      <p:sp>
        <p:nvSpPr>
          <p:cNvPr id="72" name="tech-card"/>
          <p:cNvSpPr/>
          <p:nvPr/>
        </p:nvSpPr>
        <p:spPr>
          <a:xfrm>
            <a:off x="7335774" y="4114800"/>
            <a:ext cx="2103120" cy="2103120"/>
          </a:xfrm>
          <a:prstGeom prst="roundRect">
            <a:avLst>
              <a:gd name="adj" fmla="val 5217"/>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73" name="tech-title"/>
          <p:cNvSpPr txBox="1"/>
          <p:nvPr/>
        </p:nvSpPr>
        <p:spPr>
          <a:xfrm>
            <a:off x="7518654" y="4224528"/>
            <a:ext cx="1737360" cy="274320"/>
          </a:xfrm>
          <a:prstGeom prst="rect">
            <a:avLst/>
          </a:prstGeom>
          <a:noFill/>
          <a:ln/>
        </p:spPr>
        <p:txBody>
          <a:bodyPr wrap="square" lIns="0" tIns="0" rIns="0" bIns="0" rtlCol="0" anchor="t"/>
          <a:lstStyle/>
          <a:p>
            <a:pPr marL="0" indent="0">
              <a:buNone/>
            </a:pPr>
            <a:r>
              <a:rPr lang="en-US" sz="1400" b="1" dirty="0">
                <a:solidFill>
                  <a:schemeClr val="accent2"/>
                </a:solidFill>
              </a:rPr>
              <a:t>Advanced SQL</a:t>
            </a:r>
            <a:endParaRPr lang="en-US" sz="1400" dirty="0"/>
          </a:p>
        </p:txBody>
      </p:sp>
      <p:sp>
        <p:nvSpPr>
          <p:cNvPr id="74" name="tech-list"/>
          <p:cNvSpPr txBox="1"/>
          <p:nvPr/>
        </p:nvSpPr>
        <p:spPr>
          <a:xfrm>
            <a:off x="7518654" y="4572000"/>
            <a:ext cx="1783080" cy="13258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CTEs</a:t>
            </a:r>
            <a:endParaRPr lang="en-US" sz="1300" dirty="0"/>
          </a:p>
          <a:p>
            <a:pPr marL="342900" indent="-342900">
              <a:spcAft>
                <a:spcPts val="300"/>
              </a:spcAft>
              <a:buSzPct val="100000"/>
              <a:buChar char="•"/>
            </a:pPr>
            <a:r>
              <a:rPr lang="en-US" sz="1300" dirty="0">
                <a:solidFill>
                  <a:schemeClr val="tx1"/>
                </a:solidFill>
              </a:rPr>
              <a:t>CASE</a:t>
            </a:r>
            <a:endParaRPr lang="en-US" sz="1300" dirty="0"/>
          </a:p>
          <a:p>
            <a:pPr marL="342900" indent="-342900">
              <a:spcAft>
                <a:spcPts val="300"/>
              </a:spcAft>
              <a:buSzPct val="100000"/>
              <a:buChar char="•"/>
            </a:pPr>
            <a:r>
              <a:rPr lang="en-US" sz="1300" dirty="0">
                <a:solidFill>
                  <a:schemeClr val="tx1"/>
                </a:solidFill>
              </a:rPr>
              <a:t>Window: LAG()</a:t>
            </a:r>
            <a:endParaRPr lang="en-US" sz="1300" dirty="0"/>
          </a:p>
          <a:p>
            <a:pPr marL="342900" indent="-342900">
              <a:spcAft>
                <a:spcPts val="300"/>
              </a:spcAft>
              <a:buSzPct val="100000"/>
              <a:buChar char="•"/>
            </a:pPr>
            <a:r>
              <a:rPr lang="en-US" sz="1300" dirty="0">
                <a:solidFill>
                  <a:schemeClr val="tx1"/>
                </a:solidFill>
              </a:rPr>
              <a:t>Window: RANK()</a:t>
            </a:r>
            <a:endParaRPr lang="en-US" sz="1300" dirty="0"/>
          </a:p>
        </p:txBody>
      </p:sp>
      <p:sp>
        <p:nvSpPr>
          <p:cNvPr id="75" name="tech-card"/>
          <p:cNvSpPr/>
          <p:nvPr/>
        </p:nvSpPr>
        <p:spPr>
          <a:xfrm>
            <a:off x="9628632" y="4114800"/>
            <a:ext cx="2103120" cy="2103120"/>
          </a:xfrm>
          <a:prstGeom prst="roundRect">
            <a:avLst>
              <a:gd name="adj" fmla="val 5217"/>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76" name="tech-title"/>
          <p:cNvSpPr txBox="1"/>
          <p:nvPr/>
        </p:nvSpPr>
        <p:spPr>
          <a:xfrm>
            <a:off x="9811512" y="4224528"/>
            <a:ext cx="1737360" cy="274320"/>
          </a:xfrm>
          <a:prstGeom prst="rect">
            <a:avLst/>
          </a:prstGeom>
          <a:noFill/>
          <a:ln/>
        </p:spPr>
        <p:txBody>
          <a:bodyPr wrap="square" lIns="0" tIns="0" rIns="0" bIns="0" rtlCol="0" anchor="t"/>
          <a:lstStyle/>
          <a:p>
            <a:pPr marL="0" indent="0">
              <a:buNone/>
            </a:pPr>
            <a:r>
              <a:rPr lang="en-US" sz="1400" b="1" dirty="0">
                <a:solidFill>
                  <a:schemeClr val="accent2"/>
                </a:solidFill>
              </a:rPr>
              <a:t>Data cleaning</a:t>
            </a:r>
            <a:endParaRPr lang="en-US" sz="1400" dirty="0"/>
          </a:p>
        </p:txBody>
      </p:sp>
      <p:sp>
        <p:nvSpPr>
          <p:cNvPr id="77" name="tech-list"/>
          <p:cNvSpPr txBox="1"/>
          <p:nvPr/>
        </p:nvSpPr>
        <p:spPr>
          <a:xfrm>
            <a:off x="9811512" y="4572000"/>
            <a:ext cx="1783080" cy="13258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TRIM()</a:t>
            </a:r>
            <a:endParaRPr lang="en-US" sz="1300" dirty="0"/>
          </a:p>
          <a:p>
            <a:pPr marL="342900" indent="-342900">
              <a:spcAft>
                <a:spcPts val="300"/>
              </a:spcAft>
              <a:buSzPct val="100000"/>
              <a:buChar char="•"/>
            </a:pPr>
            <a:r>
              <a:rPr lang="en-US" sz="1300" dirty="0">
                <a:solidFill>
                  <a:schemeClr val="tx1"/>
                </a:solidFill>
              </a:rPr>
              <a:t>NULL handling</a:t>
            </a:r>
            <a:endParaRPr lang="en-US" sz="1300" dirty="0"/>
          </a:p>
          <a:p>
            <a:pPr marL="342900" indent="-342900">
              <a:spcAft>
                <a:spcPts val="300"/>
              </a:spcAft>
              <a:buSzPct val="100000"/>
              <a:buChar char="•"/>
            </a:pPr>
            <a:r>
              <a:rPr lang="en-US" sz="1300" dirty="0">
                <a:solidFill>
                  <a:schemeClr val="tx1"/>
                </a:solidFill>
              </a:rPr>
              <a:t>Datatype conversion</a:t>
            </a:r>
            <a:endParaRPr lang="en-US" sz="1300" dirty="0"/>
          </a:p>
          <a:p>
            <a:pPr marL="342900" indent="-342900">
              <a:spcAft>
                <a:spcPts val="300"/>
              </a:spcAft>
              <a:buSzPct val="100000"/>
              <a:buChar char="•"/>
            </a:pPr>
            <a:r>
              <a:rPr lang="en-US" sz="1300" dirty="0">
                <a:solidFill>
                  <a:schemeClr val="tx1"/>
                </a:solidFill>
              </a:rPr>
              <a:t>Date functions</a:t>
            </a:r>
            <a:endParaRPr lang="en-US" sz="1300" dirty="0"/>
          </a:p>
        </p:txBody>
      </p:sp>
      <p:sp>
        <p:nvSpPr>
          <p:cNvPr id="78"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Database Architecture &amp; Entity Relationship Diagram</a:t>
            </a:r>
            <a:endParaRPr lang="en-US" sz="2800" dirty="0"/>
          </a:p>
        </p:txBody>
      </p:sp>
      <p:sp>
        <p:nvSpPr>
          <p:cNvPr id="3" name="erd-category-body"/>
          <p:cNvSpPr/>
          <p:nvPr/>
        </p:nvSpPr>
        <p:spPr>
          <a:xfrm>
            <a:off x="457200" y="1234440"/>
            <a:ext cx="2377440" cy="658368"/>
          </a:xfrm>
          <a:prstGeom prst="rect">
            <a:avLst/>
          </a:prstGeom>
          <a:solidFill>
            <a:schemeClr val="bg1"/>
          </a:solidFill>
          <a:ln w="12700">
            <a:solidFill>
              <a:schemeClr val="accent6"/>
            </a:solidFill>
            <a:prstDash val="solid"/>
          </a:ln>
        </p:spPr>
      </p:sp>
      <p:sp>
        <p:nvSpPr>
          <p:cNvPr id="4" name="erd-category-header"/>
          <p:cNvSpPr/>
          <p:nvPr/>
        </p:nvSpPr>
        <p:spPr>
          <a:xfrm>
            <a:off x="457200" y="1234440"/>
            <a:ext cx="2377440" cy="256032"/>
          </a:xfrm>
          <a:prstGeom prst="rect">
            <a:avLst/>
          </a:prstGeom>
          <a:solidFill>
            <a:srgbClr val="2F5FD0"/>
          </a:solidFill>
          <a:ln w="12700">
            <a:solidFill>
              <a:srgbClr val="2F5FD0"/>
            </a:solidFill>
            <a:prstDash val="solid"/>
          </a:ln>
        </p:spPr>
      </p:sp>
      <p:sp>
        <p:nvSpPr>
          <p:cNvPr id="5" name="erd-category-title"/>
          <p:cNvSpPr txBox="1"/>
          <p:nvPr/>
        </p:nvSpPr>
        <p:spPr>
          <a:xfrm>
            <a:off x="548640" y="1234440"/>
            <a:ext cx="2194560" cy="256032"/>
          </a:xfrm>
          <a:prstGeom prst="rect">
            <a:avLst/>
          </a:prstGeom>
          <a:noFill/>
          <a:ln/>
        </p:spPr>
        <p:txBody>
          <a:bodyPr wrap="square" lIns="0" tIns="0" rIns="0" bIns="0" rtlCol="0" anchor="ctr"/>
          <a:lstStyle/>
          <a:p>
            <a:pPr marL="0" indent="0">
              <a:buNone/>
            </a:pPr>
            <a:r>
              <a:rPr lang="en-US" sz="1200" b="1" dirty="0">
                <a:solidFill>
                  <a:schemeClr val="bg1"/>
                </a:solidFill>
              </a:rPr>
              <a:t>category</a:t>
            </a:r>
            <a:endParaRPr lang="en-US" sz="1200" dirty="0"/>
          </a:p>
        </p:txBody>
      </p:sp>
      <p:sp>
        <p:nvSpPr>
          <p:cNvPr id="6" name="erd-key"/>
          <p:cNvSpPr txBox="1"/>
          <p:nvPr/>
        </p:nvSpPr>
        <p:spPr>
          <a:xfrm>
            <a:off x="530352" y="1490472"/>
            <a:ext cx="475488" cy="201168"/>
          </a:xfrm>
          <a:prstGeom prst="rect">
            <a:avLst/>
          </a:prstGeom>
          <a:noFill/>
          <a:ln/>
        </p:spPr>
        <p:txBody>
          <a:bodyPr wrap="square" lIns="0" tIns="0" rIns="0" bIns="0" rtlCol="0" anchor="ctr"/>
          <a:lstStyle/>
          <a:p>
            <a:pPr marL="0" indent="0">
              <a:buNone/>
            </a:pPr>
            <a:r>
              <a:rPr lang="en-US" sz="1000" b="1" dirty="0">
                <a:solidFill>
                  <a:schemeClr val="accent1"/>
                </a:solidFill>
              </a:rPr>
              <a:t>PK</a:t>
            </a:r>
            <a:endParaRPr lang="en-US" sz="1000" dirty="0"/>
          </a:p>
        </p:txBody>
      </p:sp>
      <p:sp>
        <p:nvSpPr>
          <p:cNvPr id="7" name="erd-column"/>
          <p:cNvSpPr txBox="1"/>
          <p:nvPr/>
        </p:nvSpPr>
        <p:spPr>
          <a:xfrm>
            <a:off x="1024128" y="1490472"/>
            <a:ext cx="1737360" cy="201168"/>
          </a:xfrm>
          <a:prstGeom prst="rect">
            <a:avLst/>
          </a:prstGeom>
          <a:noFill/>
          <a:ln/>
        </p:spPr>
        <p:txBody>
          <a:bodyPr wrap="square" lIns="0" tIns="0" rIns="0" bIns="0" rtlCol="0" anchor="ctr"/>
          <a:lstStyle/>
          <a:p>
            <a:pPr marL="0" indent="0">
              <a:buNone/>
            </a:pPr>
            <a:r>
              <a:rPr lang="en-US" sz="1100" b="1" dirty="0">
                <a:solidFill>
                  <a:schemeClr val="tx1"/>
                </a:solidFill>
              </a:rPr>
              <a:t>category_id</a:t>
            </a:r>
            <a:endParaRPr lang="en-US" sz="1100" dirty="0"/>
          </a:p>
        </p:txBody>
      </p:sp>
      <p:sp>
        <p:nvSpPr>
          <p:cNvPr id="8" name="erd-column"/>
          <p:cNvSpPr txBox="1"/>
          <p:nvPr/>
        </p:nvSpPr>
        <p:spPr>
          <a:xfrm>
            <a:off x="1024128" y="1691640"/>
            <a:ext cx="1737360" cy="201168"/>
          </a:xfrm>
          <a:prstGeom prst="rect">
            <a:avLst/>
          </a:prstGeom>
          <a:noFill/>
          <a:ln/>
        </p:spPr>
        <p:txBody>
          <a:bodyPr wrap="square" lIns="0" tIns="0" rIns="0" bIns="0" rtlCol="0" anchor="ctr"/>
          <a:lstStyle/>
          <a:p>
            <a:pPr marL="0" indent="0">
              <a:buNone/>
            </a:pPr>
            <a:r>
              <a:rPr lang="en-US" sz="1100" dirty="0">
                <a:solidFill>
                  <a:schemeClr val="tx1"/>
                </a:solidFill>
              </a:rPr>
              <a:t>category_name</a:t>
            </a:r>
            <a:endParaRPr lang="en-US" sz="1100" dirty="0"/>
          </a:p>
        </p:txBody>
      </p:sp>
      <p:sp>
        <p:nvSpPr>
          <p:cNvPr id="9" name="erd-products-body"/>
          <p:cNvSpPr/>
          <p:nvPr/>
        </p:nvSpPr>
        <p:spPr>
          <a:xfrm>
            <a:off x="457200" y="2423160"/>
            <a:ext cx="2377440" cy="1261872"/>
          </a:xfrm>
          <a:prstGeom prst="rect">
            <a:avLst/>
          </a:prstGeom>
          <a:solidFill>
            <a:schemeClr val="bg1"/>
          </a:solidFill>
          <a:ln w="12700">
            <a:solidFill>
              <a:schemeClr val="accent6"/>
            </a:solidFill>
            <a:prstDash val="solid"/>
          </a:ln>
        </p:spPr>
      </p:sp>
      <p:sp>
        <p:nvSpPr>
          <p:cNvPr id="10" name="erd-products-header"/>
          <p:cNvSpPr/>
          <p:nvPr/>
        </p:nvSpPr>
        <p:spPr>
          <a:xfrm>
            <a:off x="457200" y="2423160"/>
            <a:ext cx="2377440" cy="256032"/>
          </a:xfrm>
          <a:prstGeom prst="rect">
            <a:avLst/>
          </a:prstGeom>
          <a:solidFill>
            <a:srgbClr val="0B7A75"/>
          </a:solidFill>
          <a:ln w="12700">
            <a:solidFill>
              <a:srgbClr val="0B7A75"/>
            </a:solidFill>
            <a:prstDash val="solid"/>
          </a:ln>
        </p:spPr>
      </p:sp>
      <p:sp>
        <p:nvSpPr>
          <p:cNvPr id="11" name="erd-products-title"/>
          <p:cNvSpPr txBox="1"/>
          <p:nvPr/>
        </p:nvSpPr>
        <p:spPr>
          <a:xfrm>
            <a:off x="548640" y="2423160"/>
            <a:ext cx="2194560" cy="256032"/>
          </a:xfrm>
          <a:prstGeom prst="rect">
            <a:avLst/>
          </a:prstGeom>
          <a:noFill/>
          <a:ln/>
        </p:spPr>
        <p:txBody>
          <a:bodyPr wrap="square" lIns="0" tIns="0" rIns="0" bIns="0" rtlCol="0" anchor="ctr"/>
          <a:lstStyle/>
          <a:p>
            <a:pPr marL="0" indent="0">
              <a:buNone/>
            </a:pPr>
            <a:r>
              <a:rPr lang="en-US" sz="1200" b="1" dirty="0">
                <a:solidFill>
                  <a:schemeClr val="bg1"/>
                </a:solidFill>
              </a:rPr>
              <a:t>products</a:t>
            </a:r>
            <a:endParaRPr lang="en-US" sz="1200" dirty="0"/>
          </a:p>
        </p:txBody>
      </p:sp>
      <p:sp>
        <p:nvSpPr>
          <p:cNvPr id="12" name="erd-key"/>
          <p:cNvSpPr txBox="1"/>
          <p:nvPr/>
        </p:nvSpPr>
        <p:spPr>
          <a:xfrm>
            <a:off x="530352" y="2679192"/>
            <a:ext cx="475488" cy="201168"/>
          </a:xfrm>
          <a:prstGeom prst="rect">
            <a:avLst/>
          </a:prstGeom>
          <a:noFill/>
          <a:ln/>
        </p:spPr>
        <p:txBody>
          <a:bodyPr wrap="square" lIns="0" tIns="0" rIns="0" bIns="0" rtlCol="0" anchor="ctr"/>
          <a:lstStyle/>
          <a:p>
            <a:pPr marL="0" indent="0">
              <a:buNone/>
            </a:pPr>
            <a:r>
              <a:rPr lang="en-US" sz="1000" b="1" dirty="0">
                <a:solidFill>
                  <a:schemeClr val="accent1"/>
                </a:solidFill>
              </a:rPr>
              <a:t>PK</a:t>
            </a:r>
            <a:endParaRPr lang="en-US" sz="1000" dirty="0"/>
          </a:p>
        </p:txBody>
      </p:sp>
      <p:sp>
        <p:nvSpPr>
          <p:cNvPr id="13" name="erd-column"/>
          <p:cNvSpPr txBox="1"/>
          <p:nvPr/>
        </p:nvSpPr>
        <p:spPr>
          <a:xfrm>
            <a:off x="1024128" y="2679192"/>
            <a:ext cx="1737360" cy="201168"/>
          </a:xfrm>
          <a:prstGeom prst="rect">
            <a:avLst/>
          </a:prstGeom>
          <a:noFill/>
          <a:ln/>
        </p:spPr>
        <p:txBody>
          <a:bodyPr wrap="square" lIns="0" tIns="0" rIns="0" bIns="0" rtlCol="0" anchor="ctr"/>
          <a:lstStyle/>
          <a:p>
            <a:pPr marL="0" indent="0">
              <a:buNone/>
            </a:pPr>
            <a:r>
              <a:rPr lang="en-US" sz="1100" b="1" dirty="0">
                <a:solidFill>
                  <a:schemeClr val="tx1"/>
                </a:solidFill>
              </a:rPr>
              <a:t>product_id</a:t>
            </a:r>
            <a:endParaRPr lang="en-US" sz="1100" dirty="0"/>
          </a:p>
        </p:txBody>
      </p:sp>
      <p:sp>
        <p:nvSpPr>
          <p:cNvPr id="14" name="erd-column"/>
          <p:cNvSpPr txBox="1"/>
          <p:nvPr/>
        </p:nvSpPr>
        <p:spPr>
          <a:xfrm>
            <a:off x="1024128" y="2880360"/>
            <a:ext cx="1737360" cy="201168"/>
          </a:xfrm>
          <a:prstGeom prst="rect">
            <a:avLst/>
          </a:prstGeom>
          <a:noFill/>
          <a:ln/>
        </p:spPr>
        <p:txBody>
          <a:bodyPr wrap="square" lIns="0" tIns="0" rIns="0" bIns="0" rtlCol="0" anchor="ctr"/>
          <a:lstStyle/>
          <a:p>
            <a:pPr marL="0" indent="0">
              <a:buNone/>
            </a:pPr>
            <a:r>
              <a:rPr lang="en-US" sz="1100" dirty="0">
                <a:solidFill>
                  <a:schemeClr val="tx1"/>
                </a:solidFill>
              </a:rPr>
              <a:t>product_name</a:t>
            </a:r>
            <a:endParaRPr lang="en-US" sz="1100" dirty="0"/>
          </a:p>
        </p:txBody>
      </p:sp>
      <p:sp>
        <p:nvSpPr>
          <p:cNvPr id="15" name="erd-column"/>
          <p:cNvSpPr txBox="1"/>
          <p:nvPr/>
        </p:nvSpPr>
        <p:spPr>
          <a:xfrm>
            <a:off x="1024128" y="3081528"/>
            <a:ext cx="1737360" cy="201168"/>
          </a:xfrm>
          <a:prstGeom prst="rect">
            <a:avLst/>
          </a:prstGeom>
          <a:noFill/>
          <a:ln/>
        </p:spPr>
        <p:txBody>
          <a:bodyPr wrap="square" lIns="0" tIns="0" rIns="0" bIns="0" rtlCol="0" anchor="ctr"/>
          <a:lstStyle/>
          <a:p>
            <a:pPr marL="0" indent="0">
              <a:buNone/>
            </a:pPr>
            <a:r>
              <a:rPr lang="en-US" sz="1100" dirty="0">
                <a:solidFill>
                  <a:schemeClr val="tx1"/>
                </a:solidFill>
              </a:rPr>
              <a:t>price</a:t>
            </a:r>
            <a:endParaRPr lang="en-US" sz="1100" dirty="0"/>
          </a:p>
        </p:txBody>
      </p:sp>
      <p:sp>
        <p:nvSpPr>
          <p:cNvPr id="16" name="erd-column"/>
          <p:cNvSpPr txBox="1"/>
          <p:nvPr/>
        </p:nvSpPr>
        <p:spPr>
          <a:xfrm>
            <a:off x="1024128" y="3282696"/>
            <a:ext cx="1737360" cy="201168"/>
          </a:xfrm>
          <a:prstGeom prst="rect">
            <a:avLst/>
          </a:prstGeom>
          <a:noFill/>
          <a:ln/>
        </p:spPr>
        <p:txBody>
          <a:bodyPr wrap="square" lIns="0" tIns="0" rIns="0" bIns="0" rtlCol="0" anchor="ctr"/>
          <a:lstStyle/>
          <a:p>
            <a:pPr marL="0" indent="0">
              <a:buNone/>
            </a:pPr>
            <a:r>
              <a:rPr lang="en-US" sz="1100" dirty="0">
                <a:solidFill>
                  <a:schemeClr val="tx1"/>
                </a:solidFill>
              </a:rPr>
              <a:t>cogs</a:t>
            </a:r>
            <a:endParaRPr lang="en-US" sz="1100" dirty="0"/>
          </a:p>
        </p:txBody>
      </p:sp>
      <p:sp>
        <p:nvSpPr>
          <p:cNvPr id="17" name="erd-key"/>
          <p:cNvSpPr txBox="1"/>
          <p:nvPr/>
        </p:nvSpPr>
        <p:spPr>
          <a:xfrm>
            <a:off x="530352" y="3483864"/>
            <a:ext cx="475488" cy="201168"/>
          </a:xfrm>
          <a:prstGeom prst="rect">
            <a:avLst/>
          </a:prstGeom>
          <a:noFill/>
          <a:ln/>
        </p:spPr>
        <p:txBody>
          <a:bodyPr wrap="square" lIns="0" tIns="0" rIns="0" bIns="0" rtlCol="0" anchor="ctr"/>
          <a:lstStyle/>
          <a:p>
            <a:pPr marL="0" indent="0">
              <a:buNone/>
            </a:pPr>
            <a:r>
              <a:rPr lang="en-US" sz="1000" b="1" dirty="0">
                <a:solidFill>
                  <a:schemeClr val="accent2"/>
                </a:solidFill>
              </a:rPr>
              <a:t>FK</a:t>
            </a:r>
            <a:endParaRPr lang="en-US" sz="1000" dirty="0"/>
          </a:p>
        </p:txBody>
      </p:sp>
      <p:sp>
        <p:nvSpPr>
          <p:cNvPr id="18" name="erd-column"/>
          <p:cNvSpPr txBox="1"/>
          <p:nvPr/>
        </p:nvSpPr>
        <p:spPr>
          <a:xfrm>
            <a:off x="1024128" y="3483864"/>
            <a:ext cx="1737360" cy="201168"/>
          </a:xfrm>
          <a:prstGeom prst="rect">
            <a:avLst/>
          </a:prstGeom>
          <a:noFill/>
          <a:ln/>
        </p:spPr>
        <p:txBody>
          <a:bodyPr wrap="square" lIns="0" tIns="0" rIns="0" bIns="0" rtlCol="0" anchor="ctr"/>
          <a:lstStyle/>
          <a:p>
            <a:pPr marL="0" indent="0">
              <a:buNone/>
            </a:pPr>
            <a:r>
              <a:rPr lang="en-US" sz="1100" dirty="0">
                <a:solidFill>
                  <a:schemeClr val="tx1"/>
                </a:solidFill>
              </a:rPr>
              <a:t>category_id</a:t>
            </a:r>
            <a:endParaRPr lang="en-US" sz="1100" dirty="0"/>
          </a:p>
        </p:txBody>
      </p:sp>
      <p:sp>
        <p:nvSpPr>
          <p:cNvPr id="19" name="erd-inventory-body"/>
          <p:cNvSpPr/>
          <p:nvPr/>
        </p:nvSpPr>
        <p:spPr>
          <a:xfrm>
            <a:off x="457200" y="4160520"/>
            <a:ext cx="2377440" cy="1261872"/>
          </a:xfrm>
          <a:prstGeom prst="rect">
            <a:avLst/>
          </a:prstGeom>
          <a:solidFill>
            <a:schemeClr val="bg1"/>
          </a:solidFill>
          <a:ln w="12700">
            <a:solidFill>
              <a:schemeClr val="accent6"/>
            </a:solidFill>
            <a:prstDash val="solid"/>
          </a:ln>
        </p:spPr>
      </p:sp>
      <p:sp>
        <p:nvSpPr>
          <p:cNvPr id="20" name="erd-inventory-header"/>
          <p:cNvSpPr/>
          <p:nvPr/>
        </p:nvSpPr>
        <p:spPr>
          <a:xfrm>
            <a:off x="457200" y="4160520"/>
            <a:ext cx="2377440" cy="256032"/>
          </a:xfrm>
          <a:prstGeom prst="rect">
            <a:avLst/>
          </a:prstGeom>
          <a:solidFill>
            <a:srgbClr val="5B6B82"/>
          </a:solidFill>
          <a:ln w="12700">
            <a:solidFill>
              <a:srgbClr val="5B6B82"/>
            </a:solidFill>
            <a:prstDash val="solid"/>
          </a:ln>
        </p:spPr>
      </p:sp>
      <p:sp>
        <p:nvSpPr>
          <p:cNvPr id="21" name="erd-inventory-title"/>
          <p:cNvSpPr txBox="1"/>
          <p:nvPr/>
        </p:nvSpPr>
        <p:spPr>
          <a:xfrm>
            <a:off x="548640" y="4160520"/>
            <a:ext cx="2194560" cy="256032"/>
          </a:xfrm>
          <a:prstGeom prst="rect">
            <a:avLst/>
          </a:prstGeom>
          <a:noFill/>
          <a:ln/>
        </p:spPr>
        <p:txBody>
          <a:bodyPr wrap="square" lIns="0" tIns="0" rIns="0" bIns="0" rtlCol="0" anchor="ctr"/>
          <a:lstStyle/>
          <a:p>
            <a:pPr marL="0" indent="0">
              <a:buNone/>
            </a:pPr>
            <a:r>
              <a:rPr lang="en-US" sz="1200" b="1" dirty="0">
                <a:solidFill>
                  <a:schemeClr val="bg1"/>
                </a:solidFill>
              </a:rPr>
              <a:t>inventory</a:t>
            </a:r>
            <a:endParaRPr lang="en-US" sz="1200" dirty="0"/>
          </a:p>
        </p:txBody>
      </p:sp>
      <p:sp>
        <p:nvSpPr>
          <p:cNvPr id="22" name="erd-key"/>
          <p:cNvSpPr txBox="1"/>
          <p:nvPr/>
        </p:nvSpPr>
        <p:spPr>
          <a:xfrm>
            <a:off x="530352" y="4416552"/>
            <a:ext cx="475488" cy="201168"/>
          </a:xfrm>
          <a:prstGeom prst="rect">
            <a:avLst/>
          </a:prstGeom>
          <a:noFill/>
          <a:ln/>
        </p:spPr>
        <p:txBody>
          <a:bodyPr wrap="square" lIns="0" tIns="0" rIns="0" bIns="0" rtlCol="0" anchor="ctr"/>
          <a:lstStyle/>
          <a:p>
            <a:pPr marL="0" indent="0">
              <a:buNone/>
            </a:pPr>
            <a:r>
              <a:rPr lang="en-US" sz="1000" b="1" dirty="0">
                <a:solidFill>
                  <a:schemeClr val="accent1"/>
                </a:solidFill>
              </a:rPr>
              <a:t>PK</a:t>
            </a:r>
            <a:endParaRPr lang="en-US" sz="1000" dirty="0"/>
          </a:p>
        </p:txBody>
      </p:sp>
      <p:sp>
        <p:nvSpPr>
          <p:cNvPr id="23" name="erd-column"/>
          <p:cNvSpPr txBox="1"/>
          <p:nvPr/>
        </p:nvSpPr>
        <p:spPr>
          <a:xfrm>
            <a:off x="1024128" y="4416552"/>
            <a:ext cx="1737360" cy="201168"/>
          </a:xfrm>
          <a:prstGeom prst="rect">
            <a:avLst/>
          </a:prstGeom>
          <a:noFill/>
          <a:ln/>
        </p:spPr>
        <p:txBody>
          <a:bodyPr wrap="square" lIns="0" tIns="0" rIns="0" bIns="0" rtlCol="0" anchor="ctr"/>
          <a:lstStyle/>
          <a:p>
            <a:pPr marL="0" indent="0">
              <a:buNone/>
            </a:pPr>
            <a:r>
              <a:rPr lang="en-US" sz="1100" b="1" dirty="0">
                <a:solidFill>
                  <a:schemeClr val="tx1"/>
                </a:solidFill>
              </a:rPr>
              <a:t>inventory_id</a:t>
            </a:r>
            <a:endParaRPr lang="en-US" sz="1100" dirty="0"/>
          </a:p>
        </p:txBody>
      </p:sp>
      <p:sp>
        <p:nvSpPr>
          <p:cNvPr id="24" name="erd-key"/>
          <p:cNvSpPr txBox="1"/>
          <p:nvPr/>
        </p:nvSpPr>
        <p:spPr>
          <a:xfrm>
            <a:off x="530352" y="4617720"/>
            <a:ext cx="475488" cy="201168"/>
          </a:xfrm>
          <a:prstGeom prst="rect">
            <a:avLst/>
          </a:prstGeom>
          <a:noFill/>
          <a:ln/>
        </p:spPr>
        <p:txBody>
          <a:bodyPr wrap="square" lIns="0" tIns="0" rIns="0" bIns="0" rtlCol="0" anchor="ctr"/>
          <a:lstStyle/>
          <a:p>
            <a:pPr marL="0" indent="0">
              <a:buNone/>
            </a:pPr>
            <a:r>
              <a:rPr lang="en-US" sz="1000" b="1" dirty="0">
                <a:solidFill>
                  <a:schemeClr val="accent2"/>
                </a:solidFill>
              </a:rPr>
              <a:t>FK·UQ</a:t>
            </a:r>
            <a:endParaRPr lang="en-US" sz="1000" dirty="0"/>
          </a:p>
        </p:txBody>
      </p:sp>
      <p:sp>
        <p:nvSpPr>
          <p:cNvPr id="25" name="erd-column"/>
          <p:cNvSpPr txBox="1"/>
          <p:nvPr/>
        </p:nvSpPr>
        <p:spPr>
          <a:xfrm>
            <a:off x="1024128" y="4617720"/>
            <a:ext cx="1737360" cy="201168"/>
          </a:xfrm>
          <a:prstGeom prst="rect">
            <a:avLst/>
          </a:prstGeom>
          <a:noFill/>
          <a:ln/>
        </p:spPr>
        <p:txBody>
          <a:bodyPr wrap="square" lIns="0" tIns="0" rIns="0" bIns="0" rtlCol="0" anchor="ctr"/>
          <a:lstStyle/>
          <a:p>
            <a:pPr marL="0" indent="0">
              <a:buNone/>
            </a:pPr>
            <a:r>
              <a:rPr lang="en-US" sz="1100" dirty="0">
                <a:solidFill>
                  <a:schemeClr val="tx1"/>
                </a:solidFill>
              </a:rPr>
              <a:t>product_id</a:t>
            </a:r>
            <a:endParaRPr lang="en-US" sz="1100" dirty="0"/>
          </a:p>
        </p:txBody>
      </p:sp>
      <p:sp>
        <p:nvSpPr>
          <p:cNvPr id="26" name="erd-column"/>
          <p:cNvSpPr txBox="1"/>
          <p:nvPr/>
        </p:nvSpPr>
        <p:spPr>
          <a:xfrm>
            <a:off x="1024128" y="4818888"/>
            <a:ext cx="1737360" cy="201168"/>
          </a:xfrm>
          <a:prstGeom prst="rect">
            <a:avLst/>
          </a:prstGeom>
          <a:noFill/>
          <a:ln/>
        </p:spPr>
        <p:txBody>
          <a:bodyPr wrap="square" lIns="0" tIns="0" rIns="0" bIns="0" rtlCol="0" anchor="ctr"/>
          <a:lstStyle/>
          <a:p>
            <a:pPr marL="0" indent="0">
              <a:buNone/>
            </a:pPr>
            <a:r>
              <a:rPr lang="en-US" sz="1100" dirty="0">
                <a:solidFill>
                  <a:schemeClr val="tx1"/>
                </a:solidFill>
              </a:rPr>
              <a:t>stock</a:t>
            </a:r>
            <a:endParaRPr lang="en-US" sz="1100" dirty="0"/>
          </a:p>
        </p:txBody>
      </p:sp>
      <p:sp>
        <p:nvSpPr>
          <p:cNvPr id="27" name="erd-column"/>
          <p:cNvSpPr txBox="1"/>
          <p:nvPr/>
        </p:nvSpPr>
        <p:spPr>
          <a:xfrm>
            <a:off x="1024128" y="5020056"/>
            <a:ext cx="1737360" cy="201168"/>
          </a:xfrm>
          <a:prstGeom prst="rect">
            <a:avLst/>
          </a:prstGeom>
          <a:noFill/>
          <a:ln/>
        </p:spPr>
        <p:txBody>
          <a:bodyPr wrap="square" lIns="0" tIns="0" rIns="0" bIns="0" rtlCol="0" anchor="ctr"/>
          <a:lstStyle/>
          <a:p>
            <a:pPr marL="0" indent="0">
              <a:buNone/>
            </a:pPr>
            <a:r>
              <a:rPr lang="en-US" sz="1100" dirty="0">
                <a:solidFill>
                  <a:schemeClr val="tx1"/>
                </a:solidFill>
              </a:rPr>
              <a:t>warehouse_id</a:t>
            </a:r>
            <a:endParaRPr lang="en-US" sz="1100" dirty="0"/>
          </a:p>
        </p:txBody>
      </p:sp>
      <p:sp>
        <p:nvSpPr>
          <p:cNvPr id="28" name="erd-column"/>
          <p:cNvSpPr txBox="1"/>
          <p:nvPr/>
        </p:nvSpPr>
        <p:spPr>
          <a:xfrm>
            <a:off x="1024128" y="5221224"/>
            <a:ext cx="1737360" cy="201168"/>
          </a:xfrm>
          <a:prstGeom prst="rect">
            <a:avLst/>
          </a:prstGeom>
          <a:noFill/>
          <a:ln/>
        </p:spPr>
        <p:txBody>
          <a:bodyPr wrap="square" lIns="0" tIns="0" rIns="0" bIns="0" rtlCol="0" anchor="ctr"/>
          <a:lstStyle/>
          <a:p>
            <a:pPr marL="0" indent="0">
              <a:buNone/>
            </a:pPr>
            <a:r>
              <a:rPr lang="en-US" sz="1100" dirty="0">
                <a:solidFill>
                  <a:schemeClr val="tx1"/>
                </a:solidFill>
              </a:rPr>
              <a:t>last_stock_date</a:t>
            </a:r>
            <a:endParaRPr lang="en-US" sz="1100" dirty="0"/>
          </a:p>
        </p:txBody>
      </p:sp>
      <p:sp>
        <p:nvSpPr>
          <p:cNvPr id="29" name="erd-order_items-body"/>
          <p:cNvSpPr/>
          <p:nvPr/>
        </p:nvSpPr>
        <p:spPr>
          <a:xfrm>
            <a:off x="3429000" y="2423160"/>
            <a:ext cx="2377440" cy="1261872"/>
          </a:xfrm>
          <a:prstGeom prst="rect">
            <a:avLst/>
          </a:prstGeom>
          <a:solidFill>
            <a:schemeClr val="bg1"/>
          </a:solidFill>
          <a:ln w="12700">
            <a:solidFill>
              <a:schemeClr val="accent6"/>
            </a:solidFill>
            <a:prstDash val="solid"/>
          </a:ln>
        </p:spPr>
      </p:sp>
      <p:sp>
        <p:nvSpPr>
          <p:cNvPr id="30" name="erd-order_items-header"/>
          <p:cNvSpPr/>
          <p:nvPr/>
        </p:nvSpPr>
        <p:spPr>
          <a:xfrm>
            <a:off x="3429000" y="2423160"/>
            <a:ext cx="2377440" cy="256032"/>
          </a:xfrm>
          <a:prstGeom prst="rect">
            <a:avLst/>
          </a:prstGeom>
          <a:solidFill>
            <a:srgbClr val="C65A00"/>
          </a:solidFill>
          <a:ln w="12700">
            <a:solidFill>
              <a:srgbClr val="C65A00"/>
            </a:solidFill>
            <a:prstDash val="solid"/>
          </a:ln>
        </p:spPr>
      </p:sp>
      <p:sp>
        <p:nvSpPr>
          <p:cNvPr id="31" name="erd-order_items-title"/>
          <p:cNvSpPr txBox="1"/>
          <p:nvPr/>
        </p:nvSpPr>
        <p:spPr>
          <a:xfrm>
            <a:off x="3520440" y="2423160"/>
            <a:ext cx="2194560" cy="256032"/>
          </a:xfrm>
          <a:prstGeom prst="rect">
            <a:avLst/>
          </a:prstGeom>
          <a:noFill/>
          <a:ln/>
        </p:spPr>
        <p:txBody>
          <a:bodyPr wrap="square" lIns="0" tIns="0" rIns="0" bIns="0" rtlCol="0" anchor="ctr"/>
          <a:lstStyle/>
          <a:p>
            <a:pPr marL="0" indent="0">
              <a:buNone/>
            </a:pPr>
            <a:r>
              <a:rPr lang="en-US" sz="1200" b="1" dirty="0">
                <a:solidFill>
                  <a:schemeClr val="bg1"/>
                </a:solidFill>
              </a:rPr>
              <a:t>order_items</a:t>
            </a:r>
            <a:endParaRPr lang="en-US" sz="1200" dirty="0"/>
          </a:p>
        </p:txBody>
      </p:sp>
      <p:sp>
        <p:nvSpPr>
          <p:cNvPr id="32" name="erd-key"/>
          <p:cNvSpPr txBox="1"/>
          <p:nvPr/>
        </p:nvSpPr>
        <p:spPr>
          <a:xfrm>
            <a:off x="3502152" y="2679192"/>
            <a:ext cx="475488" cy="201168"/>
          </a:xfrm>
          <a:prstGeom prst="rect">
            <a:avLst/>
          </a:prstGeom>
          <a:noFill/>
          <a:ln/>
        </p:spPr>
        <p:txBody>
          <a:bodyPr wrap="square" lIns="0" tIns="0" rIns="0" bIns="0" rtlCol="0" anchor="ctr"/>
          <a:lstStyle/>
          <a:p>
            <a:pPr marL="0" indent="0">
              <a:buNone/>
            </a:pPr>
            <a:r>
              <a:rPr lang="en-US" sz="1000" b="1" dirty="0">
                <a:solidFill>
                  <a:schemeClr val="accent1"/>
                </a:solidFill>
              </a:rPr>
              <a:t>PK</a:t>
            </a:r>
            <a:endParaRPr lang="en-US" sz="1000" dirty="0"/>
          </a:p>
        </p:txBody>
      </p:sp>
      <p:sp>
        <p:nvSpPr>
          <p:cNvPr id="33" name="erd-column"/>
          <p:cNvSpPr txBox="1"/>
          <p:nvPr/>
        </p:nvSpPr>
        <p:spPr>
          <a:xfrm>
            <a:off x="3995928" y="2679192"/>
            <a:ext cx="1737360" cy="201168"/>
          </a:xfrm>
          <a:prstGeom prst="rect">
            <a:avLst/>
          </a:prstGeom>
          <a:noFill/>
          <a:ln/>
        </p:spPr>
        <p:txBody>
          <a:bodyPr wrap="square" lIns="0" tIns="0" rIns="0" bIns="0" rtlCol="0" anchor="ctr"/>
          <a:lstStyle/>
          <a:p>
            <a:pPr marL="0" indent="0">
              <a:buNone/>
            </a:pPr>
            <a:r>
              <a:rPr lang="en-US" sz="1100" b="1" dirty="0">
                <a:solidFill>
                  <a:schemeClr val="tx1"/>
                </a:solidFill>
              </a:rPr>
              <a:t>order_item_id</a:t>
            </a:r>
            <a:endParaRPr lang="en-US" sz="1100" dirty="0"/>
          </a:p>
        </p:txBody>
      </p:sp>
      <p:sp>
        <p:nvSpPr>
          <p:cNvPr id="34" name="erd-key"/>
          <p:cNvSpPr txBox="1"/>
          <p:nvPr/>
        </p:nvSpPr>
        <p:spPr>
          <a:xfrm>
            <a:off x="3502152" y="2880360"/>
            <a:ext cx="475488" cy="201168"/>
          </a:xfrm>
          <a:prstGeom prst="rect">
            <a:avLst/>
          </a:prstGeom>
          <a:noFill/>
          <a:ln/>
        </p:spPr>
        <p:txBody>
          <a:bodyPr wrap="square" lIns="0" tIns="0" rIns="0" bIns="0" rtlCol="0" anchor="ctr"/>
          <a:lstStyle/>
          <a:p>
            <a:pPr marL="0" indent="0">
              <a:buNone/>
            </a:pPr>
            <a:r>
              <a:rPr lang="en-US" sz="1000" b="1" dirty="0">
                <a:solidFill>
                  <a:schemeClr val="accent2"/>
                </a:solidFill>
              </a:rPr>
              <a:t>FK</a:t>
            </a:r>
            <a:endParaRPr lang="en-US" sz="1000" dirty="0"/>
          </a:p>
        </p:txBody>
      </p:sp>
      <p:sp>
        <p:nvSpPr>
          <p:cNvPr id="35" name="erd-column"/>
          <p:cNvSpPr txBox="1"/>
          <p:nvPr/>
        </p:nvSpPr>
        <p:spPr>
          <a:xfrm>
            <a:off x="3995928" y="2880360"/>
            <a:ext cx="1737360" cy="201168"/>
          </a:xfrm>
          <a:prstGeom prst="rect">
            <a:avLst/>
          </a:prstGeom>
          <a:noFill/>
          <a:ln/>
        </p:spPr>
        <p:txBody>
          <a:bodyPr wrap="square" lIns="0" tIns="0" rIns="0" bIns="0" rtlCol="0" anchor="ctr"/>
          <a:lstStyle/>
          <a:p>
            <a:pPr marL="0" indent="0">
              <a:buNone/>
            </a:pPr>
            <a:r>
              <a:rPr lang="en-US" sz="1100" dirty="0">
                <a:solidFill>
                  <a:schemeClr val="tx1"/>
                </a:solidFill>
              </a:rPr>
              <a:t>order_id</a:t>
            </a:r>
            <a:endParaRPr lang="en-US" sz="1100" dirty="0"/>
          </a:p>
        </p:txBody>
      </p:sp>
      <p:sp>
        <p:nvSpPr>
          <p:cNvPr id="36" name="erd-key"/>
          <p:cNvSpPr txBox="1"/>
          <p:nvPr/>
        </p:nvSpPr>
        <p:spPr>
          <a:xfrm>
            <a:off x="3502152" y="3081528"/>
            <a:ext cx="475488" cy="201168"/>
          </a:xfrm>
          <a:prstGeom prst="rect">
            <a:avLst/>
          </a:prstGeom>
          <a:noFill/>
          <a:ln/>
        </p:spPr>
        <p:txBody>
          <a:bodyPr wrap="square" lIns="0" tIns="0" rIns="0" bIns="0" rtlCol="0" anchor="ctr"/>
          <a:lstStyle/>
          <a:p>
            <a:pPr marL="0" indent="0">
              <a:buNone/>
            </a:pPr>
            <a:r>
              <a:rPr lang="en-US" sz="1000" b="1" dirty="0">
                <a:solidFill>
                  <a:schemeClr val="accent2"/>
                </a:solidFill>
              </a:rPr>
              <a:t>FK</a:t>
            </a:r>
            <a:endParaRPr lang="en-US" sz="1000" dirty="0"/>
          </a:p>
        </p:txBody>
      </p:sp>
      <p:sp>
        <p:nvSpPr>
          <p:cNvPr id="37" name="erd-column"/>
          <p:cNvSpPr txBox="1"/>
          <p:nvPr/>
        </p:nvSpPr>
        <p:spPr>
          <a:xfrm>
            <a:off x="3995928" y="3081528"/>
            <a:ext cx="1737360" cy="201168"/>
          </a:xfrm>
          <a:prstGeom prst="rect">
            <a:avLst/>
          </a:prstGeom>
          <a:noFill/>
          <a:ln/>
        </p:spPr>
        <p:txBody>
          <a:bodyPr wrap="square" lIns="0" tIns="0" rIns="0" bIns="0" rtlCol="0" anchor="ctr"/>
          <a:lstStyle/>
          <a:p>
            <a:pPr marL="0" indent="0">
              <a:buNone/>
            </a:pPr>
            <a:r>
              <a:rPr lang="en-US" sz="1100" dirty="0">
                <a:solidFill>
                  <a:schemeClr val="tx1"/>
                </a:solidFill>
              </a:rPr>
              <a:t>product_id</a:t>
            </a:r>
            <a:endParaRPr lang="en-US" sz="1100" dirty="0"/>
          </a:p>
        </p:txBody>
      </p:sp>
      <p:sp>
        <p:nvSpPr>
          <p:cNvPr id="38" name="erd-column"/>
          <p:cNvSpPr txBox="1"/>
          <p:nvPr/>
        </p:nvSpPr>
        <p:spPr>
          <a:xfrm>
            <a:off x="3995928" y="3282696"/>
            <a:ext cx="1737360" cy="201168"/>
          </a:xfrm>
          <a:prstGeom prst="rect">
            <a:avLst/>
          </a:prstGeom>
          <a:noFill/>
          <a:ln/>
        </p:spPr>
        <p:txBody>
          <a:bodyPr wrap="square" lIns="0" tIns="0" rIns="0" bIns="0" rtlCol="0" anchor="ctr"/>
          <a:lstStyle/>
          <a:p>
            <a:pPr marL="0" indent="0">
              <a:buNone/>
            </a:pPr>
            <a:r>
              <a:rPr lang="en-US" sz="1100" dirty="0">
                <a:solidFill>
                  <a:schemeClr val="tx1"/>
                </a:solidFill>
              </a:rPr>
              <a:t>quantity</a:t>
            </a:r>
            <a:endParaRPr lang="en-US" sz="1100" dirty="0"/>
          </a:p>
        </p:txBody>
      </p:sp>
      <p:sp>
        <p:nvSpPr>
          <p:cNvPr id="39" name="erd-column"/>
          <p:cNvSpPr txBox="1"/>
          <p:nvPr/>
        </p:nvSpPr>
        <p:spPr>
          <a:xfrm>
            <a:off x="3995928" y="3483864"/>
            <a:ext cx="1737360" cy="201168"/>
          </a:xfrm>
          <a:prstGeom prst="rect">
            <a:avLst/>
          </a:prstGeom>
          <a:noFill/>
          <a:ln/>
        </p:spPr>
        <p:txBody>
          <a:bodyPr wrap="square" lIns="0" tIns="0" rIns="0" bIns="0" rtlCol="0" anchor="ctr"/>
          <a:lstStyle/>
          <a:p>
            <a:pPr marL="0" indent="0">
              <a:buNone/>
            </a:pPr>
            <a:r>
              <a:rPr lang="en-US" sz="1100" dirty="0">
                <a:solidFill>
                  <a:schemeClr val="tx1"/>
                </a:solidFill>
              </a:rPr>
              <a:t>price_per_unit</a:t>
            </a:r>
            <a:endParaRPr lang="en-US" sz="1100" dirty="0"/>
          </a:p>
        </p:txBody>
      </p:sp>
      <p:sp>
        <p:nvSpPr>
          <p:cNvPr id="40" name="erd-customers-body"/>
          <p:cNvSpPr/>
          <p:nvPr/>
        </p:nvSpPr>
        <p:spPr>
          <a:xfrm>
            <a:off x="6400800" y="960120"/>
            <a:ext cx="2377440" cy="1060704"/>
          </a:xfrm>
          <a:prstGeom prst="rect">
            <a:avLst/>
          </a:prstGeom>
          <a:solidFill>
            <a:schemeClr val="bg1"/>
          </a:solidFill>
          <a:ln w="12700">
            <a:solidFill>
              <a:schemeClr val="accent6"/>
            </a:solidFill>
            <a:prstDash val="solid"/>
          </a:ln>
        </p:spPr>
      </p:sp>
      <p:sp>
        <p:nvSpPr>
          <p:cNvPr id="41" name="erd-customers-header"/>
          <p:cNvSpPr/>
          <p:nvPr/>
        </p:nvSpPr>
        <p:spPr>
          <a:xfrm>
            <a:off x="6400800" y="960120"/>
            <a:ext cx="2377440" cy="256032"/>
          </a:xfrm>
          <a:prstGeom prst="rect">
            <a:avLst/>
          </a:prstGeom>
          <a:solidFill>
            <a:srgbClr val="0B7A75"/>
          </a:solidFill>
          <a:ln w="12700">
            <a:solidFill>
              <a:srgbClr val="0B7A75"/>
            </a:solidFill>
            <a:prstDash val="solid"/>
          </a:ln>
        </p:spPr>
      </p:sp>
      <p:sp>
        <p:nvSpPr>
          <p:cNvPr id="42" name="erd-customers-title"/>
          <p:cNvSpPr txBox="1"/>
          <p:nvPr/>
        </p:nvSpPr>
        <p:spPr>
          <a:xfrm>
            <a:off x="6492240" y="960120"/>
            <a:ext cx="2194560" cy="256032"/>
          </a:xfrm>
          <a:prstGeom prst="rect">
            <a:avLst/>
          </a:prstGeom>
          <a:noFill/>
          <a:ln/>
        </p:spPr>
        <p:txBody>
          <a:bodyPr wrap="square" lIns="0" tIns="0" rIns="0" bIns="0" rtlCol="0" anchor="ctr"/>
          <a:lstStyle/>
          <a:p>
            <a:pPr marL="0" indent="0">
              <a:buNone/>
            </a:pPr>
            <a:r>
              <a:rPr lang="en-US" sz="1200" b="1" dirty="0">
                <a:solidFill>
                  <a:schemeClr val="bg1"/>
                </a:solidFill>
              </a:rPr>
              <a:t>customers</a:t>
            </a:r>
            <a:endParaRPr lang="en-US" sz="1200" dirty="0"/>
          </a:p>
        </p:txBody>
      </p:sp>
      <p:sp>
        <p:nvSpPr>
          <p:cNvPr id="43" name="erd-key"/>
          <p:cNvSpPr txBox="1"/>
          <p:nvPr/>
        </p:nvSpPr>
        <p:spPr>
          <a:xfrm>
            <a:off x="6473952" y="1216152"/>
            <a:ext cx="475488" cy="201168"/>
          </a:xfrm>
          <a:prstGeom prst="rect">
            <a:avLst/>
          </a:prstGeom>
          <a:noFill/>
          <a:ln/>
        </p:spPr>
        <p:txBody>
          <a:bodyPr wrap="square" lIns="0" tIns="0" rIns="0" bIns="0" rtlCol="0" anchor="ctr"/>
          <a:lstStyle/>
          <a:p>
            <a:pPr marL="0" indent="0">
              <a:buNone/>
            </a:pPr>
            <a:r>
              <a:rPr lang="en-US" sz="1000" b="1" dirty="0">
                <a:solidFill>
                  <a:schemeClr val="accent1"/>
                </a:solidFill>
              </a:rPr>
              <a:t>PK</a:t>
            </a:r>
            <a:endParaRPr lang="en-US" sz="1000" dirty="0"/>
          </a:p>
        </p:txBody>
      </p:sp>
      <p:sp>
        <p:nvSpPr>
          <p:cNvPr id="44" name="erd-column"/>
          <p:cNvSpPr txBox="1"/>
          <p:nvPr/>
        </p:nvSpPr>
        <p:spPr>
          <a:xfrm>
            <a:off x="6967728" y="1216152"/>
            <a:ext cx="1737360" cy="201168"/>
          </a:xfrm>
          <a:prstGeom prst="rect">
            <a:avLst/>
          </a:prstGeom>
          <a:noFill/>
          <a:ln/>
        </p:spPr>
        <p:txBody>
          <a:bodyPr wrap="square" lIns="0" tIns="0" rIns="0" bIns="0" rtlCol="0" anchor="ctr"/>
          <a:lstStyle/>
          <a:p>
            <a:pPr marL="0" indent="0">
              <a:buNone/>
            </a:pPr>
            <a:r>
              <a:rPr lang="en-US" sz="1100" b="1" dirty="0">
                <a:solidFill>
                  <a:schemeClr val="tx1"/>
                </a:solidFill>
              </a:rPr>
              <a:t>customer_id</a:t>
            </a:r>
            <a:endParaRPr lang="en-US" sz="1100" dirty="0"/>
          </a:p>
        </p:txBody>
      </p:sp>
      <p:sp>
        <p:nvSpPr>
          <p:cNvPr id="45" name="erd-column"/>
          <p:cNvSpPr txBox="1"/>
          <p:nvPr/>
        </p:nvSpPr>
        <p:spPr>
          <a:xfrm>
            <a:off x="6967728" y="1417320"/>
            <a:ext cx="1737360" cy="201168"/>
          </a:xfrm>
          <a:prstGeom prst="rect">
            <a:avLst/>
          </a:prstGeom>
          <a:noFill/>
          <a:ln/>
        </p:spPr>
        <p:txBody>
          <a:bodyPr wrap="square" lIns="0" tIns="0" rIns="0" bIns="0" rtlCol="0" anchor="ctr"/>
          <a:lstStyle/>
          <a:p>
            <a:pPr marL="0" indent="0">
              <a:buNone/>
            </a:pPr>
            <a:r>
              <a:rPr lang="en-US" sz="1100" dirty="0">
                <a:solidFill>
                  <a:schemeClr val="tx1"/>
                </a:solidFill>
              </a:rPr>
              <a:t>first_name</a:t>
            </a:r>
            <a:endParaRPr lang="en-US" sz="1100" dirty="0"/>
          </a:p>
        </p:txBody>
      </p:sp>
      <p:sp>
        <p:nvSpPr>
          <p:cNvPr id="46" name="erd-column"/>
          <p:cNvSpPr txBox="1"/>
          <p:nvPr/>
        </p:nvSpPr>
        <p:spPr>
          <a:xfrm>
            <a:off x="6967728" y="1618488"/>
            <a:ext cx="1737360" cy="201168"/>
          </a:xfrm>
          <a:prstGeom prst="rect">
            <a:avLst/>
          </a:prstGeom>
          <a:noFill/>
          <a:ln/>
        </p:spPr>
        <p:txBody>
          <a:bodyPr wrap="square" lIns="0" tIns="0" rIns="0" bIns="0" rtlCol="0" anchor="ctr"/>
          <a:lstStyle/>
          <a:p>
            <a:pPr marL="0" indent="0">
              <a:buNone/>
            </a:pPr>
            <a:r>
              <a:rPr lang="en-US" sz="1100" dirty="0">
                <a:solidFill>
                  <a:schemeClr val="tx1"/>
                </a:solidFill>
              </a:rPr>
              <a:t>last_name</a:t>
            </a:r>
            <a:endParaRPr lang="en-US" sz="1100" dirty="0"/>
          </a:p>
        </p:txBody>
      </p:sp>
      <p:sp>
        <p:nvSpPr>
          <p:cNvPr id="47" name="erd-column"/>
          <p:cNvSpPr txBox="1"/>
          <p:nvPr/>
        </p:nvSpPr>
        <p:spPr>
          <a:xfrm>
            <a:off x="6967728" y="1819656"/>
            <a:ext cx="1737360" cy="201168"/>
          </a:xfrm>
          <a:prstGeom prst="rect">
            <a:avLst/>
          </a:prstGeom>
          <a:noFill/>
          <a:ln/>
        </p:spPr>
        <p:txBody>
          <a:bodyPr wrap="square" lIns="0" tIns="0" rIns="0" bIns="0" rtlCol="0" anchor="ctr"/>
          <a:lstStyle/>
          <a:p>
            <a:pPr marL="0" indent="0">
              <a:buNone/>
            </a:pPr>
            <a:r>
              <a:rPr lang="en-US" sz="1100" dirty="0">
                <a:solidFill>
                  <a:schemeClr val="tx1"/>
                </a:solidFill>
              </a:rPr>
              <a:t>state</a:t>
            </a:r>
            <a:endParaRPr lang="en-US" sz="1100" dirty="0"/>
          </a:p>
        </p:txBody>
      </p:sp>
      <p:sp>
        <p:nvSpPr>
          <p:cNvPr id="48" name="erd-orders-body"/>
          <p:cNvSpPr/>
          <p:nvPr/>
        </p:nvSpPr>
        <p:spPr>
          <a:xfrm>
            <a:off x="6400800" y="2423160"/>
            <a:ext cx="2377440" cy="1261872"/>
          </a:xfrm>
          <a:prstGeom prst="rect">
            <a:avLst/>
          </a:prstGeom>
          <a:solidFill>
            <a:schemeClr val="bg1"/>
          </a:solidFill>
          <a:ln w="12700">
            <a:solidFill>
              <a:schemeClr val="accent6"/>
            </a:solidFill>
            <a:prstDash val="solid"/>
          </a:ln>
        </p:spPr>
      </p:sp>
      <p:sp>
        <p:nvSpPr>
          <p:cNvPr id="49" name="erd-orders-header"/>
          <p:cNvSpPr/>
          <p:nvPr/>
        </p:nvSpPr>
        <p:spPr>
          <a:xfrm>
            <a:off x="6400800" y="2423160"/>
            <a:ext cx="2377440" cy="256032"/>
          </a:xfrm>
          <a:prstGeom prst="rect">
            <a:avLst/>
          </a:prstGeom>
          <a:solidFill>
            <a:srgbClr val="C65A00"/>
          </a:solidFill>
          <a:ln w="12700">
            <a:solidFill>
              <a:srgbClr val="C65A00"/>
            </a:solidFill>
            <a:prstDash val="solid"/>
          </a:ln>
        </p:spPr>
      </p:sp>
      <p:sp>
        <p:nvSpPr>
          <p:cNvPr id="50" name="erd-orders-title"/>
          <p:cNvSpPr txBox="1"/>
          <p:nvPr/>
        </p:nvSpPr>
        <p:spPr>
          <a:xfrm>
            <a:off x="6492240" y="2423160"/>
            <a:ext cx="2194560" cy="256032"/>
          </a:xfrm>
          <a:prstGeom prst="rect">
            <a:avLst/>
          </a:prstGeom>
          <a:noFill/>
          <a:ln/>
        </p:spPr>
        <p:txBody>
          <a:bodyPr wrap="square" lIns="0" tIns="0" rIns="0" bIns="0" rtlCol="0" anchor="ctr"/>
          <a:lstStyle/>
          <a:p>
            <a:pPr marL="0" indent="0">
              <a:buNone/>
            </a:pPr>
            <a:r>
              <a:rPr lang="en-US" sz="1200" b="1" dirty="0">
                <a:solidFill>
                  <a:schemeClr val="bg1"/>
                </a:solidFill>
              </a:rPr>
              <a:t>orders</a:t>
            </a:r>
            <a:endParaRPr lang="en-US" sz="1200" dirty="0"/>
          </a:p>
        </p:txBody>
      </p:sp>
      <p:sp>
        <p:nvSpPr>
          <p:cNvPr id="51" name="erd-key"/>
          <p:cNvSpPr txBox="1"/>
          <p:nvPr/>
        </p:nvSpPr>
        <p:spPr>
          <a:xfrm>
            <a:off x="6473952" y="2679192"/>
            <a:ext cx="475488" cy="201168"/>
          </a:xfrm>
          <a:prstGeom prst="rect">
            <a:avLst/>
          </a:prstGeom>
          <a:noFill/>
          <a:ln/>
        </p:spPr>
        <p:txBody>
          <a:bodyPr wrap="square" lIns="0" tIns="0" rIns="0" bIns="0" rtlCol="0" anchor="ctr"/>
          <a:lstStyle/>
          <a:p>
            <a:pPr marL="0" indent="0">
              <a:buNone/>
            </a:pPr>
            <a:r>
              <a:rPr lang="en-US" sz="1000" b="1" dirty="0">
                <a:solidFill>
                  <a:schemeClr val="accent1"/>
                </a:solidFill>
              </a:rPr>
              <a:t>PK</a:t>
            </a:r>
            <a:endParaRPr lang="en-US" sz="1000" dirty="0"/>
          </a:p>
        </p:txBody>
      </p:sp>
      <p:sp>
        <p:nvSpPr>
          <p:cNvPr id="52" name="erd-column"/>
          <p:cNvSpPr txBox="1"/>
          <p:nvPr/>
        </p:nvSpPr>
        <p:spPr>
          <a:xfrm>
            <a:off x="6967728" y="2679192"/>
            <a:ext cx="1737360" cy="201168"/>
          </a:xfrm>
          <a:prstGeom prst="rect">
            <a:avLst/>
          </a:prstGeom>
          <a:noFill/>
          <a:ln/>
        </p:spPr>
        <p:txBody>
          <a:bodyPr wrap="square" lIns="0" tIns="0" rIns="0" bIns="0" rtlCol="0" anchor="ctr"/>
          <a:lstStyle/>
          <a:p>
            <a:pPr marL="0" indent="0">
              <a:buNone/>
            </a:pPr>
            <a:r>
              <a:rPr lang="en-US" sz="1100" b="1" dirty="0">
                <a:solidFill>
                  <a:schemeClr val="tx1"/>
                </a:solidFill>
              </a:rPr>
              <a:t>order_id</a:t>
            </a:r>
            <a:endParaRPr lang="en-US" sz="1100" dirty="0"/>
          </a:p>
        </p:txBody>
      </p:sp>
      <p:sp>
        <p:nvSpPr>
          <p:cNvPr id="53" name="erd-column"/>
          <p:cNvSpPr txBox="1"/>
          <p:nvPr/>
        </p:nvSpPr>
        <p:spPr>
          <a:xfrm>
            <a:off x="6967728" y="2880360"/>
            <a:ext cx="1737360" cy="201168"/>
          </a:xfrm>
          <a:prstGeom prst="rect">
            <a:avLst/>
          </a:prstGeom>
          <a:noFill/>
          <a:ln/>
        </p:spPr>
        <p:txBody>
          <a:bodyPr wrap="square" lIns="0" tIns="0" rIns="0" bIns="0" rtlCol="0" anchor="ctr"/>
          <a:lstStyle/>
          <a:p>
            <a:pPr marL="0" indent="0">
              <a:buNone/>
            </a:pPr>
            <a:r>
              <a:rPr lang="en-US" sz="1100" dirty="0">
                <a:solidFill>
                  <a:schemeClr val="tx1"/>
                </a:solidFill>
              </a:rPr>
              <a:t>order_date</a:t>
            </a:r>
            <a:endParaRPr lang="en-US" sz="1100" dirty="0"/>
          </a:p>
        </p:txBody>
      </p:sp>
      <p:sp>
        <p:nvSpPr>
          <p:cNvPr id="54" name="erd-key"/>
          <p:cNvSpPr txBox="1"/>
          <p:nvPr/>
        </p:nvSpPr>
        <p:spPr>
          <a:xfrm>
            <a:off x="6473952" y="3081528"/>
            <a:ext cx="475488" cy="201168"/>
          </a:xfrm>
          <a:prstGeom prst="rect">
            <a:avLst/>
          </a:prstGeom>
          <a:noFill/>
          <a:ln/>
        </p:spPr>
        <p:txBody>
          <a:bodyPr wrap="square" lIns="0" tIns="0" rIns="0" bIns="0" rtlCol="0" anchor="ctr"/>
          <a:lstStyle/>
          <a:p>
            <a:pPr marL="0" indent="0">
              <a:buNone/>
            </a:pPr>
            <a:r>
              <a:rPr lang="en-US" sz="1000" b="1" dirty="0">
                <a:solidFill>
                  <a:schemeClr val="accent2"/>
                </a:solidFill>
              </a:rPr>
              <a:t>FK</a:t>
            </a:r>
            <a:endParaRPr lang="en-US" sz="1000" dirty="0"/>
          </a:p>
        </p:txBody>
      </p:sp>
      <p:sp>
        <p:nvSpPr>
          <p:cNvPr id="55" name="erd-column"/>
          <p:cNvSpPr txBox="1"/>
          <p:nvPr/>
        </p:nvSpPr>
        <p:spPr>
          <a:xfrm>
            <a:off x="6967728" y="3081528"/>
            <a:ext cx="1737360" cy="201168"/>
          </a:xfrm>
          <a:prstGeom prst="rect">
            <a:avLst/>
          </a:prstGeom>
          <a:noFill/>
          <a:ln/>
        </p:spPr>
        <p:txBody>
          <a:bodyPr wrap="square" lIns="0" tIns="0" rIns="0" bIns="0" rtlCol="0" anchor="ctr"/>
          <a:lstStyle/>
          <a:p>
            <a:pPr marL="0" indent="0">
              <a:buNone/>
            </a:pPr>
            <a:r>
              <a:rPr lang="en-US" sz="1100" dirty="0">
                <a:solidFill>
                  <a:schemeClr val="tx1"/>
                </a:solidFill>
              </a:rPr>
              <a:t>customer_id</a:t>
            </a:r>
            <a:endParaRPr lang="en-US" sz="1100" dirty="0"/>
          </a:p>
        </p:txBody>
      </p:sp>
      <p:sp>
        <p:nvSpPr>
          <p:cNvPr id="56" name="erd-key"/>
          <p:cNvSpPr txBox="1"/>
          <p:nvPr/>
        </p:nvSpPr>
        <p:spPr>
          <a:xfrm>
            <a:off x="6473952" y="3282696"/>
            <a:ext cx="475488" cy="201168"/>
          </a:xfrm>
          <a:prstGeom prst="rect">
            <a:avLst/>
          </a:prstGeom>
          <a:noFill/>
          <a:ln/>
        </p:spPr>
        <p:txBody>
          <a:bodyPr wrap="square" lIns="0" tIns="0" rIns="0" bIns="0" rtlCol="0" anchor="ctr"/>
          <a:lstStyle/>
          <a:p>
            <a:pPr marL="0" indent="0">
              <a:buNone/>
            </a:pPr>
            <a:r>
              <a:rPr lang="en-US" sz="1000" b="1" dirty="0">
                <a:solidFill>
                  <a:schemeClr val="accent2"/>
                </a:solidFill>
              </a:rPr>
              <a:t>FK</a:t>
            </a:r>
            <a:endParaRPr lang="en-US" sz="1000" dirty="0"/>
          </a:p>
        </p:txBody>
      </p:sp>
      <p:sp>
        <p:nvSpPr>
          <p:cNvPr id="57" name="erd-column"/>
          <p:cNvSpPr txBox="1"/>
          <p:nvPr/>
        </p:nvSpPr>
        <p:spPr>
          <a:xfrm>
            <a:off x="6967728" y="3282696"/>
            <a:ext cx="1737360" cy="201168"/>
          </a:xfrm>
          <a:prstGeom prst="rect">
            <a:avLst/>
          </a:prstGeom>
          <a:noFill/>
          <a:ln/>
        </p:spPr>
        <p:txBody>
          <a:bodyPr wrap="square" lIns="0" tIns="0" rIns="0" bIns="0" rtlCol="0" anchor="ctr"/>
          <a:lstStyle/>
          <a:p>
            <a:pPr marL="0" indent="0">
              <a:buNone/>
            </a:pPr>
            <a:r>
              <a:rPr lang="en-US" sz="1100" dirty="0">
                <a:solidFill>
                  <a:schemeClr val="tx1"/>
                </a:solidFill>
              </a:rPr>
              <a:t>seller_id</a:t>
            </a:r>
            <a:endParaRPr lang="en-US" sz="1100" dirty="0"/>
          </a:p>
        </p:txBody>
      </p:sp>
      <p:sp>
        <p:nvSpPr>
          <p:cNvPr id="58" name="erd-column"/>
          <p:cNvSpPr txBox="1"/>
          <p:nvPr/>
        </p:nvSpPr>
        <p:spPr>
          <a:xfrm>
            <a:off x="6967728" y="3483864"/>
            <a:ext cx="1737360" cy="201168"/>
          </a:xfrm>
          <a:prstGeom prst="rect">
            <a:avLst/>
          </a:prstGeom>
          <a:noFill/>
          <a:ln/>
        </p:spPr>
        <p:txBody>
          <a:bodyPr wrap="square" lIns="0" tIns="0" rIns="0" bIns="0" rtlCol="0" anchor="ctr"/>
          <a:lstStyle/>
          <a:p>
            <a:pPr marL="0" indent="0">
              <a:buNone/>
            </a:pPr>
            <a:r>
              <a:rPr lang="en-US" sz="1100" dirty="0">
                <a:solidFill>
                  <a:schemeClr val="tx1"/>
                </a:solidFill>
              </a:rPr>
              <a:t>order_status</a:t>
            </a:r>
            <a:endParaRPr lang="en-US" sz="1100" dirty="0"/>
          </a:p>
        </p:txBody>
      </p:sp>
      <p:sp>
        <p:nvSpPr>
          <p:cNvPr id="59" name="erd-payments-body"/>
          <p:cNvSpPr/>
          <p:nvPr/>
        </p:nvSpPr>
        <p:spPr>
          <a:xfrm>
            <a:off x="6400800" y="4160520"/>
            <a:ext cx="2377440" cy="1060704"/>
          </a:xfrm>
          <a:prstGeom prst="rect">
            <a:avLst/>
          </a:prstGeom>
          <a:solidFill>
            <a:schemeClr val="bg1"/>
          </a:solidFill>
          <a:ln w="12700">
            <a:solidFill>
              <a:schemeClr val="accent6"/>
            </a:solidFill>
            <a:prstDash val="solid"/>
          </a:ln>
        </p:spPr>
      </p:sp>
      <p:sp>
        <p:nvSpPr>
          <p:cNvPr id="60" name="erd-payments-header"/>
          <p:cNvSpPr/>
          <p:nvPr/>
        </p:nvSpPr>
        <p:spPr>
          <a:xfrm>
            <a:off x="6400800" y="4160520"/>
            <a:ext cx="2377440" cy="256032"/>
          </a:xfrm>
          <a:prstGeom prst="rect">
            <a:avLst/>
          </a:prstGeom>
          <a:solidFill>
            <a:srgbClr val="5B6B82"/>
          </a:solidFill>
          <a:ln w="12700">
            <a:solidFill>
              <a:srgbClr val="5B6B82"/>
            </a:solidFill>
            <a:prstDash val="solid"/>
          </a:ln>
        </p:spPr>
      </p:sp>
      <p:sp>
        <p:nvSpPr>
          <p:cNvPr id="61" name="erd-payments-title"/>
          <p:cNvSpPr txBox="1"/>
          <p:nvPr/>
        </p:nvSpPr>
        <p:spPr>
          <a:xfrm>
            <a:off x="6492240" y="4160520"/>
            <a:ext cx="2194560" cy="256032"/>
          </a:xfrm>
          <a:prstGeom prst="rect">
            <a:avLst/>
          </a:prstGeom>
          <a:noFill/>
          <a:ln/>
        </p:spPr>
        <p:txBody>
          <a:bodyPr wrap="square" lIns="0" tIns="0" rIns="0" bIns="0" rtlCol="0" anchor="ctr"/>
          <a:lstStyle/>
          <a:p>
            <a:pPr marL="0" indent="0">
              <a:buNone/>
            </a:pPr>
            <a:r>
              <a:rPr lang="en-US" sz="1200" b="1" dirty="0">
                <a:solidFill>
                  <a:schemeClr val="bg1"/>
                </a:solidFill>
              </a:rPr>
              <a:t>payments</a:t>
            </a:r>
            <a:endParaRPr lang="en-US" sz="1200" dirty="0"/>
          </a:p>
        </p:txBody>
      </p:sp>
      <p:sp>
        <p:nvSpPr>
          <p:cNvPr id="62" name="erd-key"/>
          <p:cNvSpPr txBox="1"/>
          <p:nvPr/>
        </p:nvSpPr>
        <p:spPr>
          <a:xfrm>
            <a:off x="6473952" y="4416552"/>
            <a:ext cx="475488" cy="201168"/>
          </a:xfrm>
          <a:prstGeom prst="rect">
            <a:avLst/>
          </a:prstGeom>
          <a:noFill/>
          <a:ln/>
        </p:spPr>
        <p:txBody>
          <a:bodyPr wrap="square" lIns="0" tIns="0" rIns="0" bIns="0" rtlCol="0" anchor="ctr"/>
          <a:lstStyle/>
          <a:p>
            <a:pPr marL="0" indent="0">
              <a:buNone/>
            </a:pPr>
            <a:r>
              <a:rPr lang="en-US" sz="1000" b="1" dirty="0">
                <a:solidFill>
                  <a:schemeClr val="accent1"/>
                </a:solidFill>
              </a:rPr>
              <a:t>PK</a:t>
            </a:r>
            <a:endParaRPr lang="en-US" sz="1000" dirty="0"/>
          </a:p>
        </p:txBody>
      </p:sp>
      <p:sp>
        <p:nvSpPr>
          <p:cNvPr id="63" name="erd-column"/>
          <p:cNvSpPr txBox="1"/>
          <p:nvPr/>
        </p:nvSpPr>
        <p:spPr>
          <a:xfrm>
            <a:off x="6967728" y="4416552"/>
            <a:ext cx="1737360" cy="201168"/>
          </a:xfrm>
          <a:prstGeom prst="rect">
            <a:avLst/>
          </a:prstGeom>
          <a:noFill/>
          <a:ln/>
        </p:spPr>
        <p:txBody>
          <a:bodyPr wrap="square" lIns="0" tIns="0" rIns="0" bIns="0" rtlCol="0" anchor="ctr"/>
          <a:lstStyle/>
          <a:p>
            <a:pPr marL="0" indent="0">
              <a:buNone/>
            </a:pPr>
            <a:r>
              <a:rPr lang="en-US" sz="1100" b="1" dirty="0">
                <a:solidFill>
                  <a:schemeClr val="tx1"/>
                </a:solidFill>
              </a:rPr>
              <a:t>payment_id</a:t>
            </a:r>
            <a:endParaRPr lang="en-US" sz="1100" dirty="0"/>
          </a:p>
        </p:txBody>
      </p:sp>
      <p:sp>
        <p:nvSpPr>
          <p:cNvPr id="64" name="erd-key"/>
          <p:cNvSpPr txBox="1"/>
          <p:nvPr/>
        </p:nvSpPr>
        <p:spPr>
          <a:xfrm>
            <a:off x="6473952" y="4617720"/>
            <a:ext cx="475488" cy="201168"/>
          </a:xfrm>
          <a:prstGeom prst="rect">
            <a:avLst/>
          </a:prstGeom>
          <a:noFill/>
          <a:ln/>
        </p:spPr>
        <p:txBody>
          <a:bodyPr wrap="square" lIns="0" tIns="0" rIns="0" bIns="0" rtlCol="0" anchor="ctr"/>
          <a:lstStyle/>
          <a:p>
            <a:pPr marL="0" indent="0">
              <a:buNone/>
            </a:pPr>
            <a:r>
              <a:rPr lang="en-US" sz="1000" b="1" dirty="0">
                <a:solidFill>
                  <a:schemeClr val="accent2"/>
                </a:solidFill>
              </a:rPr>
              <a:t>FK·UQ</a:t>
            </a:r>
            <a:endParaRPr lang="en-US" sz="1000" dirty="0"/>
          </a:p>
        </p:txBody>
      </p:sp>
      <p:sp>
        <p:nvSpPr>
          <p:cNvPr id="65" name="erd-column"/>
          <p:cNvSpPr txBox="1"/>
          <p:nvPr/>
        </p:nvSpPr>
        <p:spPr>
          <a:xfrm>
            <a:off x="6967728" y="4617720"/>
            <a:ext cx="1737360" cy="201168"/>
          </a:xfrm>
          <a:prstGeom prst="rect">
            <a:avLst/>
          </a:prstGeom>
          <a:noFill/>
          <a:ln/>
        </p:spPr>
        <p:txBody>
          <a:bodyPr wrap="square" lIns="0" tIns="0" rIns="0" bIns="0" rtlCol="0" anchor="ctr"/>
          <a:lstStyle/>
          <a:p>
            <a:pPr marL="0" indent="0">
              <a:buNone/>
            </a:pPr>
            <a:r>
              <a:rPr lang="en-US" sz="1100" dirty="0">
                <a:solidFill>
                  <a:schemeClr val="tx1"/>
                </a:solidFill>
              </a:rPr>
              <a:t>order_id</a:t>
            </a:r>
            <a:endParaRPr lang="en-US" sz="1100" dirty="0"/>
          </a:p>
        </p:txBody>
      </p:sp>
      <p:sp>
        <p:nvSpPr>
          <p:cNvPr id="66" name="erd-column"/>
          <p:cNvSpPr txBox="1"/>
          <p:nvPr/>
        </p:nvSpPr>
        <p:spPr>
          <a:xfrm>
            <a:off x="6967728" y="4818888"/>
            <a:ext cx="1737360" cy="201168"/>
          </a:xfrm>
          <a:prstGeom prst="rect">
            <a:avLst/>
          </a:prstGeom>
          <a:noFill/>
          <a:ln/>
        </p:spPr>
        <p:txBody>
          <a:bodyPr wrap="square" lIns="0" tIns="0" rIns="0" bIns="0" rtlCol="0" anchor="ctr"/>
          <a:lstStyle/>
          <a:p>
            <a:pPr marL="0" indent="0">
              <a:buNone/>
            </a:pPr>
            <a:r>
              <a:rPr lang="en-US" sz="1100" dirty="0">
                <a:solidFill>
                  <a:schemeClr val="tx1"/>
                </a:solidFill>
              </a:rPr>
              <a:t>payment_date</a:t>
            </a:r>
            <a:endParaRPr lang="en-US" sz="1100" dirty="0"/>
          </a:p>
        </p:txBody>
      </p:sp>
      <p:sp>
        <p:nvSpPr>
          <p:cNvPr id="67" name="erd-column"/>
          <p:cNvSpPr txBox="1"/>
          <p:nvPr/>
        </p:nvSpPr>
        <p:spPr>
          <a:xfrm>
            <a:off x="6967728" y="5020056"/>
            <a:ext cx="1737360" cy="201168"/>
          </a:xfrm>
          <a:prstGeom prst="rect">
            <a:avLst/>
          </a:prstGeom>
          <a:noFill/>
          <a:ln/>
        </p:spPr>
        <p:txBody>
          <a:bodyPr wrap="square" lIns="0" tIns="0" rIns="0" bIns="0" rtlCol="0" anchor="ctr"/>
          <a:lstStyle/>
          <a:p>
            <a:pPr marL="0" indent="0">
              <a:buNone/>
            </a:pPr>
            <a:r>
              <a:rPr lang="en-US" sz="1100" dirty="0">
                <a:solidFill>
                  <a:schemeClr val="tx1"/>
                </a:solidFill>
              </a:rPr>
              <a:t>payment_status</a:t>
            </a:r>
            <a:endParaRPr lang="en-US" sz="1100" dirty="0"/>
          </a:p>
        </p:txBody>
      </p:sp>
      <p:sp>
        <p:nvSpPr>
          <p:cNvPr id="68" name="erd-sellers-body"/>
          <p:cNvSpPr/>
          <p:nvPr/>
        </p:nvSpPr>
        <p:spPr>
          <a:xfrm>
            <a:off x="9372600" y="2423160"/>
            <a:ext cx="2377440" cy="859536"/>
          </a:xfrm>
          <a:prstGeom prst="rect">
            <a:avLst/>
          </a:prstGeom>
          <a:solidFill>
            <a:schemeClr val="bg1"/>
          </a:solidFill>
          <a:ln w="12700">
            <a:solidFill>
              <a:schemeClr val="accent6"/>
            </a:solidFill>
            <a:prstDash val="solid"/>
          </a:ln>
        </p:spPr>
      </p:sp>
      <p:sp>
        <p:nvSpPr>
          <p:cNvPr id="69" name="erd-sellers-header"/>
          <p:cNvSpPr/>
          <p:nvPr/>
        </p:nvSpPr>
        <p:spPr>
          <a:xfrm>
            <a:off x="9372600" y="2423160"/>
            <a:ext cx="2377440" cy="256032"/>
          </a:xfrm>
          <a:prstGeom prst="rect">
            <a:avLst/>
          </a:prstGeom>
          <a:solidFill>
            <a:srgbClr val="0B7A75"/>
          </a:solidFill>
          <a:ln w="12700">
            <a:solidFill>
              <a:srgbClr val="0B7A75"/>
            </a:solidFill>
            <a:prstDash val="solid"/>
          </a:ln>
        </p:spPr>
      </p:sp>
      <p:sp>
        <p:nvSpPr>
          <p:cNvPr id="70" name="erd-sellers-title"/>
          <p:cNvSpPr txBox="1"/>
          <p:nvPr/>
        </p:nvSpPr>
        <p:spPr>
          <a:xfrm>
            <a:off x="9464040" y="2423160"/>
            <a:ext cx="2194560" cy="256032"/>
          </a:xfrm>
          <a:prstGeom prst="rect">
            <a:avLst/>
          </a:prstGeom>
          <a:noFill/>
          <a:ln/>
        </p:spPr>
        <p:txBody>
          <a:bodyPr wrap="square" lIns="0" tIns="0" rIns="0" bIns="0" rtlCol="0" anchor="ctr"/>
          <a:lstStyle/>
          <a:p>
            <a:pPr marL="0" indent="0">
              <a:buNone/>
            </a:pPr>
            <a:r>
              <a:rPr lang="en-US" sz="1200" b="1" dirty="0">
                <a:solidFill>
                  <a:schemeClr val="bg1"/>
                </a:solidFill>
              </a:rPr>
              <a:t>sellers</a:t>
            </a:r>
            <a:endParaRPr lang="en-US" sz="1200" dirty="0"/>
          </a:p>
        </p:txBody>
      </p:sp>
      <p:sp>
        <p:nvSpPr>
          <p:cNvPr id="71" name="erd-key"/>
          <p:cNvSpPr txBox="1"/>
          <p:nvPr/>
        </p:nvSpPr>
        <p:spPr>
          <a:xfrm>
            <a:off x="9445752" y="2679192"/>
            <a:ext cx="475488" cy="201168"/>
          </a:xfrm>
          <a:prstGeom prst="rect">
            <a:avLst/>
          </a:prstGeom>
          <a:noFill/>
          <a:ln/>
        </p:spPr>
        <p:txBody>
          <a:bodyPr wrap="square" lIns="0" tIns="0" rIns="0" bIns="0" rtlCol="0" anchor="ctr"/>
          <a:lstStyle/>
          <a:p>
            <a:pPr marL="0" indent="0">
              <a:buNone/>
            </a:pPr>
            <a:r>
              <a:rPr lang="en-US" sz="1000" b="1" dirty="0">
                <a:solidFill>
                  <a:schemeClr val="accent1"/>
                </a:solidFill>
              </a:rPr>
              <a:t>PK</a:t>
            </a:r>
            <a:endParaRPr lang="en-US" sz="1000" dirty="0"/>
          </a:p>
        </p:txBody>
      </p:sp>
      <p:sp>
        <p:nvSpPr>
          <p:cNvPr id="72" name="erd-column"/>
          <p:cNvSpPr txBox="1"/>
          <p:nvPr/>
        </p:nvSpPr>
        <p:spPr>
          <a:xfrm>
            <a:off x="9939528" y="2679192"/>
            <a:ext cx="1737360" cy="201168"/>
          </a:xfrm>
          <a:prstGeom prst="rect">
            <a:avLst/>
          </a:prstGeom>
          <a:noFill/>
          <a:ln/>
        </p:spPr>
        <p:txBody>
          <a:bodyPr wrap="square" lIns="0" tIns="0" rIns="0" bIns="0" rtlCol="0" anchor="ctr"/>
          <a:lstStyle/>
          <a:p>
            <a:pPr marL="0" indent="0">
              <a:buNone/>
            </a:pPr>
            <a:r>
              <a:rPr lang="en-US" sz="1100" b="1" dirty="0">
                <a:solidFill>
                  <a:schemeClr val="tx1"/>
                </a:solidFill>
              </a:rPr>
              <a:t>seller_id</a:t>
            </a:r>
            <a:endParaRPr lang="en-US" sz="1100" dirty="0"/>
          </a:p>
        </p:txBody>
      </p:sp>
      <p:sp>
        <p:nvSpPr>
          <p:cNvPr id="73" name="erd-column"/>
          <p:cNvSpPr txBox="1"/>
          <p:nvPr/>
        </p:nvSpPr>
        <p:spPr>
          <a:xfrm>
            <a:off x="9939528" y="2880360"/>
            <a:ext cx="1737360" cy="201168"/>
          </a:xfrm>
          <a:prstGeom prst="rect">
            <a:avLst/>
          </a:prstGeom>
          <a:noFill/>
          <a:ln/>
        </p:spPr>
        <p:txBody>
          <a:bodyPr wrap="square" lIns="0" tIns="0" rIns="0" bIns="0" rtlCol="0" anchor="ctr"/>
          <a:lstStyle/>
          <a:p>
            <a:pPr marL="0" indent="0">
              <a:buNone/>
            </a:pPr>
            <a:r>
              <a:rPr lang="en-US" sz="1100" dirty="0">
                <a:solidFill>
                  <a:schemeClr val="tx1"/>
                </a:solidFill>
              </a:rPr>
              <a:t>seller_name</a:t>
            </a:r>
            <a:endParaRPr lang="en-US" sz="1100" dirty="0"/>
          </a:p>
        </p:txBody>
      </p:sp>
      <p:sp>
        <p:nvSpPr>
          <p:cNvPr id="74" name="erd-column"/>
          <p:cNvSpPr txBox="1"/>
          <p:nvPr/>
        </p:nvSpPr>
        <p:spPr>
          <a:xfrm>
            <a:off x="9939528" y="3081528"/>
            <a:ext cx="1737360" cy="201168"/>
          </a:xfrm>
          <a:prstGeom prst="rect">
            <a:avLst/>
          </a:prstGeom>
          <a:noFill/>
          <a:ln/>
        </p:spPr>
        <p:txBody>
          <a:bodyPr wrap="square" lIns="0" tIns="0" rIns="0" bIns="0" rtlCol="0" anchor="ctr"/>
          <a:lstStyle/>
          <a:p>
            <a:pPr marL="0" indent="0">
              <a:buNone/>
            </a:pPr>
            <a:r>
              <a:rPr lang="en-US" sz="1100" dirty="0">
                <a:solidFill>
                  <a:schemeClr val="tx1"/>
                </a:solidFill>
              </a:rPr>
              <a:t>origin</a:t>
            </a:r>
            <a:endParaRPr lang="en-US" sz="1100" dirty="0"/>
          </a:p>
        </p:txBody>
      </p:sp>
      <p:sp>
        <p:nvSpPr>
          <p:cNvPr id="75" name="erd-shipping-body"/>
          <p:cNvSpPr/>
          <p:nvPr/>
        </p:nvSpPr>
        <p:spPr>
          <a:xfrm>
            <a:off x="9372600" y="4160520"/>
            <a:ext cx="2377440" cy="1463040"/>
          </a:xfrm>
          <a:prstGeom prst="rect">
            <a:avLst/>
          </a:prstGeom>
          <a:solidFill>
            <a:schemeClr val="bg1"/>
          </a:solidFill>
          <a:ln w="12700">
            <a:solidFill>
              <a:schemeClr val="accent6"/>
            </a:solidFill>
            <a:prstDash val="solid"/>
          </a:ln>
        </p:spPr>
      </p:sp>
      <p:sp>
        <p:nvSpPr>
          <p:cNvPr id="76" name="erd-shipping-header"/>
          <p:cNvSpPr/>
          <p:nvPr/>
        </p:nvSpPr>
        <p:spPr>
          <a:xfrm>
            <a:off x="9372600" y="4160520"/>
            <a:ext cx="2377440" cy="256032"/>
          </a:xfrm>
          <a:prstGeom prst="rect">
            <a:avLst/>
          </a:prstGeom>
          <a:solidFill>
            <a:srgbClr val="5B6B82"/>
          </a:solidFill>
          <a:ln w="12700">
            <a:solidFill>
              <a:srgbClr val="5B6B82"/>
            </a:solidFill>
            <a:prstDash val="solid"/>
          </a:ln>
        </p:spPr>
      </p:sp>
      <p:sp>
        <p:nvSpPr>
          <p:cNvPr id="77" name="erd-shipping-title"/>
          <p:cNvSpPr txBox="1"/>
          <p:nvPr/>
        </p:nvSpPr>
        <p:spPr>
          <a:xfrm>
            <a:off x="9464040" y="4160520"/>
            <a:ext cx="2194560" cy="256032"/>
          </a:xfrm>
          <a:prstGeom prst="rect">
            <a:avLst/>
          </a:prstGeom>
          <a:noFill/>
          <a:ln/>
        </p:spPr>
        <p:txBody>
          <a:bodyPr wrap="square" lIns="0" tIns="0" rIns="0" bIns="0" rtlCol="0" anchor="ctr"/>
          <a:lstStyle/>
          <a:p>
            <a:pPr marL="0" indent="0">
              <a:buNone/>
            </a:pPr>
            <a:r>
              <a:rPr lang="en-US" sz="1200" b="1" dirty="0">
                <a:solidFill>
                  <a:schemeClr val="bg1"/>
                </a:solidFill>
              </a:rPr>
              <a:t>shipping</a:t>
            </a:r>
            <a:endParaRPr lang="en-US" sz="1200" dirty="0"/>
          </a:p>
        </p:txBody>
      </p:sp>
      <p:sp>
        <p:nvSpPr>
          <p:cNvPr id="78" name="erd-key"/>
          <p:cNvSpPr txBox="1"/>
          <p:nvPr/>
        </p:nvSpPr>
        <p:spPr>
          <a:xfrm>
            <a:off x="9445752" y="4416552"/>
            <a:ext cx="475488" cy="201168"/>
          </a:xfrm>
          <a:prstGeom prst="rect">
            <a:avLst/>
          </a:prstGeom>
          <a:noFill/>
          <a:ln/>
        </p:spPr>
        <p:txBody>
          <a:bodyPr wrap="square" lIns="0" tIns="0" rIns="0" bIns="0" rtlCol="0" anchor="ctr"/>
          <a:lstStyle/>
          <a:p>
            <a:pPr marL="0" indent="0">
              <a:buNone/>
            </a:pPr>
            <a:r>
              <a:rPr lang="en-US" sz="1000" b="1" dirty="0">
                <a:solidFill>
                  <a:schemeClr val="accent1"/>
                </a:solidFill>
              </a:rPr>
              <a:t>PK</a:t>
            </a:r>
            <a:endParaRPr lang="en-US" sz="1000" dirty="0"/>
          </a:p>
        </p:txBody>
      </p:sp>
      <p:sp>
        <p:nvSpPr>
          <p:cNvPr id="79" name="erd-column"/>
          <p:cNvSpPr txBox="1"/>
          <p:nvPr/>
        </p:nvSpPr>
        <p:spPr>
          <a:xfrm>
            <a:off x="9939528" y="4416552"/>
            <a:ext cx="1737360" cy="201168"/>
          </a:xfrm>
          <a:prstGeom prst="rect">
            <a:avLst/>
          </a:prstGeom>
          <a:noFill/>
          <a:ln/>
        </p:spPr>
        <p:txBody>
          <a:bodyPr wrap="square" lIns="0" tIns="0" rIns="0" bIns="0" rtlCol="0" anchor="ctr"/>
          <a:lstStyle/>
          <a:p>
            <a:pPr marL="0" indent="0">
              <a:buNone/>
            </a:pPr>
            <a:r>
              <a:rPr lang="en-US" sz="1100" b="1" dirty="0">
                <a:solidFill>
                  <a:schemeClr val="tx1"/>
                </a:solidFill>
              </a:rPr>
              <a:t>shipping_id</a:t>
            </a:r>
            <a:endParaRPr lang="en-US" sz="1100" dirty="0"/>
          </a:p>
        </p:txBody>
      </p:sp>
      <p:sp>
        <p:nvSpPr>
          <p:cNvPr id="80" name="erd-key"/>
          <p:cNvSpPr txBox="1"/>
          <p:nvPr/>
        </p:nvSpPr>
        <p:spPr>
          <a:xfrm>
            <a:off x="9445752" y="4617720"/>
            <a:ext cx="475488" cy="201168"/>
          </a:xfrm>
          <a:prstGeom prst="rect">
            <a:avLst/>
          </a:prstGeom>
          <a:noFill/>
          <a:ln/>
        </p:spPr>
        <p:txBody>
          <a:bodyPr wrap="square" lIns="0" tIns="0" rIns="0" bIns="0" rtlCol="0" anchor="ctr"/>
          <a:lstStyle/>
          <a:p>
            <a:pPr marL="0" indent="0">
              <a:buNone/>
            </a:pPr>
            <a:r>
              <a:rPr lang="en-US" sz="1000" b="1" dirty="0">
                <a:solidFill>
                  <a:schemeClr val="accent2"/>
                </a:solidFill>
              </a:rPr>
              <a:t>FK·UQ</a:t>
            </a:r>
            <a:endParaRPr lang="en-US" sz="1000" dirty="0"/>
          </a:p>
        </p:txBody>
      </p:sp>
      <p:sp>
        <p:nvSpPr>
          <p:cNvPr id="81" name="erd-column"/>
          <p:cNvSpPr txBox="1"/>
          <p:nvPr/>
        </p:nvSpPr>
        <p:spPr>
          <a:xfrm>
            <a:off x="9939528" y="4617720"/>
            <a:ext cx="1737360" cy="201168"/>
          </a:xfrm>
          <a:prstGeom prst="rect">
            <a:avLst/>
          </a:prstGeom>
          <a:noFill/>
          <a:ln/>
        </p:spPr>
        <p:txBody>
          <a:bodyPr wrap="square" lIns="0" tIns="0" rIns="0" bIns="0" rtlCol="0" anchor="ctr"/>
          <a:lstStyle/>
          <a:p>
            <a:pPr marL="0" indent="0">
              <a:buNone/>
            </a:pPr>
            <a:r>
              <a:rPr lang="en-US" sz="1100" dirty="0">
                <a:solidFill>
                  <a:schemeClr val="tx1"/>
                </a:solidFill>
              </a:rPr>
              <a:t>order_id</a:t>
            </a:r>
            <a:endParaRPr lang="en-US" sz="1100" dirty="0"/>
          </a:p>
        </p:txBody>
      </p:sp>
      <p:sp>
        <p:nvSpPr>
          <p:cNvPr id="82" name="erd-column"/>
          <p:cNvSpPr txBox="1"/>
          <p:nvPr/>
        </p:nvSpPr>
        <p:spPr>
          <a:xfrm>
            <a:off x="9939528" y="4818888"/>
            <a:ext cx="1737360" cy="201168"/>
          </a:xfrm>
          <a:prstGeom prst="rect">
            <a:avLst/>
          </a:prstGeom>
          <a:noFill/>
          <a:ln/>
        </p:spPr>
        <p:txBody>
          <a:bodyPr wrap="square" lIns="0" tIns="0" rIns="0" bIns="0" rtlCol="0" anchor="ctr"/>
          <a:lstStyle/>
          <a:p>
            <a:pPr marL="0" indent="0">
              <a:buNone/>
            </a:pPr>
            <a:r>
              <a:rPr lang="en-US" sz="1100" dirty="0">
                <a:solidFill>
                  <a:schemeClr val="tx1"/>
                </a:solidFill>
              </a:rPr>
              <a:t>shipping_date</a:t>
            </a:r>
            <a:endParaRPr lang="en-US" sz="1100" dirty="0"/>
          </a:p>
        </p:txBody>
      </p:sp>
      <p:sp>
        <p:nvSpPr>
          <p:cNvPr id="83" name="erd-column"/>
          <p:cNvSpPr txBox="1"/>
          <p:nvPr/>
        </p:nvSpPr>
        <p:spPr>
          <a:xfrm>
            <a:off x="9939528" y="5020056"/>
            <a:ext cx="1737360" cy="201168"/>
          </a:xfrm>
          <a:prstGeom prst="rect">
            <a:avLst/>
          </a:prstGeom>
          <a:noFill/>
          <a:ln/>
        </p:spPr>
        <p:txBody>
          <a:bodyPr wrap="square" lIns="0" tIns="0" rIns="0" bIns="0" rtlCol="0" anchor="ctr"/>
          <a:lstStyle/>
          <a:p>
            <a:pPr marL="0" indent="0">
              <a:buNone/>
            </a:pPr>
            <a:r>
              <a:rPr lang="en-US" sz="1100" dirty="0">
                <a:solidFill>
                  <a:schemeClr val="tx1"/>
                </a:solidFill>
              </a:rPr>
              <a:t>return_date</a:t>
            </a:r>
            <a:endParaRPr lang="en-US" sz="1100" dirty="0"/>
          </a:p>
        </p:txBody>
      </p:sp>
      <p:sp>
        <p:nvSpPr>
          <p:cNvPr id="84" name="erd-column"/>
          <p:cNvSpPr txBox="1"/>
          <p:nvPr/>
        </p:nvSpPr>
        <p:spPr>
          <a:xfrm>
            <a:off x="9939528" y="5221224"/>
            <a:ext cx="1737360" cy="201168"/>
          </a:xfrm>
          <a:prstGeom prst="rect">
            <a:avLst/>
          </a:prstGeom>
          <a:noFill/>
          <a:ln/>
        </p:spPr>
        <p:txBody>
          <a:bodyPr wrap="square" lIns="0" tIns="0" rIns="0" bIns="0" rtlCol="0" anchor="ctr"/>
          <a:lstStyle/>
          <a:p>
            <a:pPr marL="0" indent="0">
              <a:buNone/>
            </a:pPr>
            <a:r>
              <a:rPr lang="en-US" sz="1100" dirty="0">
                <a:solidFill>
                  <a:schemeClr val="tx1"/>
                </a:solidFill>
              </a:rPr>
              <a:t>shipping_provider</a:t>
            </a:r>
            <a:endParaRPr lang="en-US" sz="1100" dirty="0"/>
          </a:p>
        </p:txBody>
      </p:sp>
      <p:sp>
        <p:nvSpPr>
          <p:cNvPr id="85" name="erd-column"/>
          <p:cNvSpPr txBox="1"/>
          <p:nvPr/>
        </p:nvSpPr>
        <p:spPr>
          <a:xfrm>
            <a:off x="9939528" y="5422392"/>
            <a:ext cx="1737360" cy="201168"/>
          </a:xfrm>
          <a:prstGeom prst="rect">
            <a:avLst/>
          </a:prstGeom>
          <a:noFill/>
          <a:ln/>
        </p:spPr>
        <p:txBody>
          <a:bodyPr wrap="square" lIns="0" tIns="0" rIns="0" bIns="0" rtlCol="0" anchor="ctr"/>
          <a:lstStyle/>
          <a:p>
            <a:pPr marL="0" indent="0">
              <a:buNone/>
            </a:pPr>
            <a:r>
              <a:rPr lang="en-US" sz="1100" dirty="0">
                <a:solidFill>
                  <a:schemeClr val="tx1"/>
                </a:solidFill>
              </a:rPr>
              <a:t>delivery_status</a:t>
            </a:r>
            <a:endParaRPr lang="en-US" sz="1100" dirty="0"/>
          </a:p>
        </p:txBody>
      </p:sp>
      <p:sp>
        <p:nvSpPr>
          <p:cNvPr id="86" name="erd-relationship"/>
          <p:cNvSpPr/>
          <p:nvPr/>
        </p:nvSpPr>
        <p:spPr>
          <a:xfrm>
            <a:off x="1645920" y="1892808"/>
            <a:ext cx="0" cy="530352"/>
          </a:xfrm>
          <a:prstGeom prst="line">
            <a:avLst/>
          </a:prstGeom>
          <a:noFill/>
          <a:ln w="19050">
            <a:solidFill>
              <a:schemeClr val="accent5"/>
            </a:solidFill>
            <a:prstDash val="solid"/>
          </a:ln>
        </p:spPr>
      </p:sp>
      <p:sp>
        <p:nvSpPr>
          <p:cNvPr id="87" name="erd-cardinality"/>
          <p:cNvSpPr txBox="1"/>
          <p:nvPr/>
        </p:nvSpPr>
        <p:spPr>
          <a:xfrm>
            <a:off x="1700784" y="1929384"/>
            <a:ext cx="274320" cy="182880"/>
          </a:xfrm>
          <a:prstGeom prst="rect">
            <a:avLst/>
          </a:prstGeom>
          <a:noFill/>
          <a:ln/>
        </p:spPr>
        <p:txBody>
          <a:bodyPr wrap="square" lIns="0" tIns="0" rIns="0" bIns="0" rtlCol="0" anchor="ctr"/>
          <a:lstStyle/>
          <a:p>
            <a:pPr marL="0" indent="0" algn="l">
              <a:buNone/>
            </a:pPr>
            <a:r>
              <a:rPr lang="en-US" sz="1100" b="1" dirty="0">
                <a:solidFill>
                  <a:schemeClr val="accent1"/>
                </a:solidFill>
              </a:rPr>
              <a:t>1</a:t>
            </a:r>
            <a:endParaRPr lang="en-US" sz="1100" dirty="0"/>
          </a:p>
        </p:txBody>
      </p:sp>
      <p:sp>
        <p:nvSpPr>
          <p:cNvPr id="88" name="erd-cardinality"/>
          <p:cNvSpPr txBox="1"/>
          <p:nvPr/>
        </p:nvSpPr>
        <p:spPr>
          <a:xfrm>
            <a:off x="1700784" y="2203704"/>
            <a:ext cx="274320" cy="182880"/>
          </a:xfrm>
          <a:prstGeom prst="rect">
            <a:avLst/>
          </a:prstGeom>
          <a:noFill/>
          <a:ln/>
        </p:spPr>
        <p:txBody>
          <a:bodyPr wrap="square" lIns="0" tIns="0" rIns="0" bIns="0" rtlCol="0" anchor="ctr"/>
          <a:lstStyle/>
          <a:p>
            <a:pPr marL="0" indent="0" algn="l">
              <a:buNone/>
            </a:pPr>
            <a:r>
              <a:rPr lang="en-US" sz="1100" b="1" dirty="0">
                <a:solidFill>
                  <a:schemeClr val="accent1"/>
                </a:solidFill>
              </a:rPr>
              <a:t>N</a:t>
            </a:r>
            <a:endParaRPr lang="en-US" sz="1100" dirty="0"/>
          </a:p>
        </p:txBody>
      </p:sp>
      <p:sp>
        <p:nvSpPr>
          <p:cNvPr id="89" name="erd-relationship"/>
          <p:cNvSpPr/>
          <p:nvPr/>
        </p:nvSpPr>
        <p:spPr>
          <a:xfrm>
            <a:off x="2834640" y="3246120"/>
            <a:ext cx="594360" cy="0"/>
          </a:xfrm>
          <a:prstGeom prst="line">
            <a:avLst/>
          </a:prstGeom>
          <a:noFill/>
          <a:ln w="19050">
            <a:solidFill>
              <a:schemeClr val="accent5"/>
            </a:solidFill>
            <a:prstDash val="solid"/>
          </a:ln>
        </p:spPr>
      </p:sp>
      <p:sp>
        <p:nvSpPr>
          <p:cNvPr id="90" name="erd-cardinality"/>
          <p:cNvSpPr txBox="1"/>
          <p:nvPr/>
        </p:nvSpPr>
        <p:spPr>
          <a:xfrm>
            <a:off x="2852928" y="3026664"/>
            <a:ext cx="228600" cy="182880"/>
          </a:xfrm>
          <a:prstGeom prst="rect">
            <a:avLst/>
          </a:prstGeom>
          <a:noFill/>
          <a:ln/>
        </p:spPr>
        <p:txBody>
          <a:bodyPr wrap="square" lIns="0" tIns="0" rIns="0" bIns="0" rtlCol="0" anchor="ctr"/>
          <a:lstStyle/>
          <a:p>
            <a:pPr marL="0" indent="0" algn="l">
              <a:buNone/>
            </a:pPr>
            <a:r>
              <a:rPr lang="en-US" sz="1100" b="1" dirty="0">
                <a:solidFill>
                  <a:schemeClr val="accent1"/>
                </a:solidFill>
              </a:rPr>
              <a:t>1</a:t>
            </a:r>
            <a:endParaRPr lang="en-US" sz="1100" dirty="0"/>
          </a:p>
        </p:txBody>
      </p:sp>
      <p:sp>
        <p:nvSpPr>
          <p:cNvPr id="91" name="erd-cardinality"/>
          <p:cNvSpPr txBox="1"/>
          <p:nvPr/>
        </p:nvSpPr>
        <p:spPr>
          <a:xfrm>
            <a:off x="3172968" y="3026664"/>
            <a:ext cx="228600" cy="182880"/>
          </a:xfrm>
          <a:prstGeom prst="rect">
            <a:avLst/>
          </a:prstGeom>
          <a:noFill/>
          <a:ln/>
        </p:spPr>
        <p:txBody>
          <a:bodyPr wrap="square" lIns="0" tIns="0" rIns="0" bIns="0" rtlCol="0" anchor="ctr"/>
          <a:lstStyle/>
          <a:p>
            <a:pPr marL="0" indent="0" algn="r">
              <a:buNone/>
            </a:pPr>
            <a:r>
              <a:rPr lang="en-US" sz="1100" b="1" dirty="0">
                <a:solidFill>
                  <a:schemeClr val="accent1"/>
                </a:solidFill>
              </a:rPr>
              <a:t>N</a:t>
            </a:r>
            <a:endParaRPr lang="en-US" sz="1100" dirty="0"/>
          </a:p>
        </p:txBody>
      </p:sp>
      <p:sp>
        <p:nvSpPr>
          <p:cNvPr id="92" name="erd-relationship"/>
          <p:cNvSpPr/>
          <p:nvPr/>
        </p:nvSpPr>
        <p:spPr>
          <a:xfrm>
            <a:off x="5806440" y="3246120"/>
            <a:ext cx="594360" cy="0"/>
          </a:xfrm>
          <a:prstGeom prst="line">
            <a:avLst/>
          </a:prstGeom>
          <a:noFill/>
          <a:ln w="19050">
            <a:solidFill>
              <a:schemeClr val="accent5"/>
            </a:solidFill>
            <a:prstDash val="solid"/>
          </a:ln>
        </p:spPr>
      </p:sp>
      <p:sp>
        <p:nvSpPr>
          <p:cNvPr id="93" name="erd-cardinality"/>
          <p:cNvSpPr txBox="1"/>
          <p:nvPr/>
        </p:nvSpPr>
        <p:spPr>
          <a:xfrm>
            <a:off x="5824728" y="3026664"/>
            <a:ext cx="228600" cy="182880"/>
          </a:xfrm>
          <a:prstGeom prst="rect">
            <a:avLst/>
          </a:prstGeom>
          <a:noFill/>
          <a:ln/>
        </p:spPr>
        <p:txBody>
          <a:bodyPr wrap="square" lIns="0" tIns="0" rIns="0" bIns="0" rtlCol="0" anchor="ctr"/>
          <a:lstStyle/>
          <a:p>
            <a:pPr marL="0" indent="0" algn="l">
              <a:buNone/>
            </a:pPr>
            <a:r>
              <a:rPr lang="en-US" sz="1100" b="1" dirty="0">
                <a:solidFill>
                  <a:schemeClr val="accent1"/>
                </a:solidFill>
              </a:rPr>
              <a:t>N</a:t>
            </a:r>
            <a:endParaRPr lang="en-US" sz="1100" dirty="0"/>
          </a:p>
        </p:txBody>
      </p:sp>
      <p:sp>
        <p:nvSpPr>
          <p:cNvPr id="94" name="erd-cardinality"/>
          <p:cNvSpPr txBox="1"/>
          <p:nvPr/>
        </p:nvSpPr>
        <p:spPr>
          <a:xfrm>
            <a:off x="6144768" y="3026664"/>
            <a:ext cx="228600" cy="182880"/>
          </a:xfrm>
          <a:prstGeom prst="rect">
            <a:avLst/>
          </a:prstGeom>
          <a:noFill/>
          <a:ln/>
        </p:spPr>
        <p:txBody>
          <a:bodyPr wrap="square" lIns="0" tIns="0" rIns="0" bIns="0" rtlCol="0" anchor="ctr"/>
          <a:lstStyle/>
          <a:p>
            <a:pPr marL="0" indent="0" algn="r">
              <a:buNone/>
            </a:pPr>
            <a:r>
              <a:rPr lang="en-US" sz="1100" b="1" dirty="0">
                <a:solidFill>
                  <a:schemeClr val="accent1"/>
                </a:solidFill>
              </a:rPr>
              <a:t>1</a:t>
            </a:r>
            <a:endParaRPr lang="en-US" sz="1100" dirty="0"/>
          </a:p>
        </p:txBody>
      </p:sp>
      <p:sp>
        <p:nvSpPr>
          <p:cNvPr id="95" name="erd-relationship"/>
          <p:cNvSpPr/>
          <p:nvPr/>
        </p:nvSpPr>
        <p:spPr>
          <a:xfrm>
            <a:off x="7589520" y="2020824"/>
            <a:ext cx="0" cy="402336"/>
          </a:xfrm>
          <a:prstGeom prst="line">
            <a:avLst/>
          </a:prstGeom>
          <a:noFill/>
          <a:ln w="19050">
            <a:solidFill>
              <a:schemeClr val="accent5"/>
            </a:solidFill>
            <a:prstDash val="solid"/>
          </a:ln>
        </p:spPr>
      </p:sp>
      <p:sp>
        <p:nvSpPr>
          <p:cNvPr id="96" name="erd-cardinality"/>
          <p:cNvSpPr txBox="1"/>
          <p:nvPr/>
        </p:nvSpPr>
        <p:spPr>
          <a:xfrm>
            <a:off x="7653528" y="2048256"/>
            <a:ext cx="274320" cy="182880"/>
          </a:xfrm>
          <a:prstGeom prst="rect">
            <a:avLst/>
          </a:prstGeom>
          <a:noFill/>
          <a:ln/>
        </p:spPr>
        <p:txBody>
          <a:bodyPr wrap="square" lIns="0" tIns="0" rIns="0" bIns="0" rtlCol="0" anchor="ctr"/>
          <a:lstStyle/>
          <a:p>
            <a:pPr marL="0" indent="0" algn="l">
              <a:buNone/>
            </a:pPr>
            <a:r>
              <a:rPr lang="en-US" sz="1100" b="1" dirty="0">
                <a:solidFill>
                  <a:schemeClr val="accent1"/>
                </a:solidFill>
              </a:rPr>
              <a:t>1</a:t>
            </a:r>
            <a:endParaRPr lang="en-US" sz="1100" dirty="0"/>
          </a:p>
        </p:txBody>
      </p:sp>
      <p:sp>
        <p:nvSpPr>
          <p:cNvPr id="97" name="erd-cardinality"/>
          <p:cNvSpPr txBox="1"/>
          <p:nvPr/>
        </p:nvSpPr>
        <p:spPr>
          <a:xfrm>
            <a:off x="7653528" y="2203704"/>
            <a:ext cx="274320" cy="182880"/>
          </a:xfrm>
          <a:prstGeom prst="rect">
            <a:avLst/>
          </a:prstGeom>
          <a:noFill/>
          <a:ln/>
        </p:spPr>
        <p:txBody>
          <a:bodyPr wrap="square" lIns="0" tIns="0" rIns="0" bIns="0" rtlCol="0" anchor="ctr"/>
          <a:lstStyle/>
          <a:p>
            <a:pPr marL="0" indent="0" algn="l">
              <a:buNone/>
            </a:pPr>
            <a:r>
              <a:rPr lang="en-US" sz="1100" b="1" dirty="0">
                <a:solidFill>
                  <a:schemeClr val="accent1"/>
                </a:solidFill>
              </a:rPr>
              <a:t>N</a:t>
            </a:r>
            <a:endParaRPr lang="en-US" sz="1100" dirty="0"/>
          </a:p>
        </p:txBody>
      </p:sp>
      <p:sp>
        <p:nvSpPr>
          <p:cNvPr id="98" name="erd-relationship"/>
          <p:cNvSpPr/>
          <p:nvPr/>
        </p:nvSpPr>
        <p:spPr>
          <a:xfrm>
            <a:off x="8778240" y="2880360"/>
            <a:ext cx="594360" cy="0"/>
          </a:xfrm>
          <a:prstGeom prst="line">
            <a:avLst/>
          </a:prstGeom>
          <a:noFill/>
          <a:ln w="19050">
            <a:solidFill>
              <a:schemeClr val="accent5"/>
            </a:solidFill>
            <a:prstDash val="solid"/>
          </a:ln>
        </p:spPr>
      </p:sp>
      <p:sp>
        <p:nvSpPr>
          <p:cNvPr id="99" name="erd-cardinality"/>
          <p:cNvSpPr txBox="1"/>
          <p:nvPr/>
        </p:nvSpPr>
        <p:spPr>
          <a:xfrm>
            <a:off x="8796528" y="2660904"/>
            <a:ext cx="228600" cy="182880"/>
          </a:xfrm>
          <a:prstGeom prst="rect">
            <a:avLst/>
          </a:prstGeom>
          <a:noFill/>
          <a:ln/>
        </p:spPr>
        <p:txBody>
          <a:bodyPr wrap="square" lIns="0" tIns="0" rIns="0" bIns="0" rtlCol="0" anchor="ctr"/>
          <a:lstStyle/>
          <a:p>
            <a:pPr marL="0" indent="0" algn="l">
              <a:buNone/>
            </a:pPr>
            <a:r>
              <a:rPr lang="en-US" sz="1100" b="1" dirty="0">
                <a:solidFill>
                  <a:schemeClr val="accent1"/>
                </a:solidFill>
              </a:rPr>
              <a:t>N</a:t>
            </a:r>
            <a:endParaRPr lang="en-US" sz="1100" dirty="0"/>
          </a:p>
        </p:txBody>
      </p:sp>
      <p:sp>
        <p:nvSpPr>
          <p:cNvPr id="100" name="erd-cardinality"/>
          <p:cNvSpPr txBox="1"/>
          <p:nvPr/>
        </p:nvSpPr>
        <p:spPr>
          <a:xfrm>
            <a:off x="9116568" y="2660904"/>
            <a:ext cx="228600" cy="182880"/>
          </a:xfrm>
          <a:prstGeom prst="rect">
            <a:avLst/>
          </a:prstGeom>
          <a:noFill/>
          <a:ln/>
        </p:spPr>
        <p:txBody>
          <a:bodyPr wrap="square" lIns="0" tIns="0" rIns="0" bIns="0" rtlCol="0" anchor="ctr"/>
          <a:lstStyle/>
          <a:p>
            <a:pPr marL="0" indent="0" algn="r">
              <a:buNone/>
            </a:pPr>
            <a:r>
              <a:rPr lang="en-US" sz="1100" b="1" dirty="0">
                <a:solidFill>
                  <a:schemeClr val="accent1"/>
                </a:solidFill>
              </a:rPr>
              <a:t>1</a:t>
            </a:r>
            <a:endParaRPr lang="en-US" sz="1100" dirty="0"/>
          </a:p>
        </p:txBody>
      </p:sp>
      <p:sp>
        <p:nvSpPr>
          <p:cNvPr id="101" name="erd-relationship"/>
          <p:cNvSpPr/>
          <p:nvPr/>
        </p:nvSpPr>
        <p:spPr>
          <a:xfrm>
            <a:off x="6995160" y="3685032"/>
            <a:ext cx="0" cy="475488"/>
          </a:xfrm>
          <a:prstGeom prst="line">
            <a:avLst/>
          </a:prstGeom>
          <a:noFill/>
          <a:ln w="19050">
            <a:solidFill>
              <a:schemeClr val="accent5"/>
            </a:solidFill>
            <a:prstDash val="solid"/>
          </a:ln>
        </p:spPr>
      </p:sp>
      <p:sp>
        <p:nvSpPr>
          <p:cNvPr id="102" name="erd-cardinality"/>
          <p:cNvSpPr txBox="1"/>
          <p:nvPr/>
        </p:nvSpPr>
        <p:spPr>
          <a:xfrm>
            <a:off x="7059168" y="3712464"/>
            <a:ext cx="274320" cy="182880"/>
          </a:xfrm>
          <a:prstGeom prst="rect">
            <a:avLst/>
          </a:prstGeom>
          <a:noFill/>
          <a:ln/>
        </p:spPr>
        <p:txBody>
          <a:bodyPr wrap="square" lIns="0" tIns="0" rIns="0" bIns="0" rtlCol="0" anchor="ctr"/>
          <a:lstStyle/>
          <a:p>
            <a:pPr marL="0" indent="0" algn="l">
              <a:buNone/>
            </a:pPr>
            <a:r>
              <a:rPr lang="en-US" sz="1100" b="1" dirty="0">
                <a:solidFill>
                  <a:schemeClr val="accent1"/>
                </a:solidFill>
              </a:rPr>
              <a:t>1</a:t>
            </a:r>
            <a:endParaRPr lang="en-US" sz="1100" dirty="0"/>
          </a:p>
        </p:txBody>
      </p:sp>
      <p:sp>
        <p:nvSpPr>
          <p:cNvPr id="103" name="erd-cardinality"/>
          <p:cNvSpPr txBox="1"/>
          <p:nvPr/>
        </p:nvSpPr>
        <p:spPr>
          <a:xfrm>
            <a:off x="7059168" y="3941064"/>
            <a:ext cx="274320" cy="182880"/>
          </a:xfrm>
          <a:prstGeom prst="rect">
            <a:avLst/>
          </a:prstGeom>
          <a:noFill/>
          <a:ln/>
        </p:spPr>
        <p:txBody>
          <a:bodyPr wrap="square" lIns="0" tIns="0" rIns="0" bIns="0" rtlCol="0" anchor="ctr"/>
          <a:lstStyle/>
          <a:p>
            <a:pPr marL="0" indent="0" algn="l">
              <a:buNone/>
            </a:pPr>
            <a:r>
              <a:rPr lang="en-US" sz="1100" b="1" dirty="0">
                <a:solidFill>
                  <a:schemeClr val="accent1"/>
                </a:solidFill>
              </a:rPr>
              <a:t>1</a:t>
            </a:r>
            <a:endParaRPr lang="en-US" sz="1100" dirty="0"/>
          </a:p>
        </p:txBody>
      </p:sp>
      <p:sp>
        <p:nvSpPr>
          <p:cNvPr id="104" name="erd-relationship"/>
          <p:cNvSpPr/>
          <p:nvPr/>
        </p:nvSpPr>
        <p:spPr>
          <a:xfrm>
            <a:off x="8412480" y="3685032"/>
            <a:ext cx="0" cy="256032"/>
          </a:xfrm>
          <a:prstGeom prst="line">
            <a:avLst/>
          </a:prstGeom>
          <a:noFill/>
          <a:ln w="19050">
            <a:solidFill>
              <a:schemeClr val="accent5"/>
            </a:solidFill>
            <a:prstDash val="solid"/>
          </a:ln>
        </p:spPr>
      </p:sp>
      <p:sp>
        <p:nvSpPr>
          <p:cNvPr id="105" name="erd-relationship"/>
          <p:cNvSpPr/>
          <p:nvPr/>
        </p:nvSpPr>
        <p:spPr>
          <a:xfrm>
            <a:off x="8412480" y="3941064"/>
            <a:ext cx="2148840" cy="0"/>
          </a:xfrm>
          <a:prstGeom prst="line">
            <a:avLst/>
          </a:prstGeom>
          <a:noFill/>
          <a:ln w="19050">
            <a:solidFill>
              <a:schemeClr val="accent5"/>
            </a:solidFill>
            <a:prstDash val="solid"/>
          </a:ln>
        </p:spPr>
      </p:sp>
      <p:sp>
        <p:nvSpPr>
          <p:cNvPr id="106" name="erd-relationship"/>
          <p:cNvSpPr/>
          <p:nvPr/>
        </p:nvSpPr>
        <p:spPr>
          <a:xfrm>
            <a:off x="10561320" y="3941064"/>
            <a:ext cx="0" cy="219456"/>
          </a:xfrm>
          <a:prstGeom prst="line">
            <a:avLst/>
          </a:prstGeom>
          <a:noFill/>
          <a:ln w="19050">
            <a:solidFill>
              <a:schemeClr val="accent5"/>
            </a:solidFill>
            <a:prstDash val="solid"/>
          </a:ln>
        </p:spPr>
      </p:sp>
      <p:sp>
        <p:nvSpPr>
          <p:cNvPr id="107" name="erd-cardinality"/>
          <p:cNvSpPr txBox="1"/>
          <p:nvPr/>
        </p:nvSpPr>
        <p:spPr>
          <a:xfrm>
            <a:off x="8476488" y="3703320"/>
            <a:ext cx="274320" cy="182880"/>
          </a:xfrm>
          <a:prstGeom prst="rect">
            <a:avLst/>
          </a:prstGeom>
          <a:noFill/>
          <a:ln/>
        </p:spPr>
        <p:txBody>
          <a:bodyPr wrap="square" lIns="0" tIns="0" rIns="0" bIns="0" rtlCol="0" anchor="ctr"/>
          <a:lstStyle/>
          <a:p>
            <a:pPr marL="0" indent="0" algn="l">
              <a:buNone/>
            </a:pPr>
            <a:r>
              <a:rPr lang="en-US" sz="1100" b="1" dirty="0">
                <a:solidFill>
                  <a:schemeClr val="accent1"/>
                </a:solidFill>
              </a:rPr>
              <a:t>1</a:t>
            </a:r>
            <a:endParaRPr lang="en-US" sz="1100" dirty="0"/>
          </a:p>
        </p:txBody>
      </p:sp>
      <p:sp>
        <p:nvSpPr>
          <p:cNvPr id="108" name="erd-cardinality"/>
          <p:cNvSpPr txBox="1"/>
          <p:nvPr/>
        </p:nvSpPr>
        <p:spPr>
          <a:xfrm>
            <a:off x="10625328" y="3941064"/>
            <a:ext cx="457200" cy="182880"/>
          </a:xfrm>
          <a:prstGeom prst="rect">
            <a:avLst/>
          </a:prstGeom>
          <a:noFill/>
          <a:ln/>
        </p:spPr>
        <p:txBody>
          <a:bodyPr wrap="square" lIns="0" tIns="0" rIns="0" bIns="0" rtlCol="0" anchor="ctr"/>
          <a:lstStyle/>
          <a:p>
            <a:pPr marL="0" indent="0" algn="l">
              <a:buNone/>
            </a:pPr>
            <a:r>
              <a:rPr lang="en-US" sz="1100" b="1" dirty="0">
                <a:solidFill>
                  <a:schemeClr val="accent1"/>
                </a:solidFill>
              </a:rPr>
              <a:t>0..1</a:t>
            </a:r>
            <a:endParaRPr lang="en-US" sz="1100" dirty="0"/>
          </a:p>
        </p:txBody>
      </p:sp>
      <p:sp>
        <p:nvSpPr>
          <p:cNvPr id="109" name="erd-relationship"/>
          <p:cNvSpPr/>
          <p:nvPr/>
        </p:nvSpPr>
        <p:spPr>
          <a:xfrm>
            <a:off x="1645920" y="3685032"/>
            <a:ext cx="0" cy="475488"/>
          </a:xfrm>
          <a:prstGeom prst="line">
            <a:avLst/>
          </a:prstGeom>
          <a:noFill/>
          <a:ln w="19050">
            <a:solidFill>
              <a:schemeClr val="accent5"/>
            </a:solidFill>
            <a:prstDash val="solid"/>
          </a:ln>
        </p:spPr>
      </p:sp>
      <p:sp>
        <p:nvSpPr>
          <p:cNvPr id="110" name="erd-cardinality"/>
          <p:cNvSpPr txBox="1"/>
          <p:nvPr/>
        </p:nvSpPr>
        <p:spPr>
          <a:xfrm>
            <a:off x="1700784" y="3721608"/>
            <a:ext cx="274320" cy="182880"/>
          </a:xfrm>
          <a:prstGeom prst="rect">
            <a:avLst/>
          </a:prstGeom>
          <a:noFill/>
          <a:ln/>
        </p:spPr>
        <p:txBody>
          <a:bodyPr wrap="square" lIns="0" tIns="0" rIns="0" bIns="0" rtlCol="0" anchor="ctr"/>
          <a:lstStyle/>
          <a:p>
            <a:pPr marL="0" indent="0" algn="l">
              <a:buNone/>
            </a:pPr>
            <a:r>
              <a:rPr lang="en-US" sz="1100" b="1" dirty="0">
                <a:solidFill>
                  <a:schemeClr val="accent1"/>
                </a:solidFill>
              </a:rPr>
              <a:t>1</a:t>
            </a:r>
            <a:endParaRPr lang="en-US" sz="1100" dirty="0"/>
          </a:p>
        </p:txBody>
      </p:sp>
      <p:sp>
        <p:nvSpPr>
          <p:cNvPr id="111" name="erd-cardinality"/>
          <p:cNvSpPr txBox="1"/>
          <p:nvPr/>
        </p:nvSpPr>
        <p:spPr>
          <a:xfrm>
            <a:off x="1700784" y="3941064"/>
            <a:ext cx="274320" cy="182880"/>
          </a:xfrm>
          <a:prstGeom prst="rect">
            <a:avLst/>
          </a:prstGeom>
          <a:noFill/>
          <a:ln/>
        </p:spPr>
        <p:txBody>
          <a:bodyPr wrap="square" lIns="0" tIns="0" rIns="0" bIns="0" rtlCol="0" anchor="ctr"/>
          <a:lstStyle/>
          <a:p>
            <a:pPr marL="0" indent="0" algn="l">
              <a:buNone/>
            </a:pPr>
            <a:r>
              <a:rPr lang="en-US" sz="1100" b="1" dirty="0">
                <a:solidFill>
                  <a:schemeClr val="accent1"/>
                </a:solidFill>
              </a:rPr>
              <a:t>1</a:t>
            </a:r>
            <a:endParaRPr lang="en-US" sz="1100" dirty="0"/>
          </a:p>
        </p:txBody>
      </p:sp>
      <p:sp>
        <p:nvSpPr>
          <p:cNvPr id="112" name="legend-title"/>
          <p:cNvSpPr txBox="1"/>
          <p:nvPr/>
        </p:nvSpPr>
        <p:spPr>
          <a:xfrm>
            <a:off x="3429000" y="978408"/>
            <a:ext cx="2377440" cy="228600"/>
          </a:xfrm>
          <a:prstGeom prst="rect">
            <a:avLst/>
          </a:prstGeom>
          <a:noFill/>
          <a:ln/>
        </p:spPr>
        <p:txBody>
          <a:bodyPr wrap="square" lIns="0" tIns="0" rIns="0" bIns="0" rtlCol="0" anchor="t"/>
          <a:lstStyle/>
          <a:p>
            <a:pPr marL="0" indent="0">
              <a:buNone/>
            </a:pPr>
            <a:r>
              <a:rPr lang="en-US" sz="1200" b="1" dirty="0">
                <a:solidFill>
                  <a:schemeClr val="accent1"/>
                </a:solidFill>
              </a:rPr>
              <a:t>Table types</a:t>
            </a:r>
            <a:endParaRPr lang="en-US" sz="1200" dirty="0"/>
          </a:p>
        </p:txBody>
      </p:sp>
      <p:sp>
        <p:nvSpPr>
          <p:cNvPr id="113" name="legend-swatch"/>
          <p:cNvSpPr/>
          <p:nvPr/>
        </p:nvSpPr>
        <p:spPr>
          <a:xfrm>
            <a:off x="3429000" y="1307592"/>
            <a:ext cx="146304" cy="146304"/>
          </a:xfrm>
          <a:prstGeom prst="rect">
            <a:avLst/>
          </a:prstGeom>
          <a:solidFill>
            <a:srgbClr val="0B7A75"/>
          </a:solidFill>
          <a:ln w="6350">
            <a:solidFill>
              <a:srgbClr val="0B7A75"/>
            </a:solidFill>
            <a:prstDash val="solid"/>
          </a:ln>
        </p:spPr>
      </p:sp>
      <p:sp>
        <p:nvSpPr>
          <p:cNvPr id="114" name="legend-label"/>
          <p:cNvSpPr txBox="1"/>
          <p:nvPr/>
        </p:nvSpPr>
        <p:spPr>
          <a:xfrm>
            <a:off x="3648456" y="1280160"/>
            <a:ext cx="914400" cy="201168"/>
          </a:xfrm>
          <a:prstGeom prst="rect">
            <a:avLst/>
          </a:prstGeom>
          <a:noFill/>
          <a:ln/>
        </p:spPr>
        <p:txBody>
          <a:bodyPr wrap="square" lIns="0" tIns="0" rIns="0" bIns="0" rtlCol="0" anchor="ctr"/>
          <a:lstStyle/>
          <a:p>
            <a:pPr marL="0" indent="0">
              <a:buNone/>
            </a:pPr>
            <a:r>
              <a:rPr lang="en-US" sz="1100" dirty="0">
                <a:solidFill>
                  <a:schemeClr val="tx1"/>
                </a:solidFill>
              </a:rPr>
              <a:t>Master</a:t>
            </a:r>
            <a:endParaRPr lang="en-US" sz="1100" dirty="0"/>
          </a:p>
        </p:txBody>
      </p:sp>
      <p:sp>
        <p:nvSpPr>
          <p:cNvPr id="115" name="legend-swatch"/>
          <p:cNvSpPr/>
          <p:nvPr/>
        </p:nvSpPr>
        <p:spPr>
          <a:xfrm>
            <a:off x="4617720" y="1307592"/>
            <a:ext cx="146304" cy="146304"/>
          </a:xfrm>
          <a:prstGeom prst="rect">
            <a:avLst/>
          </a:prstGeom>
          <a:solidFill>
            <a:srgbClr val="C65A00"/>
          </a:solidFill>
          <a:ln w="6350">
            <a:solidFill>
              <a:srgbClr val="C65A00"/>
            </a:solidFill>
            <a:prstDash val="solid"/>
          </a:ln>
        </p:spPr>
      </p:sp>
      <p:sp>
        <p:nvSpPr>
          <p:cNvPr id="116" name="legend-label"/>
          <p:cNvSpPr txBox="1"/>
          <p:nvPr/>
        </p:nvSpPr>
        <p:spPr>
          <a:xfrm>
            <a:off x="4837176" y="1280160"/>
            <a:ext cx="914400" cy="201168"/>
          </a:xfrm>
          <a:prstGeom prst="rect">
            <a:avLst/>
          </a:prstGeom>
          <a:noFill/>
          <a:ln/>
        </p:spPr>
        <p:txBody>
          <a:bodyPr wrap="square" lIns="0" tIns="0" rIns="0" bIns="0" rtlCol="0" anchor="ctr"/>
          <a:lstStyle/>
          <a:p>
            <a:pPr marL="0" indent="0">
              <a:buNone/>
            </a:pPr>
            <a:r>
              <a:rPr lang="en-US" sz="1100" dirty="0">
                <a:solidFill>
                  <a:schemeClr val="tx1"/>
                </a:solidFill>
              </a:rPr>
              <a:t>Transaction</a:t>
            </a:r>
            <a:endParaRPr lang="en-US" sz="1100" dirty="0"/>
          </a:p>
        </p:txBody>
      </p:sp>
      <p:sp>
        <p:nvSpPr>
          <p:cNvPr id="117" name="legend-swatch"/>
          <p:cNvSpPr/>
          <p:nvPr/>
        </p:nvSpPr>
        <p:spPr>
          <a:xfrm>
            <a:off x="3429000" y="1563624"/>
            <a:ext cx="146304" cy="146304"/>
          </a:xfrm>
          <a:prstGeom prst="rect">
            <a:avLst/>
          </a:prstGeom>
          <a:solidFill>
            <a:srgbClr val="2F5FD0"/>
          </a:solidFill>
          <a:ln w="6350">
            <a:solidFill>
              <a:srgbClr val="2F5FD0"/>
            </a:solidFill>
            <a:prstDash val="solid"/>
          </a:ln>
        </p:spPr>
      </p:sp>
      <p:sp>
        <p:nvSpPr>
          <p:cNvPr id="118" name="legend-label"/>
          <p:cNvSpPr txBox="1"/>
          <p:nvPr/>
        </p:nvSpPr>
        <p:spPr>
          <a:xfrm>
            <a:off x="3648456" y="1536192"/>
            <a:ext cx="914400" cy="201168"/>
          </a:xfrm>
          <a:prstGeom prst="rect">
            <a:avLst/>
          </a:prstGeom>
          <a:noFill/>
          <a:ln/>
        </p:spPr>
        <p:txBody>
          <a:bodyPr wrap="square" lIns="0" tIns="0" rIns="0" bIns="0" rtlCol="0" anchor="ctr"/>
          <a:lstStyle/>
          <a:p>
            <a:pPr marL="0" indent="0">
              <a:buNone/>
            </a:pPr>
            <a:r>
              <a:rPr lang="en-US" sz="1100" dirty="0">
                <a:solidFill>
                  <a:schemeClr val="tx1"/>
                </a:solidFill>
              </a:rPr>
              <a:t>Reference</a:t>
            </a:r>
            <a:endParaRPr lang="en-US" sz="1100" dirty="0"/>
          </a:p>
        </p:txBody>
      </p:sp>
      <p:sp>
        <p:nvSpPr>
          <p:cNvPr id="119" name="legend-swatch"/>
          <p:cNvSpPr/>
          <p:nvPr/>
        </p:nvSpPr>
        <p:spPr>
          <a:xfrm>
            <a:off x="4617720" y="1563624"/>
            <a:ext cx="146304" cy="146304"/>
          </a:xfrm>
          <a:prstGeom prst="rect">
            <a:avLst/>
          </a:prstGeom>
          <a:solidFill>
            <a:srgbClr val="5B6B82"/>
          </a:solidFill>
          <a:ln w="6350">
            <a:solidFill>
              <a:srgbClr val="5B6B82"/>
            </a:solidFill>
            <a:prstDash val="solid"/>
          </a:ln>
        </p:spPr>
      </p:sp>
      <p:sp>
        <p:nvSpPr>
          <p:cNvPr id="120" name="legend-label"/>
          <p:cNvSpPr txBox="1"/>
          <p:nvPr/>
        </p:nvSpPr>
        <p:spPr>
          <a:xfrm>
            <a:off x="4837176" y="1536192"/>
            <a:ext cx="914400" cy="201168"/>
          </a:xfrm>
          <a:prstGeom prst="rect">
            <a:avLst/>
          </a:prstGeom>
          <a:noFill/>
          <a:ln/>
        </p:spPr>
        <p:txBody>
          <a:bodyPr wrap="square" lIns="0" tIns="0" rIns="0" bIns="0" rtlCol="0" anchor="ctr"/>
          <a:lstStyle/>
          <a:p>
            <a:pPr marL="0" indent="0">
              <a:buNone/>
            </a:pPr>
            <a:r>
              <a:rPr lang="en-US" sz="1100" dirty="0">
                <a:solidFill>
                  <a:schemeClr val="tx1"/>
                </a:solidFill>
              </a:rPr>
              <a:t>Operational</a:t>
            </a:r>
            <a:endParaRPr lang="en-US" sz="1100" dirty="0"/>
          </a:p>
        </p:txBody>
      </p:sp>
      <p:sp>
        <p:nvSpPr>
          <p:cNvPr id="121" name="legend-keys"/>
          <p:cNvSpPr txBox="1"/>
          <p:nvPr/>
        </p:nvSpPr>
        <p:spPr>
          <a:xfrm>
            <a:off x="3429000" y="1828800"/>
            <a:ext cx="2468880" cy="201168"/>
          </a:xfrm>
          <a:prstGeom prst="rect">
            <a:avLst/>
          </a:prstGeom>
          <a:noFill/>
          <a:ln/>
        </p:spPr>
        <p:txBody>
          <a:bodyPr wrap="square" lIns="0" tIns="0" rIns="0" bIns="0" rtlCol="0" anchor="t"/>
          <a:lstStyle/>
          <a:p>
            <a:pPr marL="0" indent="0">
              <a:buNone/>
            </a:pPr>
            <a:r>
              <a:rPr lang="en-US" sz="1000" b="1" dirty="0">
                <a:solidFill>
                  <a:schemeClr val="accent1"/>
                </a:solidFill>
              </a:rPr>
              <a:t>PK </a:t>
            </a:r>
            <a:r>
              <a:rPr lang="en-US" sz="1000" dirty="0">
                <a:solidFill>
                  <a:schemeClr val="accent5"/>
                </a:solidFill>
              </a:rPr>
              <a:t>primary key   </a:t>
            </a:r>
            <a:r>
              <a:rPr lang="en-US" sz="1000" b="1" dirty="0">
                <a:solidFill>
                  <a:schemeClr val="accent2"/>
                </a:solidFill>
              </a:rPr>
              <a:t>FK </a:t>
            </a:r>
            <a:r>
              <a:rPr lang="en-US" sz="1000" dirty="0">
                <a:solidFill>
                  <a:schemeClr val="accent5"/>
                </a:solidFill>
              </a:rPr>
              <a:t>foreign key   </a:t>
            </a:r>
            <a:r>
              <a:rPr lang="en-US" sz="1000" b="1" dirty="0">
                <a:solidFill>
                  <a:schemeClr val="accent2"/>
                </a:solidFill>
              </a:rPr>
              <a:t>UQ </a:t>
            </a:r>
            <a:r>
              <a:rPr lang="en-US" sz="1000" dirty="0">
                <a:solidFill>
                  <a:schemeClr val="accent5"/>
                </a:solidFill>
              </a:rPr>
              <a:t>unique</a:t>
            </a:r>
            <a:endParaRPr lang="en-US" sz="1000" dirty="0"/>
          </a:p>
        </p:txBody>
      </p:sp>
      <p:sp>
        <p:nvSpPr>
          <p:cNvPr id="122" name="dataset-note"/>
          <p:cNvSpPr/>
          <p:nvPr/>
        </p:nvSpPr>
        <p:spPr>
          <a:xfrm>
            <a:off x="3429000" y="4160520"/>
            <a:ext cx="2377440" cy="1417320"/>
          </a:xfrm>
          <a:prstGeom prst="roundRect">
            <a:avLst>
              <a:gd name="adj" fmla="val 7742"/>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23" name="note-title"/>
          <p:cNvSpPr txBox="1"/>
          <p:nvPr/>
        </p:nvSpPr>
        <p:spPr>
          <a:xfrm>
            <a:off x="3566160" y="4224528"/>
            <a:ext cx="2148840" cy="228600"/>
          </a:xfrm>
          <a:prstGeom prst="rect">
            <a:avLst/>
          </a:prstGeom>
          <a:noFill/>
          <a:ln/>
        </p:spPr>
        <p:txBody>
          <a:bodyPr wrap="square" lIns="0" tIns="0" rIns="0" bIns="0" rtlCol="0" anchor="t"/>
          <a:lstStyle/>
          <a:p>
            <a:pPr marL="0" indent="0">
              <a:buNone/>
            </a:pPr>
            <a:r>
              <a:rPr lang="en-US" sz="1200" b="1" dirty="0">
                <a:solidFill>
                  <a:schemeClr val="accent1"/>
                </a:solidFill>
              </a:rPr>
              <a:t>Dataset characteristics</a:t>
            </a:r>
            <a:endParaRPr lang="en-US" sz="1200" dirty="0"/>
          </a:p>
        </p:txBody>
      </p:sp>
      <p:sp>
        <p:nvSpPr>
          <p:cNvPr id="124" name="note-list"/>
          <p:cNvSpPr txBox="1"/>
          <p:nvPr/>
        </p:nvSpPr>
        <p:spPr>
          <a:xfrm>
            <a:off x="3566160" y="4498848"/>
            <a:ext cx="2148840" cy="100584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chemeClr val="tx1"/>
                </a:solidFill>
              </a:rPr>
              <a:t>21,629 orders = 21,629 order_items (1 per order)</a:t>
            </a:r>
            <a:endParaRPr lang="en-US" sz="1000" dirty="0"/>
          </a:p>
          <a:p>
            <a:pPr marL="342900" indent="-342900">
              <a:spcAft>
                <a:spcPts val="200"/>
              </a:spcAft>
              <a:buSzPct val="100000"/>
              <a:buChar char="•"/>
            </a:pPr>
            <a:r>
              <a:rPr lang="en-US" sz="1000" dirty="0">
                <a:solidFill>
                  <a:schemeClr val="tx1"/>
                </a:solidFill>
              </a:rPr>
              <a:t>488 cancelled orders: no shipping row</a:t>
            </a:r>
            <a:endParaRPr lang="en-US" sz="1000" dirty="0"/>
          </a:p>
          <a:p>
            <a:pPr marL="342900" indent="-342900">
              <a:spcAft>
                <a:spcPts val="200"/>
              </a:spcAft>
              <a:buSzPct val="100000"/>
              <a:buChar char="•"/>
            </a:pPr>
            <a:r>
              <a:rPr lang="en-US" sz="1000" dirty="0">
                <a:solidFill>
                  <a:schemeClr val="tx1"/>
                </a:solidFill>
              </a:rPr>
              <a:t>No registration_date in customers</a:t>
            </a:r>
            <a:endParaRPr lang="en-US" sz="1000" dirty="0"/>
          </a:p>
        </p:txBody>
      </p:sp>
      <p:sp>
        <p:nvSpPr>
          <p:cNvPr id="125" name="observation-panel"/>
          <p:cNvSpPr/>
          <p:nvPr/>
        </p:nvSpPr>
        <p:spPr>
          <a:xfrm>
            <a:off x="457200" y="5715000"/>
            <a:ext cx="11274552" cy="658368"/>
          </a:xfrm>
          <a:prstGeom prst="roundRect">
            <a:avLst>
              <a:gd name="adj" fmla="val 16667"/>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26" name="obs-title"/>
          <p:cNvSpPr txBox="1"/>
          <p:nvPr/>
        </p:nvSpPr>
        <p:spPr>
          <a:xfrm>
            <a:off x="594360" y="5715000"/>
            <a:ext cx="1371600" cy="658368"/>
          </a:xfrm>
          <a:prstGeom prst="rect">
            <a:avLst/>
          </a:prstGeom>
          <a:noFill/>
          <a:ln/>
        </p:spPr>
        <p:txBody>
          <a:bodyPr wrap="square" lIns="0" tIns="0" rIns="0" bIns="0" rtlCol="0" anchor="ctr"/>
          <a:lstStyle/>
          <a:p>
            <a:pPr marL="0" indent="0">
              <a:buNone/>
            </a:pPr>
            <a:r>
              <a:rPr lang="en-US" sz="1200" b="1" dirty="0">
                <a:solidFill>
                  <a:schemeClr val="accent1"/>
                </a:solidFill>
              </a:rPr>
              <a:t>Key relationship observations</a:t>
            </a:r>
            <a:endParaRPr lang="en-US" sz="1200" dirty="0"/>
          </a:p>
        </p:txBody>
      </p:sp>
      <p:sp>
        <p:nvSpPr>
          <p:cNvPr id="127" name="obs-item"/>
          <p:cNvSpPr txBox="1"/>
          <p:nvPr/>
        </p:nvSpPr>
        <p:spPr>
          <a:xfrm>
            <a:off x="2103120" y="5742432"/>
            <a:ext cx="2286000" cy="292608"/>
          </a:xfrm>
          <a:prstGeom prst="rect">
            <a:avLst/>
          </a:prstGeom>
          <a:noFill/>
          <a:ln/>
        </p:spPr>
        <p:txBody>
          <a:bodyPr wrap="square" lIns="0" tIns="0" rIns="0" bIns="0" rtlCol="0" anchor="ctr"/>
          <a:lstStyle/>
          <a:p>
            <a:pPr marL="0" indent="0">
              <a:buNone/>
            </a:pPr>
            <a:r>
              <a:rPr lang="en-US" sz="1000" dirty="0">
                <a:solidFill>
                  <a:schemeClr val="tx1"/>
                </a:solidFill>
              </a:rPr>
              <a:t>Customers → Orders: 1:N</a:t>
            </a:r>
            <a:endParaRPr lang="en-US" sz="1000" dirty="0"/>
          </a:p>
        </p:txBody>
      </p:sp>
      <p:sp>
        <p:nvSpPr>
          <p:cNvPr id="128" name="obs-item"/>
          <p:cNvSpPr txBox="1"/>
          <p:nvPr/>
        </p:nvSpPr>
        <p:spPr>
          <a:xfrm>
            <a:off x="4480560" y="5742432"/>
            <a:ext cx="2286000" cy="292608"/>
          </a:xfrm>
          <a:prstGeom prst="rect">
            <a:avLst/>
          </a:prstGeom>
          <a:noFill/>
          <a:ln/>
        </p:spPr>
        <p:txBody>
          <a:bodyPr wrap="square" lIns="0" tIns="0" rIns="0" bIns="0" rtlCol="0" anchor="ctr"/>
          <a:lstStyle/>
          <a:p>
            <a:pPr marL="0" indent="0">
              <a:buNone/>
            </a:pPr>
            <a:r>
              <a:rPr lang="en-US" sz="1000" dirty="0">
                <a:solidFill>
                  <a:schemeClr val="tx1"/>
                </a:solidFill>
              </a:rPr>
              <a:t>Sellers → Orders: 1:N</a:t>
            </a:r>
            <a:endParaRPr lang="en-US" sz="1000" dirty="0"/>
          </a:p>
        </p:txBody>
      </p:sp>
      <p:sp>
        <p:nvSpPr>
          <p:cNvPr id="129" name="obs-item"/>
          <p:cNvSpPr txBox="1"/>
          <p:nvPr/>
        </p:nvSpPr>
        <p:spPr>
          <a:xfrm>
            <a:off x="6858000" y="5742432"/>
            <a:ext cx="2286000" cy="292608"/>
          </a:xfrm>
          <a:prstGeom prst="rect">
            <a:avLst/>
          </a:prstGeom>
          <a:noFill/>
          <a:ln/>
        </p:spPr>
        <p:txBody>
          <a:bodyPr wrap="square" lIns="0" tIns="0" rIns="0" bIns="0" rtlCol="0" anchor="ctr"/>
          <a:lstStyle/>
          <a:p>
            <a:pPr marL="0" indent="0">
              <a:buNone/>
            </a:pPr>
            <a:r>
              <a:rPr lang="en-US" sz="1000" dirty="0">
                <a:solidFill>
                  <a:schemeClr val="tx1"/>
                </a:solidFill>
              </a:rPr>
              <a:t>Categories → Products: 1:N</a:t>
            </a:r>
            <a:endParaRPr lang="en-US" sz="1000" dirty="0"/>
          </a:p>
        </p:txBody>
      </p:sp>
      <p:sp>
        <p:nvSpPr>
          <p:cNvPr id="130" name="obs-item"/>
          <p:cNvSpPr txBox="1"/>
          <p:nvPr/>
        </p:nvSpPr>
        <p:spPr>
          <a:xfrm>
            <a:off x="9235440" y="5742432"/>
            <a:ext cx="2286000" cy="292608"/>
          </a:xfrm>
          <a:prstGeom prst="rect">
            <a:avLst/>
          </a:prstGeom>
          <a:noFill/>
          <a:ln/>
        </p:spPr>
        <p:txBody>
          <a:bodyPr wrap="square" lIns="0" tIns="0" rIns="0" bIns="0" rtlCol="0" anchor="ctr"/>
          <a:lstStyle/>
          <a:p>
            <a:pPr marL="0" indent="0">
              <a:buNone/>
            </a:pPr>
            <a:r>
              <a:rPr lang="en-US" sz="1000" dirty="0">
                <a:solidFill>
                  <a:schemeClr val="tx1"/>
                </a:solidFill>
              </a:rPr>
              <a:t>Products → Order Items: 1:N</a:t>
            </a:r>
            <a:endParaRPr lang="en-US" sz="1000" dirty="0"/>
          </a:p>
        </p:txBody>
      </p:sp>
      <p:sp>
        <p:nvSpPr>
          <p:cNvPr id="131" name="obs-item"/>
          <p:cNvSpPr txBox="1"/>
          <p:nvPr/>
        </p:nvSpPr>
        <p:spPr>
          <a:xfrm>
            <a:off x="2103120" y="6053328"/>
            <a:ext cx="2286000" cy="292608"/>
          </a:xfrm>
          <a:prstGeom prst="rect">
            <a:avLst/>
          </a:prstGeom>
          <a:noFill/>
          <a:ln/>
        </p:spPr>
        <p:txBody>
          <a:bodyPr wrap="square" lIns="0" tIns="0" rIns="0" bIns="0" rtlCol="0" anchor="ctr"/>
          <a:lstStyle/>
          <a:p>
            <a:pPr marL="0" indent="0">
              <a:buNone/>
            </a:pPr>
            <a:r>
              <a:rPr lang="en-US" sz="1000" dirty="0">
                <a:solidFill>
                  <a:schemeClr val="tx1"/>
                </a:solidFill>
              </a:rPr>
              <a:t>Products → Inventory: 1:1 in supplied data</a:t>
            </a:r>
            <a:endParaRPr lang="en-US" sz="1000" dirty="0"/>
          </a:p>
        </p:txBody>
      </p:sp>
      <p:sp>
        <p:nvSpPr>
          <p:cNvPr id="132" name="obs-item"/>
          <p:cNvSpPr txBox="1"/>
          <p:nvPr/>
        </p:nvSpPr>
        <p:spPr>
          <a:xfrm>
            <a:off x="4480560" y="6053328"/>
            <a:ext cx="2286000" cy="292608"/>
          </a:xfrm>
          <a:prstGeom prst="rect">
            <a:avLst/>
          </a:prstGeom>
          <a:noFill/>
          <a:ln/>
        </p:spPr>
        <p:txBody>
          <a:bodyPr wrap="square" lIns="0" tIns="0" rIns="0" bIns="0" rtlCol="0" anchor="ctr"/>
          <a:lstStyle/>
          <a:p>
            <a:pPr marL="0" indent="0">
              <a:buNone/>
            </a:pPr>
            <a:r>
              <a:rPr lang="en-US" sz="1000" dirty="0">
                <a:solidFill>
                  <a:schemeClr val="tx1"/>
                </a:solidFill>
              </a:rPr>
              <a:t>Orders → Payments: 1:1 in supplied data</a:t>
            </a:r>
            <a:endParaRPr lang="en-US" sz="1000" dirty="0"/>
          </a:p>
        </p:txBody>
      </p:sp>
      <p:sp>
        <p:nvSpPr>
          <p:cNvPr id="133" name="obs-item"/>
          <p:cNvSpPr txBox="1"/>
          <p:nvPr/>
        </p:nvSpPr>
        <p:spPr>
          <a:xfrm>
            <a:off x="6858000" y="6053328"/>
            <a:ext cx="2286000" cy="292608"/>
          </a:xfrm>
          <a:prstGeom prst="rect">
            <a:avLst/>
          </a:prstGeom>
          <a:noFill/>
          <a:ln/>
        </p:spPr>
        <p:txBody>
          <a:bodyPr wrap="square" lIns="0" tIns="0" rIns="0" bIns="0" rtlCol="0" anchor="ctr"/>
          <a:lstStyle/>
          <a:p>
            <a:pPr marL="0" indent="0">
              <a:buNone/>
            </a:pPr>
            <a:r>
              <a:rPr lang="en-US" sz="1000" dirty="0">
                <a:solidFill>
                  <a:schemeClr val="tx1"/>
                </a:solidFill>
              </a:rPr>
              <a:t>Orders → Shipping: 0..1 in supplied data</a:t>
            </a:r>
            <a:endParaRPr lang="en-US" sz="1000" dirty="0"/>
          </a:p>
        </p:txBody>
      </p:sp>
      <p:sp>
        <p:nvSpPr>
          <p:cNvPr id="134" name="obs-item"/>
          <p:cNvSpPr txBox="1"/>
          <p:nvPr/>
        </p:nvSpPr>
        <p:spPr>
          <a:xfrm>
            <a:off x="9235440" y="6053328"/>
            <a:ext cx="2286000" cy="292608"/>
          </a:xfrm>
          <a:prstGeom prst="rect">
            <a:avLst/>
          </a:prstGeom>
          <a:noFill/>
          <a:ln/>
        </p:spPr>
        <p:txBody>
          <a:bodyPr wrap="square" lIns="0" tIns="0" rIns="0" bIns="0" rtlCol="0" anchor="ctr"/>
          <a:lstStyle/>
          <a:p>
            <a:pPr marL="0" indent="0">
              <a:buNone/>
            </a:pPr>
            <a:r>
              <a:rPr lang="en-US" sz="1000" dirty="0">
                <a:solidFill>
                  <a:schemeClr val="tx1"/>
                </a:solidFill>
              </a:rPr>
              <a:t>Orders → Order Items: 1:N by design; 1 row per order here</a:t>
            </a:r>
            <a:endParaRPr lang="en-US" sz="1000" dirty="0"/>
          </a:p>
        </p:txBody>
      </p:sp>
      <p:sp>
        <p:nvSpPr>
          <p:cNvPr id="135"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Is the data reliable? Keys are clean, types are not</a:t>
            </a:r>
            <a:endParaRPr lang="en-US" sz="2800" dirty="0"/>
          </a:p>
        </p:txBody>
      </p:sp>
      <p:sp>
        <p:nvSpPr>
          <p:cNvPr id="3" name="scorecard-tile"/>
          <p:cNvSpPr/>
          <p:nvPr/>
        </p:nvSpPr>
        <p:spPr>
          <a:xfrm>
            <a:off x="457200" y="1188720"/>
            <a:ext cx="2743200" cy="896112"/>
          </a:xfrm>
          <a:prstGeom prst="roundRect">
            <a:avLst>
              <a:gd name="adj" fmla="val 1224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4" name="score-label"/>
          <p:cNvSpPr txBox="1"/>
          <p:nvPr/>
        </p:nvSpPr>
        <p:spPr>
          <a:xfrm>
            <a:off x="621792" y="1261872"/>
            <a:ext cx="2468880" cy="201168"/>
          </a:xfrm>
          <a:prstGeom prst="rect">
            <a:avLst/>
          </a:prstGeom>
          <a:noFill/>
          <a:ln/>
        </p:spPr>
        <p:txBody>
          <a:bodyPr wrap="square" lIns="0" tIns="0" rIns="0" bIns="0" rtlCol="0" anchor="t"/>
          <a:lstStyle/>
          <a:p>
            <a:pPr marL="0" indent="0">
              <a:buNone/>
            </a:pPr>
            <a:r>
              <a:rPr lang="en-US" sz="1100" dirty="0">
                <a:solidFill>
                  <a:schemeClr val="accent5"/>
                </a:solidFill>
              </a:rPr>
              <a:t>Structure</a:t>
            </a:r>
            <a:endParaRPr lang="en-US" sz="1100" dirty="0"/>
          </a:p>
        </p:txBody>
      </p:sp>
      <p:sp>
        <p:nvSpPr>
          <p:cNvPr id="5" name="score-value"/>
          <p:cNvSpPr txBox="1"/>
          <p:nvPr/>
        </p:nvSpPr>
        <p:spPr>
          <a:xfrm>
            <a:off x="621792" y="1463040"/>
            <a:ext cx="2468880" cy="384048"/>
          </a:xfrm>
          <a:prstGeom prst="rect">
            <a:avLst/>
          </a:prstGeom>
          <a:noFill/>
          <a:ln/>
        </p:spPr>
        <p:txBody>
          <a:bodyPr wrap="square" lIns="0" tIns="0" rIns="0" bIns="0" rtlCol="0" anchor="ctr"/>
          <a:lstStyle/>
          <a:p>
            <a:pPr marL="0" indent="0">
              <a:buNone/>
            </a:pPr>
            <a:r>
              <a:rPr lang="en-US" sz="2200" b="1" dirty="0">
                <a:solidFill>
                  <a:schemeClr val="accent2"/>
                </a:solidFill>
                <a:latin typeface="Cambria" pitchFamily="34" charset="0"/>
                <a:ea typeface="Cambria" pitchFamily="34" charset="-122"/>
                <a:cs typeface="Cambria" pitchFamily="34" charset="-120"/>
              </a:rPr>
              <a:t>9</a:t>
            </a:r>
            <a:endParaRPr lang="en-US" sz="2200" dirty="0"/>
          </a:p>
        </p:txBody>
      </p:sp>
      <p:sp>
        <p:nvSpPr>
          <p:cNvPr id="6" name="score-note"/>
          <p:cNvSpPr txBox="1"/>
          <p:nvPr/>
        </p:nvSpPr>
        <p:spPr>
          <a:xfrm>
            <a:off x="621792" y="1847088"/>
            <a:ext cx="2468880" cy="182880"/>
          </a:xfrm>
          <a:prstGeom prst="rect">
            <a:avLst/>
          </a:prstGeom>
          <a:noFill/>
          <a:ln/>
        </p:spPr>
        <p:txBody>
          <a:bodyPr wrap="square" lIns="0" tIns="0" rIns="0" bIns="0" rtlCol="0" anchor="t"/>
          <a:lstStyle/>
          <a:p>
            <a:pPr marL="0" indent="0">
              <a:buNone/>
            </a:pPr>
            <a:r>
              <a:rPr lang="en-US" sz="1000" dirty="0">
                <a:solidFill>
                  <a:schemeClr val="accent5"/>
                </a:solidFill>
              </a:rPr>
              <a:t>tables analyzed</a:t>
            </a:r>
            <a:endParaRPr lang="en-US" sz="1000" dirty="0"/>
          </a:p>
        </p:txBody>
      </p:sp>
      <p:sp>
        <p:nvSpPr>
          <p:cNvPr id="7" name="scorecard-tile"/>
          <p:cNvSpPr/>
          <p:nvPr/>
        </p:nvSpPr>
        <p:spPr>
          <a:xfrm>
            <a:off x="3383280" y="1188720"/>
            <a:ext cx="2743200" cy="896112"/>
          </a:xfrm>
          <a:prstGeom prst="roundRect">
            <a:avLst>
              <a:gd name="adj" fmla="val 1224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8" name="score-label"/>
          <p:cNvSpPr txBox="1"/>
          <p:nvPr/>
        </p:nvSpPr>
        <p:spPr>
          <a:xfrm>
            <a:off x="3547872" y="1261872"/>
            <a:ext cx="2468880" cy="201168"/>
          </a:xfrm>
          <a:prstGeom prst="rect">
            <a:avLst/>
          </a:prstGeom>
          <a:noFill/>
          <a:ln/>
        </p:spPr>
        <p:txBody>
          <a:bodyPr wrap="square" lIns="0" tIns="0" rIns="0" bIns="0" rtlCol="0" anchor="t"/>
          <a:lstStyle/>
          <a:p>
            <a:pPr marL="0" indent="0">
              <a:buNone/>
            </a:pPr>
            <a:r>
              <a:rPr lang="en-US" sz="1100" dirty="0">
                <a:solidFill>
                  <a:schemeClr val="accent5"/>
                </a:solidFill>
              </a:rPr>
              <a:t>Customers</a:t>
            </a:r>
            <a:endParaRPr lang="en-US" sz="1100" dirty="0"/>
          </a:p>
        </p:txBody>
      </p:sp>
      <p:sp>
        <p:nvSpPr>
          <p:cNvPr id="9" name="score-value"/>
          <p:cNvSpPr txBox="1"/>
          <p:nvPr/>
        </p:nvSpPr>
        <p:spPr>
          <a:xfrm>
            <a:off x="3547872" y="1463040"/>
            <a:ext cx="2468880" cy="384048"/>
          </a:xfrm>
          <a:prstGeom prst="rect">
            <a:avLst/>
          </a:prstGeom>
          <a:noFill/>
          <a:ln/>
        </p:spPr>
        <p:txBody>
          <a:bodyPr wrap="square" lIns="0" tIns="0" rIns="0" bIns="0" rtlCol="0" anchor="ctr"/>
          <a:lstStyle/>
          <a:p>
            <a:pPr marL="0" indent="0">
              <a:buNone/>
            </a:pPr>
            <a:r>
              <a:rPr lang="en-US" sz="2200" b="1" dirty="0">
                <a:solidFill>
                  <a:schemeClr val="accent2"/>
                </a:solidFill>
                <a:latin typeface="Cambria" pitchFamily="34" charset="0"/>
                <a:ea typeface="Cambria" pitchFamily="34" charset="-122"/>
                <a:cs typeface="Cambria" pitchFamily="34" charset="-120"/>
              </a:rPr>
              <a:t>898</a:t>
            </a:r>
            <a:endParaRPr lang="en-US" sz="2200" dirty="0"/>
          </a:p>
        </p:txBody>
      </p:sp>
      <p:sp>
        <p:nvSpPr>
          <p:cNvPr id="10" name="score-note"/>
          <p:cNvSpPr txBox="1"/>
          <p:nvPr/>
        </p:nvSpPr>
        <p:spPr>
          <a:xfrm>
            <a:off x="3547872" y="1847088"/>
            <a:ext cx="2468880" cy="182880"/>
          </a:xfrm>
          <a:prstGeom prst="rect">
            <a:avLst/>
          </a:prstGeom>
          <a:noFill/>
          <a:ln/>
        </p:spPr>
        <p:txBody>
          <a:bodyPr wrap="square" lIns="0" tIns="0" rIns="0" bIns="0" rtlCol="0" anchor="t"/>
          <a:lstStyle/>
          <a:p>
            <a:pPr marL="0" indent="0">
              <a:buNone/>
            </a:pPr>
            <a:r>
              <a:rPr lang="en-US" sz="1000" dirty="0">
                <a:solidFill>
                  <a:schemeClr val="accent5"/>
                </a:solidFill>
              </a:rPr>
              <a:t>customer master rows</a:t>
            </a:r>
            <a:endParaRPr lang="en-US" sz="1000" dirty="0"/>
          </a:p>
        </p:txBody>
      </p:sp>
      <p:sp>
        <p:nvSpPr>
          <p:cNvPr id="11" name="scorecard-tile"/>
          <p:cNvSpPr/>
          <p:nvPr/>
        </p:nvSpPr>
        <p:spPr>
          <a:xfrm>
            <a:off x="457200" y="2221992"/>
            <a:ext cx="2743200" cy="896112"/>
          </a:xfrm>
          <a:prstGeom prst="roundRect">
            <a:avLst>
              <a:gd name="adj" fmla="val 1224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2" name="score-label"/>
          <p:cNvSpPr txBox="1"/>
          <p:nvPr/>
        </p:nvSpPr>
        <p:spPr>
          <a:xfrm>
            <a:off x="621792" y="2295144"/>
            <a:ext cx="2468880" cy="201168"/>
          </a:xfrm>
          <a:prstGeom prst="rect">
            <a:avLst/>
          </a:prstGeom>
          <a:noFill/>
          <a:ln/>
        </p:spPr>
        <p:txBody>
          <a:bodyPr wrap="square" lIns="0" tIns="0" rIns="0" bIns="0" rtlCol="0" anchor="t"/>
          <a:lstStyle/>
          <a:p>
            <a:pPr marL="0" indent="0">
              <a:buNone/>
            </a:pPr>
            <a:r>
              <a:rPr lang="en-US" sz="1100" dirty="0">
                <a:solidFill>
                  <a:schemeClr val="accent5"/>
                </a:solidFill>
              </a:rPr>
              <a:t>Products</a:t>
            </a:r>
            <a:endParaRPr lang="en-US" sz="1100" dirty="0"/>
          </a:p>
        </p:txBody>
      </p:sp>
      <p:sp>
        <p:nvSpPr>
          <p:cNvPr id="13" name="score-value"/>
          <p:cNvSpPr txBox="1"/>
          <p:nvPr/>
        </p:nvSpPr>
        <p:spPr>
          <a:xfrm>
            <a:off x="621792" y="2496312"/>
            <a:ext cx="2468880" cy="384048"/>
          </a:xfrm>
          <a:prstGeom prst="rect">
            <a:avLst/>
          </a:prstGeom>
          <a:noFill/>
          <a:ln/>
        </p:spPr>
        <p:txBody>
          <a:bodyPr wrap="square" lIns="0" tIns="0" rIns="0" bIns="0" rtlCol="0" anchor="ctr"/>
          <a:lstStyle/>
          <a:p>
            <a:pPr marL="0" indent="0">
              <a:buNone/>
            </a:pPr>
            <a:r>
              <a:rPr lang="en-US" sz="2200" b="1" dirty="0">
                <a:solidFill>
                  <a:schemeClr val="accent2"/>
                </a:solidFill>
                <a:latin typeface="Cambria" pitchFamily="34" charset="0"/>
                <a:ea typeface="Cambria" pitchFamily="34" charset="-122"/>
                <a:cs typeface="Cambria" pitchFamily="34" charset="-120"/>
              </a:rPr>
              <a:t>765</a:t>
            </a:r>
            <a:endParaRPr lang="en-US" sz="2200" dirty="0"/>
          </a:p>
        </p:txBody>
      </p:sp>
      <p:sp>
        <p:nvSpPr>
          <p:cNvPr id="14" name="score-note"/>
          <p:cNvSpPr txBox="1"/>
          <p:nvPr/>
        </p:nvSpPr>
        <p:spPr>
          <a:xfrm>
            <a:off x="621792" y="2880360"/>
            <a:ext cx="2468880" cy="182880"/>
          </a:xfrm>
          <a:prstGeom prst="rect">
            <a:avLst/>
          </a:prstGeom>
          <a:noFill/>
          <a:ln/>
        </p:spPr>
        <p:txBody>
          <a:bodyPr wrap="square" lIns="0" tIns="0" rIns="0" bIns="0" rtlCol="0" anchor="t"/>
          <a:lstStyle/>
          <a:p>
            <a:pPr marL="0" indent="0">
              <a:buNone/>
            </a:pPr>
            <a:r>
              <a:rPr lang="en-US" sz="1000" dirty="0">
                <a:solidFill>
                  <a:schemeClr val="accent5"/>
                </a:solidFill>
              </a:rPr>
              <a:t>product master rows</a:t>
            </a:r>
            <a:endParaRPr lang="en-US" sz="1000" dirty="0"/>
          </a:p>
        </p:txBody>
      </p:sp>
      <p:sp>
        <p:nvSpPr>
          <p:cNvPr id="15" name="scorecard-tile"/>
          <p:cNvSpPr/>
          <p:nvPr/>
        </p:nvSpPr>
        <p:spPr>
          <a:xfrm>
            <a:off x="3383280" y="2221992"/>
            <a:ext cx="2743200" cy="896112"/>
          </a:xfrm>
          <a:prstGeom prst="roundRect">
            <a:avLst>
              <a:gd name="adj" fmla="val 1224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6" name="score-label"/>
          <p:cNvSpPr txBox="1"/>
          <p:nvPr/>
        </p:nvSpPr>
        <p:spPr>
          <a:xfrm>
            <a:off x="3547872" y="2295144"/>
            <a:ext cx="2468880" cy="201168"/>
          </a:xfrm>
          <a:prstGeom prst="rect">
            <a:avLst/>
          </a:prstGeom>
          <a:noFill/>
          <a:ln/>
        </p:spPr>
        <p:txBody>
          <a:bodyPr wrap="square" lIns="0" tIns="0" rIns="0" bIns="0" rtlCol="0" anchor="t"/>
          <a:lstStyle/>
          <a:p>
            <a:pPr marL="0" indent="0">
              <a:buNone/>
            </a:pPr>
            <a:r>
              <a:rPr lang="en-US" sz="1100" dirty="0">
                <a:solidFill>
                  <a:schemeClr val="accent5"/>
                </a:solidFill>
              </a:rPr>
              <a:t>Orders</a:t>
            </a:r>
            <a:endParaRPr lang="en-US" sz="1100" dirty="0"/>
          </a:p>
        </p:txBody>
      </p:sp>
      <p:sp>
        <p:nvSpPr>
          <p:cNvPr id="17" name="score-value"/>
          <p:cNvSpPr txBox="1"/>
          <p:nvPr/>
        </p:nvSpPr>
        <p:spPr>
          <a:xfrm>
            <a:off x="3547872" y="2496312"/>
            <a:ext cx="2468880" cy="384048"/>
          </a:xfrm>
          <a:prstGeom prst="rect">
            <a:avLst/>
          </a:prstGeom>
          <a:noFill/>
          <a:ln/>
        </p:spPr>
        <p:txBody>
          <a:bodyPr wrap="square" lIns="0" tIns="0" rIns="0" bIns="0" rtlCol="0" anchor="ctr"/>
          <a:lstStyle/>
          <a:p>
            <a:pPr marL="0" indent="0">
              <a:buNone/>
            </a:pPr>
            <a:r>
              <a:rPr lang="en-US" sz="2200" b="1" dirty="0">
                <a:solidFill>
                  <a:schemeClr val="accent2"/>
                </a:solidFill>
                <a:latin typeface="Cambria" pitchFamily="34" charset="0"/>
                <a:ea typeface="Cambria" pitchFamily="34" charset="-122"/>
                <a:cs typeface="Cambria" pitchFamily="34" charset="-120"/>
              </a:rPr>
              <a:t>21,629</a:t>
            </a:r>
            <a:endParaRPr lang="en-US" sz="2200" dirty="0"/>
          </a:p>
        </p:txBody>
      </p:sp>
      <p:sp>
        <p:nvSpPr>
          <p:cNvPr id="18" name="score-note"/>
          <p:cNvSpPr txBox="1"/>
          <p:nvPr/>
        </p:nvSpPr>
        <p:spPr>
          <a:xfrm>
            <a:off x="3547872" y="2880360"/>
            <a:ext cx="2468880" cy="182880"/>
          </a:xfrm>
          <a:prstGeom prst="rect">
            <a:avLst/>
          </a:prstGeom>
          <a:noFill/>
          <a:ln/>
        </p:spPr>
        <p:txBody>
          <a:bodyPr wrap="square" lIns="0" tIns="0" rIns="0" bIns="0" rtlCol="0" anchor="t"/>
          <a:lstStyle/>
          <a:p>
            <a:pPr marL="0" indent="0">
              <a:buNone/>
            </a:pPr>
            <a:r>
              <a:rPr lang="en-US" sz="1000" dirty="0">
                <a:solidFill>
                  <a:schemeClr val="accent5"/>
                </a:solidFill>
              </a:rPr>
              <a:t>order header rows</a:t>
            </a:r>
            <a:endParaRPr lang="en-US" sz="1000" dirty="0"/>
          </a:p>
        </p:txBody>
      </p:sp>
      <p:sp>
        <p:nvSpPr>
          <p:cNvPr id="19" name="scorecard-tile"/>
          <p:cNvSpPr/>
          <p:nvPr/>
        </p:nvSpPr>
        <p:spPr>
          <a:xfrm>
            <a:off x="457200" y="3255264"/>
            <a:ext cx="2743200" cy="896112"/>
          </a:xfrm>
          <a:prstGeom prst="roundRect">
            <a:avLst>
              <a:gd name="adj" fmla="val 1224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0" name="score-label"/>
          <p:cNvSpPr txBox="1"/>
          <p:nvPr/>
        </p:nvSpPr>
        <p:spPr>
          <a:xfrm>
            <a:off x="621792" y="3328416"/>
            <a:ext cx="2468880" cy="201168"/>
          </a:xfrm>
          <a:prstGeom prst="rect">
            <a:avLst/>
          </a:prstGeom>
          <a:noFill/>
          <a:ln/>
        </p:spPr>
        <p:txBody>
          <a:bodyPr wrap="square" lIns="0" tIns="0" rIns="0" bIns="0" rtlCol="0" anchor="t"/>
          <a:lstStyle/>
          <a:p>
            <a:pPr marL="0" indent="0">
              <a:buNone/>
            </a:pPr>
            <a:r>
              <a:rPr lang="en-US" sz="1100" dirty="0">
                <a:solidFill>
                  <a:schemeClr val="accent5"/>
                </a:solidFill>
              </a:rPr>
              <a:t>Foreign-key validation</a:t>
            </a:r>
            <a:endParaRPr lang="en-US" sz="1100" dirty="0"/>
          </a:p>
        </p:txBody>
      </p:sp>
      <p:sp>
        <p:nvSpPr>
          <p:cNvPr id="21" name="score-value"/>
          <p:cNvSpPr txBox="1"/>
          <p:nvPr/>
        </p:nvSpPr>
        <p:spPr>
          <a:xfrm>
            <a:off x="621792" y="3529584"/>
            <a:ext cx="2468880" cy="384048"/>
          </a:xfrm>
          <a:prstGeom prst="rect">
            <a:avLst/>
          </a:prstGeom>
          <a:noFill/>
          <a:ln/>
        </p:spPr>
        <p:txBody>
          <a:bodyPr wrap="square" lIns="0" tIns="0" rIns="0" bIns="0" rtlCol="0" anchor="ctr"/>
          <a:lstStyle/>
          <a:p>
            <a:pPr marL="0" indent="0">
              <a:buNone/>
            </a:pPr>
            <a:r>
              <a:rPr lang="en-US" sz="2200" b="1" dirty="0">
                <a:solidFill>
                  <a:schemeClr val="accent2"/>
                </a:solidFill>
                <a:latin typeface="Cambria" pitchFamily="34" charset="0"/>
                <a:ea typeface="Cambria" pitchFamily="34" charset="-122"/>
                <a:cs typeface="Cambria" pitchFamily="34" charset="-120"/>
              </a:rPr>
              <a:t>0 orphans</a:t>
            </a:r>
            <a:endParaRPr lang="en-US" sz="2200" dirty="0"/>
          </a:p>
        </p:txBody>
      </p:sp>
      <p:sp>
        <p:nvSpPr>
          <p:cNvPr id="22" name="score-note"/>
          <p:cNvSpPr txBox="1"/>
          <p:nvPr/>
        </p:nvSpPr>
        <p:spPr>
          <a:xfrm>
            <a:off x="621792" y="3913632"/>
            <a:ext cx="2468880" cy="182880"/>
          </a:xfrm>
          <a:prstGeom prst="rect">
            <a:avLst/>
          </a:prstGeom>
          <a:noFill/>
          <a:ln/>
        </p:spPr>
        <p:txBody>
          <a:bodyPr wrap="square" lIns="0" tIns="0" rIns="0" bIns="0" rtlCol="0" anchor="t"/>
          <a:lstStyle/>
          <a:p>
            <a:pPr marL="0" indent="0">
              <a:buNone/>
            </a:pPr>
            <a:r>
              <a:rPr lang="en-US" sz="1000" dirty="0">
                <a:solidFill>
                  <a:schemeClr val="accent5"/>
                </a:solidFill>
              </a:rPr>
              <a:t>all 8 foreign keys resolve</a:t>
            </a:r>
            <a:endParaRPr lang="en-US" sz="1000" dirty="0"/>
          </a:p>
        </p:txBody>
      </p:sp>
      <p:sp>
        <p:nvSpPr>
          <p:cNvPr id="23" name="scorecard-tile"/>
          <p:cNvSpPr/>
          <p:nvPr/>
        </p:nvSpPr>
        <p:spPr>
          <a:xfrm>
            <a:off x="3383280" y="3255264"/>
            <a:ext cx="2743200" cy="896112"/>
          </a:xfrm>
          <a:prstGeom prst="roundRect">
            <a:avLst>
              <a:gd name="adj" fmla="val 1224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4" name="score-label"/>
          <p:cNvSpPr txBox="1"/>
          <p:nvPr/>
        </p:nvSpPr>
        <p:spPr>
          <a:xfrm>
            <a:off x="3547872" y="3328416"/>
            <a:ext cx="2468880" cy="201168"/>
          </a:xfrm>
          <a:prstGeom prst="rect">
            <a:avLst/>
          </a:prstGeom>
          <a:noFill/>
          <a:ln/>
        </p:spPr>
        <p:txBody>
          <a:bodyPr wrap="square" lIns="0" tIns="0" rIns="0" bIns="0" rtlCol="0" anchor="t"/>
          <a:lstStyle/>
          <a:p>
            <a:pPr marL="0" indent="0">
              <a:buNone/>
            </a:pPr>
            <a:r>
              <a:rPr lang="en-US" sz="1100" dirty="0">
                <a:solidFill>
                  <a:schemeClr val="accent5"/>
                </a:solidFill>
              </a:rPr>
              <a:t>Never-ordered customers</a:t>
            </a:r>
            <a:endParaRPr lang="en-US" sz="1100" dirty="0"/>
          </a:p>
        </p:txBody>
      </p:sp>
      <p:sp>
        <p:nvSpPr>
          <p:cNvPr id="25" name="score-value"/>
          <p:cNvSpPr txBox="1"/>
          <p:nvPr/>
        </p:nvSpPr>
        <p:spPr>
          <a:xfrm>
            <a:off x="3547872" y="3529584"/>
            <a:ext cx="2468880" cy="384048"/>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212</a:t>
            </a:r>
            <a:endParaRPr lang="en-US" sz="2200" dirty="0"/>
          </a:p>
        </p:txBody>
      </p:sp>
      <p:sp>
        <p:nvSpPr>
          <p:cNvPr id="26" name="score-note"/>
          <p:cNvSpPr txBox="1"/>
          <p:nvPr/>
        </p:nvSpPr>
        <p:spPr>
          <a:xfrm>
            <a:off x="3547872" y="3913632"/>
            <a:ext cx="2468880" cy="182880"/>
          </a:xfrm>
          <a:prstGeom prst="rect">
            <a:avLst/>
          </a:prstGeom>
          <a:noFill/>
          <a:ln/>
        </p:spPr>
        <p:txBody>
          <a:bodyPr wrap="square" lIns="0" tIns="0" rIns="0" bIns="0" rtlCol="0" anchor="t"/>
          <a:lstStyle/>
          <a:p>
            <a:pPr marL="0" indent="0">
              <a:buNone/>
            </a:pPr>
            <a:r>
              <a:rPr lang="en-US" sz="1000" dirty="0">
                <a:solidFill>
                  <a:schemeClr val="accent5"/>
                </a:solidFill>
              </a:rPr>
              <a:t>customers with no order</a:t>
            </a:r>
            <a:endParaRPr lang="en-US" sz="1000" dirty="0"/>
          </a:p>
        </p:txBody>
      </p:sp>
      <p:sp>
        <p:nvSpPr>
          <p:cNvPr id="27" name="scorecard-tile"/>
          <p:cNvSpPr/>
          <p:nvPr/>
        </p:nvSpPr>
        <p:spPr>
          <a:xfrm>
            <a:off x="457200" y="4288536"/>
            <a:ext cx="2743200" cy="896112"/>
          </a:xfrm>
          <a:prstGeom prst="roundRect">
            <a:avLst>
              <a:gd name="adj" fmla="val 1224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8" name="score-label"/>
          <p:cNvSpPr txBox="1"/>
          <p:nvPr/>
        </p:nvSpPr>
        <p:spPr>
          <a:xfrm>
            <a:off x="621792" y="4361688"/>
            <a:ext cx="2468880" cy="201168"/>
          </a:xfrm>
          <a:prstGeom prst="rect">
            <a:avLst/>
          </a:prstGeom>
          <a:noFill/>
          <a:ln/>
        </p:spPr>
        <p:txBody>
          <a:bodyPr wrap="square" lIns="0" tIns="0" rIns="0" bIns="0" rtlCol="0" anchor="t"/>
          <a:lstStyle/>
          <a:p>
            <a:pPr marL="0" indent="0">
              <a:buNone/>
            </a:pPr>
            <a:r>
              <a:rPr lang="en-US" sz="1100" dirty="0">
                <a:solidFill>
                  <a:schemeClr val="accent5"/>
                </a:solidFill>
              </a:rPr>
              <a:t>Never-sold products</a:t>
            </a:r>
            <a:endParaRPr lang="en-US" sz="1100" dirty="0"/>
          </a:p>
        </p:txBody>
      </p:sp>
      <p:sp>
        <p:nvSpPr>
          <p:cNvPr id="29" name="score-value"/>
          <p:cNvSpPr txBox="1"/>
          <p:nvPr/>
        </p:nvSpPr>
        <p:spPr>
          <a:xfrm>
            <a:off x="621792" y="4562856"/>
            <a:ext cx="2468880" cy="384048"/>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15</a:t>
            </a:r>
            <a:endParaRPr lang="en-US" sz="2200" dirty="0"/>
          </a:p>
        </p:txBody>
      </p:sp>
      <p:sp>
        <p:nvSpPr>
          <p:cNvPr id="30" name="score-note"/>
          <p:cNvSpPr txBox="1"/>
          <p:nvPr/>
        </p:nvSpPr>
        <p:spPr>
          <a:xfrm>
            <a:off x="621792" y="4946904"/>
            <a:ext cx="2468880" cy="182880"/>
          </a:xfrm>
          <a:prstGeom prst="rect">
            <a:avLst/>
          </a:prstGeom>
          <a:noFill/>
          <a:ln/>
        </p:spPr>
        <p:txBody>
          <a:bodyPr wrap="square" lIns="0" tIns="0" rIns="0" bIns="0" rtlCol="0" anchor="t"/>
          <a:lstStyle/>
          <a:p>
            <a:pPr marL="0" indent="0">
              <a:buNone/>
            </a:pPr>
            <a:r>
              <a:rPr lang="en-US" sz="1000" dirty="0">
                <a:solidFill>
                  <a:schemeClr val="accent5"/>
                </a:solidFill>
              </a:rPr>
              <a:t>never in order_items</a:t>
            </a:r>
            <a:endParaRPr lang="en-US" sz="1000" dirty="0"/>
          </a:p>
        </p:txBody>
      </p:sp>
      <p:sp>
        <p:nvSpPr>
          <p:cNvPr id="31" name="scorecard-tile"/>
          <p:cNvSpPr/>
          <p:nvPr/>
        </p:nvSpPr>
        <p:spPr>
          <a:xfrm>
            <a:off x="3383280" y="4288536"/>
            <a:ext cx="2743200" cy="896112"/>
          </a:xfrm>
          <a:prstGeom prst="roundRect">
            <a:avLst>
              <a:gd name="adj" fmla="val 1224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2" name="score-label"/>
          <p:cNvSpPr txBox="1"/>
          <p:nvPr/>
        </p:nvSpPr>
        <p:spPr>
          <a:xfrm>
            <a:off x="3547872" y="4361688"/>
            <a:ext cx="2468880" cy="201168"/>
          </a:xfrm>
          <a:prstGeom prst="rect">
            <a:avLst/>
          </a:prstGeom>
          <a:noFill/>
          <a:ln/>
        </p:spPr>
        <p:txBody>
          <a:bodyPr wrap="square" lIns="0" tIns="0" rIns="0" bIns="0" rtlCol="0" anchor="t"/>
          <a:lstStyle/>
          <a:p>
            <a:pPr marL="0" indent="0">
              <a:buNone/>
            </a:pPr>
            <a:r>
              <a:rPr lang="en-US" sz="1100" dirty="0">
                <a:solidFill>
                  <a:schemeClr val="accent5"/>
                </a:solidFill>
              </a:rPr>
              <a:t>Low-stock products</a:t>
            </a:r>
            <a:endParaRPr lang="en-US" sz="1100" dirty="0"/>
          </a:p>
        </p:txBody>
      </p:sp>
      <p:sp>
        <p:nvSpPr>
          <p:cNvPr id="33" name="score-value"/>
          <p:cNvSpPr txBox="1"/>
          <p:nvPr/>
        </p:nvSpPr>
        <p:spPr>
          <a:xfrm>
            <a:off x="3547872" y="4562856"/>
            <a:ext cx="2468880" cy="384048"/>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51</a:t>
            </a:r>
            <a:endParaRPr lang="en-US" sz="2200" dirty="0"/>
          </a:p>
        </p:txBody>
      </p:sp>
      <p:sp>
        <p:nvSpPr>
          <p:cNvPr id="34" name="score-note"/>
          <p:cNvSpPr txBox="1"/>
          <p:nvPr/>
        </p:nvSpPr>
        <p:spPr>
          <a:xfrm>
            <a:off x="3547872" y="4946904"/>
            <a:ext cx="2468880" cy="182880"/>
          </a:xfrm>
          <a:prstGeom prst="rect">
            <a:avLst/>
          </a:prstGeom>
          <a:noFill/>
          <a:ln/>
        </p:spPr>
        <p:txBody>
          <a:bodyPr wrap="square" lIns="0" tIns="0" rIns="0" bIns="0" rtlCol="0" anchor="t"/>
          <a:lstStyle/>
          <a:p>
            <a:pPr marL="0" indent="0">
              <a:buNone/>
            </a:pPr>
            <a:r>
              <a:rPr lang="en-US" sz="1000" dirty="0">
                <a:solidFill>
                  <a:schemeClr val="accent5"/>
                </a:solidFill>
              </a:rPr>
              <a:t>current stock &lt; 10 units</a:t>
            </a:r>
            <a:endParaRPr lang="en-US" sz="1000" dirty="0"/>
          </a:p>
        </p:txBody>
      </p:sp>
      <p:sp>
        <p:nvSpPr>
          <p:cNvPr id="35" name="scorecard-tile"/>
          <p:cNvSpPr/>
          <p:nvPr/>
        </p:nvSpPr>
        <p:spPr>
          <a:xfrm>
            <a:off x="457200" y="5321808"/>
            <a:ext cx="2743200" cy="896112"/>
          </a:xfrm>
          <a:prstGeom prst="roundRect">
            <a:avLst>
              <a:gd name="adj" fmla="val 1224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6" name="score-label"/>
          <p:cNvSpPr txBox="1"/>
          <p:nvPr/>
        </p:nvSpPr>
        <p:spPr>
          <a:xfrm>
            <a:off x="621792" y="5394960"/>
            <a:ext cx="2468880" cy="201168"/>
          </a:xfrm>
          <a:prstGeom prst="rect">
            <a:avLst/>
          </a:prstGeom>
          <a:noFill/>
          <a:ln/>
        </p:spPr>
        <p:txBody>
          <a:bodyPr wrap="square" lIns="0" tIns="0" rIns="0" bIns="0" rtlCol="0" anchor="t"/>
          <a:lstStyle/>
          <a:p>
            <a:pPr marL="0" indent="0">
              <a:buNone/>
            </a:pPr>
            <a:r>
              <a:rPr lang="en-US" sz="1100" dirty="0">
                <a:solidFill>
                  <a:schemeClr val="accent5"/>
                </a:solidFill>
              </a:rPr>
              <a:t>Missing shipping records</a:t>
            </a:r>
            <a:endParaRPr lang="en-US" sz="1100" dirty="0"/>
          </a:p>
        </p:txBody>
      </p:sp>
      <p:sp>
        <p:nvSpPr>
          <p:cNvPr id="37" name="score-value"/>
          <p:cNvSpPr txBox="1"/>
          <p:nvPr/>
        </p:nvSpPr>
        <p:spPr>
          <a:xfrm>
            <a:off x="621792" y="5596128"/>
            <a:ext cx="2468880" cy="384048"/>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488</a:t>
            </a:r>
            <a:endParaRPr lang="en-US" sz="2200" dirty="0"/>
          </a:p>
        </p:txBody>
      </p:sp>
      <p:sp>
        <p:nvSpPr>
          <p:cNvPr id="38" name="score-note"/>
          <p:cNvSpPr txBox="1"/>
          <p:nvPr/>
        </p:nvSpPr>
        <p:spPr>
          <a:xfrm>
            <a:off x="621792" y="5980176"/>
            <a:ext cx="2468880" cy="182880"/>
          </a:xfrm>
          <a:prstGeom prst="rect">
            <a:avLst/>
          </a:prstGeom>
          <a:noFill/>
          <a:ln/>
        </p:spPr>
        <p:txBody>
          <a:bodyPr wrap="square" lIns="0" tIns="0" rIns="0" bIns="0" rtlCol="0" anchor="t"/>
          <a:lstStyle/>
          <a:p>
            <a:pPr marL="0" indent="0">
              <a:buNone/>
            </a:pPr>
            <a:r>
              <a:rPr lang="en-US" sz="1000" dirty="0">
                <a:solidFill>
                  <a:schemeClr val="accent5"/>
                </a:solidFill>
              </a:rPr>
              <a:t>orders with no shipping row</a:t>
            </a:r>
            <a:endParaRPr lang="en-US" sz="1000" dirty="0"/>
          </a:p>
        </p:txBody>
      </p:sp>
      <p:sp>
        <p:nvSpPr>
          <p:cNvPr id="39" name="scorecard-tile"/>
          <p:cNvSpPr/>
          <p:nvPr/>
        </p:nvSpPr>
        <p:spPr>
          <a:xfrm>
            <a:off x="3383280" y="5321808"/>
            <a:ext cx="2743200" cy="896112"/>
          </a:xfrm>
          <a:prstGeom prst="roundRect">
            <a:avLst>
              <a:gd name="adj" fmla="val 1224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40" name="score-label"/>
          <p:cNvSpPr txBox="1"/>
          <p:nvPr/>
        </p:nvSpPr>
        <p:spPr>
          <a:xfrm>
            <a:off x="3547872" y="5394960"/>
            <a:ext cx="2468880" cy="201168"/>
          </a:xfrm>
          <a:prstGeom prst="rect">
            <a:avLst/>
          </a:prstGeom>
          <a:noFill/>
          <a:ln/>
        </p:spPr>
        <p:txBody>
          <a:bodyPr wrap="square" lIns="0" tIns="0" rIns="0" bIns="0" rtlCol="0" anchor="t"/>
          <a:lstStyle/>
          <a:p>
            <a:pPr marL="0" indent="0">
              <a:buNone/>
            </a:pPr>
            <a:r>
              <a:rPr lang="en-US" sz="1100" dirty="0">
                <a:solidFill>
                  <a:schemeClr val="accent5"/>
                </a:solidFill>
              </a:rPr>
              <a:t>Missing registration_date</a:t>
            </a:r>
            <a:endParaRPr lang="en-US" sz="1100" dirty="0"/>
          </a:p>
        </p:txBody>
      </p:sp>
      <p:sp>
        <p:nvSpPr>
          <p:cNvPr id="41" name="score-value"/>
          <p:cNvSpPr txBox="1"/>
          <p:nvPr/>
        </p:nvSpPr>
        <p:spPr>
          <a:xfrm>
            <a:off x="3547872" y="5596128"/>
            <a:ext cx="2468880" cy="384048"/>
          </a:xfrm>
          <a:prstGeom prst="rect">
            <a:avLst/>
          </a:prstGeom>
          <a:noFill/>
          <a:ln/>
        </p:spPr>
        <p:txBody>
          <a:bodyPr wrap="square" lIns="0" tIns="0" rIns="0" bIns="0" rtlCol="0" anchor="ctr"/>
          <a:lstStyle/>
          <a:p>
            <a:pPr marL="0" indent="0">
              <a:buNone/>
            </a:pPr>
            <a:r>
              <a:rPr lang="en-US" sz="2200" b="1" dirty="0">
                <a:solidFill>
                  <a:schemeClr val="accent4"/>
                </a:solidFill>
                <a:latin typeface="Cambria" pitchFamily="34" charset="0"/>
                <a:ea typeface="Cambria" pitchFamily="34" charset="-122"/>
                <a:cs typeface="Cambria" pitchFamily="34" charset="-120"/>
              </a:rPr>
              <a:t>Yes</a:t>
            </a:r>
            <a:endParaRPr lang="en-US" sz="2200" dirty="0"/>
          </a:p>
        </p:txBody>
      </p:sp>
      <p:sp>
        <p:nvSpPr>
          <p:cNvPr id="42" name="score-note"/>
          <p:cNvSpPr txBox="1"/>
          <p:nvPr/>
        </p:nvSpPr>
        <p:spPr>
          <a:xfrm>
            <a:off x="3547872" y="5980176"/>
            <a:ext cx="2468880" cy="182880"/>
          </a:xfrm>
          <a:prstGeom prst="rect">
            <a:avLst/>
          </a:prstGeom>
          <a:noFill/>
          <a:ln/>
        </p:spPr>
        <p:txBody>
          <a:bodyPr wrap="square" lIns="0" tIns="0" rIns="0" bIns="0" rtlCol="0" anchor="t"/>
          <a:lstStyle/>
          <a:p>
            <a:pPr marL="0" indent="0">
              <a:buNone/>
            </a:pPr>
            <a:r>
              <a:rPr lang="en-US" sz="1000" dirty="0">
                <a:solidFill>
                  <a:schemeClr val="accent5"/>
                </a:solidFill>
              </a:rPr>
              <a:t>not in the customers table</a:t>
            </a:r>
            <a:endParaRPr lang="en-US" sz="1000" dirty="0"/>
          </a:p>
        </p:txBody>
      </p:sp>
      <p:sp>
        <p:nvSpPr>
          <p:cNvPr id="43" name="types-title"/>
          <p:cNvSpPr txBox="1"/>
          <p:nvPr/>
        </p:nvSpPr>
        <p:spPr>
          <a:xfrm>
            <a:off x="6583680" y="1188720"/>
            <a:ext cx="5120640" cy="274320"/>
          </a:xfrm>
          <a:prstGeom prst="rect">
            <a:avLst/>
          </a:prstGeom>
          <a:noFill/>
          <a:ln/>
        </p:spPr>
        <p:txBody>
          <a:bodyPr wrap="square" lIns="0" tIns="0" rIns="0" bIns="0" rtlCol="0" anchor="t"/>
          <a:lstStyle/>
          <a:p>
            <a:pPr marL="0" indent="0">
              <a:buNone/>
            </a:pPr>
            <a:r>
              <a:rPr lang="en-US" sz="1500" b="1" dirty="0">
                <a:solidFill>
                  <a:schemeClr val="accent1"/>
                </a:solidFill>
              </a:rPr>
              <a:t>Datatype mistakes and corrections</a:t>
            </a:r>
            <a:endParaRPr lang="en-US" sz="15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583680" y="1417320"/>
          <a:ext cx="5148072" cy="3017520"/>
        </p:xfrm>
        <a:graphic>
          <a:graphicData uri="http://schemas.openxmlformats.org/drawingml/2006/table">
            <a:tbl>
              <a:tblPr/>
              <a:tblGrid>
                <a:gridCol w="13258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274320">
                <a:tc>
                  <a:txBody>
                    <a:bodyPr/>
                    <a:lstStyle/>
                    <a:p>
                      <a:pPr marL="0" indent="0">
                        <a:buNone/>
                      </a:pPr>
                      <a:r>
                        <a:rPr lang="en-US" sz="1100" b="1" dirty="0">
                          <a:solidFill>
                            <a:schemeClr val="bg1"/>
                          </a:solidFill>
                        </a:rPr>
                        <a:t>Source field</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Found in CSV</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MySQL type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Why</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74320">
                <a:tc>
                  <a:txBody>
                    <a:bodyPr/>
                    <a:lstStyle/>
                    <a:p>
                      <a:pPr marL="0" indent="0">
                        <a:buNone/>
                      </a:pPr>
                      <a:r>
                        <a:rPr lang="en-US" sz="1100" b="1" dirty="0">
                          <a:solidFill>
                            <a:schemeClr val="tx1"/>
                          </a:solidFill>
                        </a:rPr>
                        <a:t>order_date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text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DATE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Date maths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100" b="1" dirty="0">
                          <a:solidFill>
                            <a:schemeClr val="tx1"/>
                          </a:solidFill>
                        </a:rPr>
                        <a:t>payment_date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text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DATE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Date analysis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2"/>
                  </a:ext>
                </a:extLst>
              </a:tr>
              <a:tr h="274320">
                <a:tc>
                  <a:txBody>
                    <a:bodyPr/>
                    <a:lstStyle/>
                    <a:p>
                      <a:pPr marL="0" indent="0">
                        <a:buNone/>
                      </a:pPr>
                      <a:r>
                        <a:rPr lang="en-US" sz="1100" b="1" dirty="0">
                          <a:solidFill>
                            <a:schemeClr val="tx1"/>
                          </a:solidFill>
                        </a:rPr>
                        <a:t>shipping_date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text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DATE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Delivery analysis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100" b="1" dirty="0">
                          <a:solidFill>
                            <a:schemeClr val="tx1"/>
                          </a:solidFill>
                        </a:rPr>
                        <a:t>return_date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text, blank</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DATE NULL</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Return analysis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4"/>
                  </a:ext>
                </a:extLst>
              </a:tr>
              <a:tr h="274320">
                <a:tc>
                  <a:txBody>
                    <a:bodyPr/>
                    <a:lstStyle/>
                    <a:p>
                      <a:pPr marL="0" indent="0">
                        <a:buNone/>
                      </a:pPr>
                      <a:r>
                        <a:rPr lang="en-US" sz="1100" b="1" dirty="0">
                          <a:solidFill>
                            <a:schemeClr val="tx1"/>
                          </a:solidFill>
                        </a:rPr>
                        <a:t>last_stock_date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text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DATE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Stock analysis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100" b="1" dirty="0">
                          <a:solidFill>
                            <a:schemeClr val="tx1"/>
                          </a:solidFill>
                        </a:rPr>
                        <a:t>price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float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DECIMAL(10,2)</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Money precision</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6"/>
                  </a:ext>
                </a:extLst>
              </a:tr>
              <a:tr h="274320">
                <a:tc>
                  <a:txBody>
                    <a:bodyPr/>
                    <a:lstStyle/>
                    <a:p>
                      <a:pPr marL="0" indent="0">
                        <a:buNone/>
                      </a:pPr>
                      <a:r>
                        <a:rPr lang="en-US" sz="1100" b="1" dirty="0">
                          <a:solidFill>
                            <a:schemeClr val="tx1"/>
                          </a:solidFill>
                        </a:rPr>
                        <a:t>cogs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float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DECIMAL(10,2)</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Money precision</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en-US" sz="1100" b="1" dirty="0">
                          <a:solidFill>
                            <a:schemeClr val="tx1"/>
                          </a:solidFill>
                        </a:rPr>
                        <a:t>price_per_unit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float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DECIMAL(10,2)</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Money precision</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8"/>
                  </a:ext>
                </a:extLst>
              </a:tr>
              <a:tr h="274320">
                <a:tc>
                  <a:txBody>
                    <a:bodyPr/>
                    <a:lstStyle/>
                    <a:p>
                      <a:pPr marL="0" indent="0">
                        <a:buNone/>
                      </a:pPr>
                      <a:r>
                        <a:rPr lang="en-US" sz="1100" b="1" dirty="0">
                          <a:solidFill>
                            <a:schemeClr val="tx1"/>
                          </a:solidFill>
                        </a:rPr>
                        <a:t>quantity</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integer</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SMALLINT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Unit counts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en-US" sz="1100" b="1" dirty="0">
                          <a:solidFill>
                            <a:schemeClr val="tx1"/>
                          </a:solidFill>
                        </a:rPr>
                        <a:t>status fields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text + spaces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VARCHAR + TRIM</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100" dirty="0">
                          <a:solidFill>
                            <a:schemeClr val="tx1"/>
                          </a:solidFill>
                        </a:rPr>
                        <a:t>Clean labels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10"/>
                  </a:ext>
                </a:extLst>
              </a:tr>
            </a:tbl>
          </a:graphicData>
        </a:graphic>
      </p:graphicFrame>
      <p:sp>
        <p:nvSpPr>
          <p:cNvPr id="45" name="code-panel"/>
          <p:cNvSpPr/>
          <p:nvPr/>
        </p:nvSpPr>
        <p:spPr>
          <a:xfrm>
            <a:off x="6583680" y="4846320"/>
            <a:ext cx="5148072" cy="1371600"/>
          </a:xfrm>
          <a:prstGeom prst="roundRect">
            <a:avLst>
              <a:gd name="adj" fmla="val 6667"/>
            </a:avLst>
          </a:prstGeom>
          <a:solidFill>
            <a:srgbClr val="111C36"/>
          </a:solidFill>
          <a:ln w="6350">
            <a:solidFill>
              <a:srgbClr val="111C36"/>
            </a:solidFill>
            <a:prstDash val="solid"/>
          </a:ln>
          <a:effectLst>
            <a:outerShdw blurRad="177800" dist="50800" dir="5400000" algn="bl" rotWithShape="0">
              <a:srgbClr val="0F1B33">
                <a:alpha val="25000"/>
              </a:srgbClr>
            </a:outerShdw>
          </a:effectLst>
        </p:spPr>
      </p:sp>
      <p:sp>
        <p:nvSpPr>
          <p:cNvPr id="46" name="code-label"/>
          <p:cNvSpPr txBox="1"/>
          <p:nvPr/>
        </p:nvSpPr>
        <p:spPr>
          <a:xfrm>
            <a:off x="6748272" y="4919472"/>
            <a:ext cx="4818888" cy="228600"/>
          </a:xfrm>
          <a:prstGeom prst="rect">
            <a:avLst/>
          </a:prstGeom>
          <a:noFill/>
          <a:ln/>
        </p:spPr>
        <p:txBody>
          <a:bodyPr wrap="square" lIns="0" tIns="0" rIns="0" bIns="0" rtlCol="0" anchor="t"/>
          <a:lstStyle/>
          <a:p>
            <a:pPr marL="0" indent="0">
              <a:buNone/>
            </a:pPr>
            <a:r>
              <a:rPr lang="en-US" sz="1100" b="1" dirty="0">
                <a:solidFill>
                  <a:srgbClr val="FFB454"/>
                </a:solidFill>
              </a:rPr>
              <a:t>Cleaning + FK validation</a:t>
            </a:r>
            <a:endParaRPr lang="en-US" sz="1100" dirty="0"/>
          </a:p>
        </p:txBody>
      </p:sp>
      <p:sp>
        <p:nvSpPr>
          <p:cNvPr id="47" name="sql-code"/>
          <p:cNvSpPr txBox="1"/>
          <p:nvPr/>
        </p:nvSpPr>
        <p:spPr>
          <a:xfrm>
            <a:off x="6748272" y="5175504"/>
            <a:ext cx="4873752" cy="950976"/>
          </a:xfrm>
          <a:prstGeom prst="rect">
            <a:avLst/>
          </a:prstGeom>
          <a:noFill/>
          <a:ln/>
        </p:spPr>
        <p:txBody>
          <a:bodyPr wrap="none" lIns="0" tIns="0" rIns="0" bIns="0" rtlCol="0" anchor="t"/>
          <a:lstStyle/>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UPDATE</a:t>
            </a:r>
            <a:r>
              <a:rPr lang="en-US" sz="1000" dirty="0">
                <a:solidFill>
                  <a:srgbClr val="E8EEF9"/>
                </a:solidFill>
                <a:latin typeface="Courier New" pitchFamily="34" charset="0"/>
                <a:ea typeface="Courier New" pitchFamily="34" charset="-122"/>
                <a:cs typeface="Courier New" pitchFamily="34" charset="-120"/>
              </a:rPr>
              <a:t> payments </a:t>
            </a:r>
            <a:r>
              <a:rPr lang="en-US" sz="1000" b="1" dirty="0">
                <a:solidFill>
                  <a:srgbClr val="FFA94D"/>
                </a:solidFill>
                <a:latin typeface="Courier New" pitchFamily="34" charset="0"/>
                <a:ea typeface="Courier New" pitchFamily="34" charset="-122"/>
                <a:cs typeface="Courier New" pitchFamily="34" charset="-120"/>
              </a:rPr>
              <a:t>SET</a:t>
            </a:r>
            <a:r>
              <a:rPr lang="en-US" sz="1000" dirty="0">
                <a:solidFill>
                  <a:srgbClr val="E8EEF9"/>
                </a:solidFill>
                <a:latin typeface="Courier New" pitchFamily="34" charset="0"/>
                <a:ea typeface="Courier New" pitchFamily="34" charset="-122"/>
                <a:cs typeface="Courier New" pitchFamily="34" charset="-120"/>
              </a:rPr>
              <a:t> payment_status =</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TRIM</a:t>
            </a:r>
            <a:r>
              <a:rPr lang="en-US" sz="1000" dirty="0">
                <a:solidFill>
                  <a:srgbClr val="E8EEF9"/>
                </a:solidFill>
                <a:latin typeface="Courier New" pitchFamily="34" charset="0"/>
                <a:ea typeface="Courier New" pitchFamily="34" charset="-122"/>
                <a:cs typeface="Courier New" pitchFamily="34" charset="-120"/>
              </a:rPr>
              <a:t>(payment_status);</a:t>
            </a:r>
            <a:endParaRPr lang="en-US" sz="1000" dirty="0"/>
          </a:p>
          <a:p>
            <a:pPr marL="0" indent="0">
              <a:lnSpc>
                <a:spcPts val="1200"/>
              </a:lnSpc>
              <a:buNone/>
            </a:pPr>
            <a:r>
              <a:rPr lang="en-US" sz="1000" dirty="0">
                <a:solidFill>
                  <a:srgbClr val="7F8FAE"/>
                </a:solidFill>
                <a:latin typeface="Courier New" pitchFamily="34" charset="0"/>
                <a:ea typeface="Courier New" pitchFamily="34" charset="-122"/>
                <a:cs typeface="Courier New" pitchFamily="34" charset="-120"/>
              </a:rPr>
              <a:t>-- orders without a customer (expect 0)</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COUNT</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orders o</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LEFT</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customers c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c.customer_id = o.customer_id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WHERE</a:t>
            </a:r>
            <a:r>
              <a:rPr lang="en-US" sz="1000" dirty="0">
                <a:solidFill>
                  <a:srgbClr val="E8EEF9"/>
                </a:solidFill>
                <a:latin typeface="Courier New" pitchFamily="34" charset="0"/>
                <a:ea typeface="Courier New" pitchFamily="34" charset="-122"/>
                <a:cs typeface="Courier New" pitchFamily="34" charset="-120"/>
              </a:rPr>
              <a:t> c.customer_id </a:t>
            </a:r>
            <a:r>
              <a:rPr lang="en-US" sz="1000" b="1" dirty="0">
                <a:solidFill>
                  <a:srgbClr val="FFA94D"/>
                </a:solidFill>
                <a:latin typeface="Courier New" pitchFamily="34" charset="0"/>
                <a:ea typeface="Courier New" pitchFamily="34" charset="-122"/>
                <a:cs typeface="Courier New" pitchFamily="34" charset="-120"/>
              </a:rPr>
              <a:t>IS</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NULL</a:t>
            </a:r>
            <a:r>
              <a:rPr lang="en-US" sz="1000" dirty="0">
                <a:solidFill>
                  <a:srgbClr val="E8EEF9"/>
                </a:solidFill>
                <a:latin typeface="Courier New" pitchFamily="34" charset="0"/>
                <a:ea typeface="Courier New" pitchFamily="34" charset="-122"/>
                <a:cs typeface="Courier New" pitchFamily="34" charset="-120"/>
              </a:rPr>
              <a:t>;</a:t>
            </a:r>
            <a:endParaRPr lang="en-US" sz="1000" dirty="0"/>
          </a:p>
        </p:txBody>
      </p:sp>
      <p:sp>
        <p:nvSpPr>
          <p:cNvPr id="48"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Data mistakes found in the CSVs and how they were fixed</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4279392"/>
        </p:xfrm>
        <a:graphic>
          <a:graphicData uri="http://schemas.openxmlformats.org/drawingml/2006/table">
            <a:tbl>
              <a:tblPr/>
              <a:tblGrid>
                <a:gridCol w="3657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gridCol w="2816352">
                  <a:extLst>
                    <a:ext uri="{9D8B030D-6E8A-4147-A177-3AD203B41FA5}">
                      <a16:colId xmlns:a16="http://schemas.microsoft.com/office/drawing/2014/main" val="20004"/>
                    </a:ext>
                  </a:extLst>
                </a:gridCol>
              </a:tblGrid>
              <a:tr h="329184">
                <a:tc>
                  <a:txBody>
                    <a:bodyPr/>
                    <a:lstStyle/>
                    <a:p>
                      <a:pPr marL="0" indent="0">
                        <a:buNone/>
                      </a:pPr>
                      <a:r>
                        <a:rPr lang="en-US" sz="1100" b="1" dirty="0">
                          <a:solidFill>
                            <a:schemeClr val="bg1"/>
                          </a:solidFill>
                        </a:rPr>
                        <a: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Mistake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Where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Evidence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Fix or handling</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29184">
                <a:tc>
                  <a:txBody>
                    <a:bodyPr/>
                    <a:lstStyle/>
                    <a:p>
                      <a:pPr marL="0" indent="0">
                        <a:buNone/>
                      </a:pPr>
                      <a:r>
                        <a:rPr lang="en-US" sz="1050" b="1" dirty="0">
                          <a:solidFill>
                            <a:schemeClr val="accent1"/>
                          </a:solidFill>
                        </a:rPr>
                        <a:t>1</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b="1" dirty="0">
                          <a:solidFill>
                            <a:schemeClr val="tx1"/>
                          </a:solidFill>
                        </a:rPr>
                        <a:t>Dates stored as text</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5 date columns in 4 tables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All load as text (YYYY-MM-DD), not DATE</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Convert with STR_TO_DATE() to DATE</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050" b="1" dirty="0">
                          <a:solidFill>
                            <a:schemeClr val="accent1"/>
                          </a:solidFill>
                        </a:rPr>
                        <a:t>2</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b="1" dirty="0">
                          <a:solidFill>
                            <a:schemeClr val="tx1"/>
                          </a:solidFill>
                        </a:rPr>
                        <a:t>Trailing spaces in labels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payments.payment_status, shipping.delivery_status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2,840 rows each ("Refunded ", "Returned ")</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TRIM() before grouping</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2"/>
                  </a:ext>
                </a:extLst>
              </a:tr>
              <a:tr h="329184">
                <a:tc>
                  <a:txBody>
                    <a:bodyPr/>
                    <a:lstStyle/>
                    <a:p>
                      <a:pPr marL="0" indent="0">
                        <a:buNone/>
                      </a:pPr>
                      <a:r>
                        <a:rPr lang="en-US" sz="1050" b="1" dirty="0">
                          <a:solidFill>
                            <a:schemeClr val="accent1"/>
                          </a:solidFill>
                        </a:rPr>
                        <a:t>3</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b="1" dirty="0">
                          <a:solidFill>
                            <a:schemeClr val="tx1"/>
                          </a:solidFill>
                        </a:rPr>
                        <a:t>Column names with spaces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customers."Customer ID", shipping."shipping providers"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Need quotes and break joins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Rename to customer_id, shipping_provider</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050" b="1" dirty="0">
                          <a:solidFill>
                            <a:schemeClr val="accent1"/>
                          </a:solidFill>
                        </a:rPr>
                        <a:t>4</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b="1" dirty="0">
                          <a:solidFill>
                            <a:schemeClr val="tx1"/>
                          </a:solidFill>
                        </a:rPr>
                        <a:t>Spelling errors in labels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payment_status, order_status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"Payment Successed" (18,301 rows), "Inprogress" (499)</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Source text kept in queries; fix to Succeeded, In Progress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4"/>
                  </a:ext>
                </a:extLst>
              </a:tr>
              <a:tr h="329184">
                <a:tc>
                  <a:txBody>
                    <a:bodyPr/>
                    <a:lstStyle/>
                    <a:p>
                      <a:pPr marL="0" indent="0">
                        <a:buNone/>
                      </a:pPr>
                      <a:r>
                        <a:rPr lang="en-US" sz="1050" b="1" dirty="0">
                          <a:solidFill>
                            <a:schemeClr val="accent1"/>
                          </a:solidFill>
                        </a:rPr>
                        <a:t>5</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b="1" dirty="0">
                          <a:solidFill>
                            <a:schemeClr val="tx1"/>
                          </a:solidFill>
                        </a:rPr>
                        <a:t>Inconsistent text format</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category_name, shipping_provider, product_name</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electronics vs Pet Supplies; dhl, fedex lowercase; 11 names with curly apostrophes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Standardise case; use utf8mb4</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050" b="1" dirty="0">
                          <a:solidFill>
                            <a:schemeClr val="accent1"/>
                          </a:solidFill>
                        </a:rPr>
                        <a:t>6</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b="1" dirty="0">
                          <a:solidFill>
                            <a:schemeClr val="tx1"/>
                          </a:solidFill>
                        </a:rPr>
                        <a:t>Duplicate product names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products.product_name</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5 names used by 2 product_ids with different prices (Board Game 34.99 and 24.99)</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Group by product_id, never by name</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6"/>
                  </a:ext>
                </a:extLst>
              </a:tr>
              <a:tr h="329184">
                <a:tc>
                  <a:txBody>
                    <a:bodyPr/>
                    <a:lstStyle/>
                    <a:p>
                      <a:pPr marL="0" indent="0">
                        <a:buNone/>
                      </a:pPr>
                      <a:r>
                        <a:rPr lang="en-US" sz="1050" b="1" dirty="0">
                          <a:solidFill>
                            <a:schemeClr val="accent1"/>
                          </a:solidFill>
                        </a:rPr>
                        <a:t>7</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b="1" dirty="0">
                          <a:solidFill>
                            <a:schemeClr val="tx1"/>
                          </a:solidFill>
                        </a:rPr>
                        <a:t>Blank instead of NULL</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shipping.return_date</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18,301 blank values (orders not returned)</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Store as NULL (DATE NULL)</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050" b="1" dirty="0">
                          <a:solidFill>
                            <a:schemeClr val="accent1"/>
                          </a:solidFill>
                        </a:rPr>
                        <a:t>8</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b="1" dirty="0">
                          <a:solidFill>
                            <a:schemeClr val="tx1"/>
                          </a:solidFill>
                        </a:rPr>
                        <a:t>Flat order lines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order_items.order_item_id</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Equals order_id in every row: 1 item per order</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Keep the 1:N design; do not claim multi-item baskets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8"/>
                  </a:ext>
                </a:extLst>
              </a:tr>
              <a:tr h="329184">
                <a:tc>
                  <a:txBody>
                    <a:bodyPr/>
                    <a:lstStyle/>
                    <a:p>
                      <a:pPr marL="0" indent="0">
                        <a:buNone/>
                      </a:pPr>
                      <a:r>
                        <a:rPr lang="en-US" sz="1050" b="1" dirty="0">
                          <a:solidFill>
                            <a:schemeClr val="accent1"/>
                          </a:solidFill>
                        </a:rPr>
                        <a:t>9</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b="1" dirty="0">
                          <a:solidFill>
                            <a:schemeClr val="tx1"/>
                          </a:solidFill>
                        </a:rPr>
                        <a:t>Payment date has no lag</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payments.payment_date</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Equals order_date in all 21,629 rows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Do not use it for payment-delay analysis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9184">
                <a:tc>
                  <a:txBody>
                    <a:bodyPr/>
                    <a:lstStyle/>
                    <a:p>
                      <a:pPr marL="0" indent="0">
                        <a:buNone/>
                      </a:pPr>
                      <a:r>
                        <a:rPr lang="en-US" sz="1050" b="1" dirty="0">
                          <a:solidFill>
                            <a:schemeClr val="accent1"/>
                          </a:solidFill>
                        </a:rPr>
                        <a:t>10</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b="1" dirty="0">
                          <a:solidFill>
                            <a:schemeClr val="tx1"/>
                          </a:solidFill>
                        </a:rPr>
                        <a:t>Missing fields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customers, order_items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No registration_date; price_per_unit always equals products.price</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No cohort or price-change analysis possible</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10"/>
                  </a:ext>
                </a:extLst>
              </a:tr>
              <a:tr h="329184">
                <a:tc>
                  <a:txBody>
                    <a:bodyPr/>
                    <a:lstStyle/>
                    <a:p>
                      <a:pPr marL="0" indent="0">
                        <a:buNone/>
                      </a:pPr>
                      <a:r>
                        <a:rPr lang="en-US" sz="1050" b="1" dirty="0">
                          <a:solidFill>
                            <a:schemeClr val="accent1"/>
                          </a:solidFill>
                        </a:rPr>
                        <a:t>11</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b="1" dirty="0">
                          <a:solidFill>
                            <a:schemeClr val="tx1"/>
                          </a:solidFill>
                        </a:rPr>
                        <a:t>Implausible margins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products.cogs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Margin 55% to 95%, mean 74.7% (Board Game: cogs 3.15 on price 34.99)</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rPr>
                        <a:t>Treat gross profit as indicative only</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29184">
                <a:tc>
                  <a:txBody>
                    <a:bodyPr/>
                    <a:lstStyle/>
                    <a:p>
                      <a:pPr marL="0" indent="0">
                        <a:buNone/>
                      </a:pPr>
                      <a:r>
                        <a:rPr lang="en-US" sz="1050" b="1" dirty="0">
                          <a:solidFill>
                            <a:schemeClr val="accent1"/>
                          </a:solidFill>
                        </a:rPr>
                        <a:t>12</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b="1" dirty="0">
                          <a:solidFill>
                            <a:schemeClr val="tx1"/>
                          </a:solidFill>
                        </a:rPr>
                        <a:t>Possible duplicate customers</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customers first_name, last_name</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358 repeated full names (235 also share a state)</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050" dirty="0">
                          <a:solidFill>
                            <a:schemeClr val="tx1"/>
                          </a:solidFill>
                        </a:rPr>
                        <a:t>Cannot confirm; customer_id is the only key</a:t>
                      </a:r>
                      <a:endParaRPr lang="en-US" sz="105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12"/>
                  </a:ext>
                </a:extLst>
              </a:tr>
            </a:tbl>
          </a:graphicData>
        </a:graphic>
      </p:graphicFrame>
      <p:sp>
        <p:nvSpPr>
          <p:cNvPr id="4" name="passed-checks"/>
          <p:cNvSpPr/>
          <p:nvPr/>
        </p:nvSpPr>
        <p:spPr>
          <a:xfrm>
            <a:off x="457200" y="5806440"/>
            <a:ext cx="11274552" cy="411480"/>
          </a:xfrm>
          <a:prstGeom prst="roundRect">
            <a:avLst>
              <a:gd name="adj" fmla="val 26667"/>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5" name="passed-text"/>
          <p:cNvSpPr txBox="1"/>
          <p:nvPr/>
        </p:nvSpPr>
        <p:spPr>
          <a:xfrm>
            <a:off x="640080" y="5806440"/>
            <a:ext cx="10881360" cy="411480"/>
          </a:xfrm>
          <a:prstGeom prst="rect">
            <a:avLst/>
          </a:prstGeom>
          <a:noFill/>
          <a:ln/>
        </p:spPr>
        <p:txBody>
          <a:bodyPr wrap="square" lIns="0" tIns="0" rIns="0" bIns="0" rtlCol="0" anchor="ctr"/>
          <a:lstStyle/>
          <a:p>
            <a:pPr marL="0" indent="0">
              <a:buNone/>
            </a:pPr>
            <a:r>
              <a:rPr lang="en-US" sz="1150" b="1" dirty="0">
                <a:solidFill>
                  <a:schemeClr val="accent2"/>
                </a:solidFill>
              </a:rPr>
              <a:t>Checks that passed  </a:t>
            </a:r>
            <a:r>
              <a:rPr lang="en-US" sz="1150" dirty="0">
                <a:solidFill>
                  <a:schemeClr val="tx1"/>
                </a:solidFill>
              </a:rPr>
              <a:t>0 orphan keys  |  0 invalid dates  |  0 non-positive prices or quantities  |  cogs always below price  |  shipping 1 to 5 days after order</a:t>
            </a:r>
            <a:endParaRPr lang="en-US" sz="1150" dirty="0"/>
          </a:p>
        </p:txBody>
      </p:sp>
      <p:sp>
        <p:nvSpPr>
          <p:cNvPr id="6"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The 10 business questions this project answers</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5029200"/>
        </p:xfrm>
        <a:graphic>
          <a:graphicData uri="http://schemas.openxmlformats.org/drawingml/2006/table">
            <a:tbl>
              <a:tblPr/>
              <a:tblGrid>
                <a:gridCol w="6400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5422392">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457200">
                <a:tc>
                  <a:txBody>
                    <a:bodyPr/>
                    <a:lstStyle/>
                    <a:p>
                      <a:pPr marL="0" indent="0">
                        <a:buNone/>
                      </a:pPr>
                      <a:r>
                        <a:rPr lang="en-US" sz="1200" b="1" dirty="0">
                          <a:solidFill>
                            <a:schemeClr val="bg1"/>
                          </a:solidFill>
                        </a:rPr>
                        <a:t>Q</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Business question</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Answer from the data</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Slide</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chemeClr val="accent1"/>
                          </a:solidFill>
                        </a:rPr>
                        <a:t>Q1</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200" b="1" dirty="0">
                          <a:solidFill>
                            <a:schemeClr val="tx1"/>
                          </a:solidFill>
                        </a:rPr>
                        <a:t>Which product categories generate the most revenue?</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Electronics: 89.63% of completed revenue ($9.31M)</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rPr>
                        <a:t>9</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b="1" dirty="0">
                          <a:solidFill>
                            <a:schemeClr val="accent1"/>
                          </a:solidFill>
                        </a:rPr>
                        <a:t>Q2</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200" b="1" dirty="0">
                          <a:solidFill>
                            <a:schemeClr val="tx1"/>
                          </a:solidFill>
                        </a:rPr>
                        <a:t>Which products are the best sellers by revenue?</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200" dirty="0">
                          <a:solidFill>
                            <a:schemeClr val="tx1"/>
                          </a:solidFill>
                        </a:rPr>
                        <a:t>Apple iMac Pro: $505K from 101 units</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ctr">
                        <a:buNone/>
                      </a:pPr>
                      <a:r>
                        <a:rPr lang="en-US" sz="1200" dirty="0">
                          <a:solidFill>
                            <a:schemeClr val="tx1"/>
                          </a:solidFill>
                        </a:rPr>
                        <a:t>10</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2"/>
                  </a:ext>
                </a:extLst>
              </a:tr>
              <a:tr h="457200">
                <a:tc>
                  <a:txBody>
                    <a:bodyPr/>
                    <a:lstStyle/>
                    <a:p>
                      <a:pPr marL="0" indent="0">
                        <a:buNone/>
                      </a:pPr>
                      <a:r>
                        <a:rPr lang="en-US" sz="1200" b="1" dirty="0">
                          <a:solidFill>
                            <a:schemeClr val="accent1"/>
                          </a:solidFill>
                        </a:rPr>
                        <a:t>Q3</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200" b="1" dirty="0">
                          <a:solidFill>
                            <a:schemeClr val="tx1"/>
                          </a:solidFill>
                        </a:rPr>
                        <a:t>Which states bring in the most revenue?</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Ohio and Texas: 90.2% of completed revenue</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rPr>
                        <a:t>12</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chemeClr val="accent1"/>
                          </a:solidFill>
                        </a:rPr>
                        <a:t>Q4</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200" b="1" dirty="0">
                          <a:solidFill>
                            <a:schemeClr val="tx1"/>
                          </a:solidFill>
                        </a:rPr>
                        <a:t>What share of payments succeed, are refunded or fail?</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200" dirty="0">
                          <a:solidFill>
                            <a:schemeClr val="tx1"/>
                          </a:solidFill>
                        </a:rPr>
                        <a:t>84.61% succeeded, 13.13% refunded, 2.26% failed</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ctr">
                        <a:buNone/>
                      </a:pPr>
                      <a:r>
                        <a:rPr lang="en-US" sz="1200" dirty="0">
                          <a:solidFill>
                            <a:schemeClr val="tx1"/>
                          </a:solidFill>
                        </a:rPr>
                        <a:t>13</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chemeClr val="accent1"/>
                          </a:solidFill>
                        </a:rPr>
                        <a:t>Q5</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200" b="1" dirty="0">
                          <a:solidFill>
                            <a:schemeClr val="tx1"/>
                          </a:solidFill>
                        </a:rPr>
                        <a:t>Which products have a return rate above 20%?</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12 products with 50+ units; worst is DJI Mavic Air 2 (30.5%)</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rPr>
                        <a:t>13</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00" b="1" dirty="0">
                          <a:solidFill>
                            <a:schemeClr val="accent1"/>
                          </a:solidFill>
                        </a:rPr>
                        <a:t>Q6</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200" b="1" dirty="0">
                          <a:solidFill>
                            <a:schemeClr val="tx1"/>
                          </a:solidFill>
                        </a:rPr>
                        <a:t>How many customers have never placed an order?</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200" dirty="0">
                          <a:solidFill>
                            <a:schemeClr val="tx1"/>
                          </a:solidFill>
                        </a:rPr>
                        <a:t>212 customers (23.6% of 898)</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ctr">
                        <a:buNone/>
                      </a:pPr>
                      <a:r>
                        <a:rPr lang="en-US" sz="1200" dirty="0">
                          <a:solidFill>
                            <a:schemeClr val="tx1"/>
                          </a:solidFill>
                        </a:rPr>
                        <a:t>14</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6"/>
                  </a:ext>
                </a:extLst>
              </a:tr>
              <a:tr h="457200">
                <a:tc>
                  <a:txBody>
                    <a:bodyPr/>
                    <a:lstStyle/>
                    <a:p>
                      <a:pPr marL="0" indent="0">
                        <a:buNone/>
                      </a:pPr>
                      <a:r>
                        <a:rPr lang="en-US" sz="1200" b="1" dirty="0">
                          <a:solidFill>
                            <a:schemeClr val="accent1"/>
                          </a:solidFill>
                        </a:rPr>
                        <a:t>Q7</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200" b="1" dirty="0">
                          <a:solidFill>
                            <a:schemeClr val="tx1"/>
                          </a:solidFill>
                        </a:rPr>
                        <a:t>Which products are running low on stock?</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51 products with stock below 10 units</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rPr>
                        <a:t>15</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buNone/>
                      </a:pPr>
                      <a:r>
                        <a:rPr lang="en-US" sz="1200" b="1" dirty="0">
                          <a:solidFill>
                            <a:schemeClr val="accent1"/>
                          </a:solidFill>
                        </a:rPr>
                        <a:t>Q8</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200" b="1" dirty="0">
                          <a:solidFill>
                            <a:schemeClr val="tx1"/>
                          </a:solidFill>
                        </a:rPr>
                        <a:t>Which products have never been sold?</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200" dirty="0">
                          <a:solidFill>
                            <a:schemeClr val="tx1"/>
                          </a:solidFill>
                        </a:rPr>
                        <a:t>15 products never appear in order_items</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ctr">
                        <a:buNone/>
                      </a:pPr>
                      <a:r>
                        <a:rPr lang="en-US" sz="1200" dirty="0">
                          <a:solidFill>
                            <a:schemeClr val="tx1"/>
                          </a:solidFill>
                        </a:rPr>
                        <a:t>15</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8"/>
                  </a:ext>
                </a:extLst>
              </a:tr>
              <a:tr h="457200">
                <a:tc>
                  <a:txBody>
                    <a:bodyPr/>
                    <a:lstStyle/>
                    <a:p>
                      <a:pPr marL="0" indent="0">
                        <a:buNone/>
                      </a:pPr>
                      <a:r>
                        <a:rPr lang="en-US" sz="1200" b="1" dirty="0">
                          <a:solidFill>
                            <a:schemeClr val="accent1"/>
                          </a:solidFill>
                        </a:rPr>
                        <a:t>Q9</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200" b="1" dirty="0">
                          <a:solidFill>
                            <a:schemeClr val="tx1"/>
                          </a:solidFill>
                        </a:rPr>
                        <a:t>How has revenue changed year over year?</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+34.7% in 2021, -5.9% in 2022, +4.5% in 2023; 2024 is partial</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rPr>
                        <a:t>11</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57200">
                <a:tc>
                  <a:txBody>
                    <a:bodyPr/>
                    <a:lstStyle/>
                    <a:p>
                      <a:pPr marL="0" indent="0">
                        <a:buNone/>
                      </a:pPr>
                      <a:r>
                        <a:rPr lang="en-US" sz="1200" b="1" dirty="0">
                          <a:solidFill>
                            <a:schemeClr val="accent1"/>
                          </a:solidFill>
                        </a:rPr>
                        <a:t>Q10</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200" b="1" dirty="0">
                          <a:solidFill>
                            <a:schemeClr val="tx1"/>
                          </a:solidFill>
                        </a:rPr>
                        <a:t>Who are the most valuable customers (historical CLTV)?</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buNone/>
                      </a:pPr>
                      <a:r>
                        <a:rPr lang="en-US" sz="1200" dirty="0">
                          <a:solidFill>
                            <a:schemeClr val="tx1"/>
                          </a:solidFill>
                        </a:rPr>
                        <a:t>Yvonne Reed (Ohio): $89,029; average CLTV $19,967</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ctr">
                        <a:buNone/>
                      </a:pPr>
                      <a:r>
                        <a:rPr lang="en-US" sz="1200" dirty="0">
                          <a:solidFill>
                            <a:schemeClr val="tx1"/>
                          </a:solidFill>
                        </a:rPr>
                        <a:t>14</a:t>
                      </a:r>
                      <a:endParaRPr lang="en-US" sz="1200" dirty="0"/>
                    </a:p>
                  </a:txBody>
                  <a:tcPr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10"/>
                  </a:ext>
                </a:extLst>
              </a:tr>
            </a:tbl>
          </a:graphicData>
        </a:graphic>
      </p:graphicFrame>
      <p:sp>
        <p:nvSpPr>
          <p:cNvPr id="4"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What drives revenue? Electronics = 89.63%</a:t>
            </a:r>
            <a:endParaRPr lang="en-US" sz="2800" dirty="0"/>
          </a:p>
        </p:txBody>
      </p:sp>
      <p:sp>
        <p:nvSpPr>
          <p:cNvPr id="3" name="q-chip"/>
          <p:cNvSpPr/>
          <p:nvPr/>
        </p:nvSpPr>
        <p:spPr>
          <a:xfrm>
            <a:off x="11274552" y="109728"/>
            <a:ext cx="457200" cy="237744"/>
          </a:xfrm>
          <a:prstGeom prst="roundRect">
            <a:avLst>
              <a:gd name="adj" fmla="val 50000"/>
            </a:avLst>
          </a:prstGeom>
          <a:solidFill>
            <a:schemeClr val="accent1"/>
          </a:solidFill>
          <a:ln w="6350">
            <a:solidFill>
              <a:schemeClr val="accent1"/>
            </a:solidFill>
            <a:prstDash val="solid"/>
          </a:ln>
        </p:spPr>
      </p:sp>
      <p:sp>
        <p:nvSpPr>
          <p:cNvPr id="4" name="q-chip-label"/>
          <p:cNvSpPr txBox="1"/>
          <p:nvPr/>
        </p:nvSpPr>
        <p:spPr>
          <a:xfrm>
            <a:off x="11274552" y="109728"/>
            <a:ext cx="457200" cy="237744"/>
          </a:xfrm>
          <a:prstGeom prst="rect">
            <a:avLst/>
          </a:prstGeom>
          <a:noFill/>
          <a:ln/>
        </p:spPr>
        <p:txBody>
          <a:bodyPr wrap="square" lIns="0" tIns="0" rIns="0" bIns="0" rtlCol="0" anchor="ctr"/>
          <a:lstStyle/>
          <a:p>
            <a:pPr marL="0" indent="0" algn="ctr">
              <a:buNone/>
            </a:pPr>
            <a:r>
              <a:rPr lang="en-US" sz="1100" b="1" dirty="0">
                <a:solidFill>
                  <a:schemeClr val="bg1"/>
                </a:solidFill>
              </a:rPr>
              <a:t>Q1</a:t>
            </a:r>
            <a:endParaRPr lang="en-US" sz="1100" dirty="0"/>
          </a:p>
        </p:txBody>
      </p:sp>
      <p:sp>
        <p:nvSpPr>
          <p:cNvPr id="5" name="business-question"/>
          <p:cNvSpPr txBox="1"/>
          <p:nvPr/>
        </p:nvSpPr>
        <p:spPr>
          <a:xfrm>
            <a:off x="457200" y="822960"/>
            <a:ext cx="10149840" cy="219456"/>
          </a:xfrm>
          <a:prstGeom prst="rect">
            <a:avLst/>
          </a:prstGeom>
          <a:noFill/>
          <a:ln/>
        </p:spPr>
        <p:txBody>
          <a:bodyPr wrap="square" lIns="0" tIns="0" rIns="0" bIns="0" rtlCol="0" anchor="t"/>
          <a:lstStyle/>
          <a:p>
            <a:pPr marL="0" indent="0">
              <a:buNone/>
            </a:pPr>
            <a:r>
              <a:rPr lang="en-US" sz="1250" i="1" dirty="0">
                <a:solidFill>
                  <a:schemeClr val="accent5"/>
                </a:solidFill>
              </a:rPr>
              <a:t>Business question  Q1: Which product categories generate the most revenue?</a:t>
            </a:r>
            <a:endParaRPr lang="en-US" sz="1250" dirty="0"/>
          </a:p>
        </p:txBody>
      </p:sp>
      <p:sp>
        <p:nvSpPr>
          <p:cNvPr id="6" name="code-panel"/>
          <p:cNvSpPr/>
          <p:nvPr/>
        </p:nvSpPr>
        <p:spPr>
          <a:xfrm>
            <a:off x="457200" y="1188720"/>
            <a:ext cx="4937760" cy="2895600"/>
          </a:xfrm>
          <a:prstGeom prst="roundRect">
            <a:avLst>
              <a:gd name="adj" fmla="val 3158"/>
            </a:avLst>
          </a:prstGeom>
          <a:solidFill>
            <a:srgbClr val="111C36"/>
          </a:solidFill>
          <a:ln w="6350">
            <a:solidFill>
              <a:srgbClr val="111C36"/>
            </a:solidFill>
            <a:prstDash val="solid"/>
          </a:ln>
          <a:effectLst>
            <a:outerShdw blurRad="177800" dist="50800" dir="5400000" algn="bl" rotWithShape="0">
              <a:srgbClr val="0F1B33">
                <a:alpha val="25000"/>
              </a:srgbClr>
            </a:outerShdw>
          </a:effectLst>
        </p:spPr>
      </p:sp>
      <p:sp>
        <p:nvSpPr>
          <p:cNvPr id="7" name="code-label"/>
          <p:cNvSpPr txBox="1"/>
          <p:nvPr/>
        </p:nvSpPr>
        <p:spPr>
          <a:xfrm>
            <a:off x="621792" y="1261872"/>
            <a:ext cx="4608576" cy="228600"/>
          </a:xfrm>
          <a:prstGeom prst="rect">
            <a:avLst/>
          </a:prstGeom>
          <a:noFill/>
          <a:ln/>
        </p:spPr>
        <p:txBody>
          <a:bodyPr wrap="square" lIns="0" tIns="0" rIns="0" bIns="0" rtlCol="0" anchor="t"/>
          <a:lstStyle/>
          <a:p>
            <a:pPr marL="0" indent="0">
              <a:buNone/>
            </a:pPr>
            <a:r>
              <a:rPr lang="en-US" sz="1100" b="1" dirty="0">
                <a:solidFill>
                  <a:srgbClr val="FFB454"/>
                </a:solidFill>
              </a:rPr>
              <a:t>Q1 | Revenue by category, completed orders</a:t>
            </a:r>
            <a:endParaRPr lang="en-US" sz="1100" dirty="0"/>
          </a:p>
        </p:txBody>
      </p:sp>
      <p:sp>
        <p:nvSpPr>
          <p:cNvPr id="8" name="sql-code"/>
          <p:cNvSpPr txBox="1"/>
          <p:nvPr/>
        </p:nvSpPr>
        <p:spPr>
          <a:xfrm>
            <a:off x="621792" y="1517904"/>
            <a:ext cx="4663440" cy="2474976"/>
          </a:xfrm>
          <a:prstGeom prst="rect">
            <a:avLst/>
          </a:prstGeom>
          <a:noFill/>
          <a:ln/>
        </p:spPr>
        <p:txBody>
          <a:bodyPr wrap="none" lIns="0" tIns="0" rIns="0" bIns="0" rtlCol="0" anchor="t"/>
          <a:lstStyle/>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WITH</a:t>
            </a:r>
            <a:r>
              <a:rPr lang="en-US" sz="1000" dirty="0">
                <a:solidFill>
                  <a:srgbClr val="E8EEF9"/>
                </a:solidFill>
                <a:latin typeface="Courier New" pitchFamily="34" charset="0"/>
                <a:ea typeface="Courier New" pitchFamily="34" charset="-122"/>
                <a:cs typeface="Courier New" pitchFamily="34" charset="-120"/>
              </a:rPr>
              <a:t> sales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p.category_id,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oi.quantity * oi.price_per_unit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rev</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orders o</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order_items oi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oi.order_id = o.order_id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products p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p.product_id = oi.product_id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WHERE</a:t>
            </a:r>
            <a:r>
              <a:rPr lang="en-US" sz="1000" dirty="0">
                <a:solidFill>
                  <a:srgbClr val="E8EEF9"/>
                </a:solidFill>
                <a:latin typeface="Courier New" pitchFamily="34" charset="0"/>
                <a:ea typeface="Courier New" pitchFamily="34" charset="-122"/>
                <a:cs typeface="Courier New" pitchFamily="34" charset="-120"/>
              </a:rPr>
              <a:t> o.order_status = </a:t>
            </a:r>
            <a:r>
              <a:rPr lang="en-US" sz="1000" dirty="0">
                <a:solidFill>
                  <a:srgbClr val="9AE6B4"/>
                </a:solidFill>
                <a:latin typeface="Courier New" pitchFamily="34" charset="0"/>
                <a:ea typeface="Courier New" pitchFamily="34" charset="-122"/>
                <a:cs typeface="Courier New" pitchFamily="34" charset="-120"/>
              </a:rPr>
              <a:t>'Completed'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c.category_name,</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SUM</a:t>
            </a:r>
            <a:r>
              <a:rPr lang="en-US" sz="1000" dirty="0">
                <a:solidFill>
                  <a:srgbClr val="E8EEF9"/>
                </a:solidFill>
                <a:latin typeface="Courier New" pitchFamily="34" charset="0"/>
                <a:ea typeface="Courier New" pitchFamily="34" charset="-122"/>
                <a:cs typeface="Courier New" pitchFamily="34" charset="-120"/>
              </a:rPr>
              <a:t>(s.rev)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revenue,</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ROUND</a:t>
            </a:r>
            <a:r>
              <a:rPr lang="en-US" sz="1000" dirty="0">
                <a:solidFill>
                  <a:srgbClr val="E8EEF9"/>
                </a:solidFill>
                <a:latin typeface="Courier New" pitchFamily="34" charset="0"/>
                <a:ea typeface="Courier New" pitchFamily="34" charset="-122"/>
                <a:cs typeface="Courier New" pitchFamily="34" charset="-120"/>
              </a:rPr>
              <a:t>(</a:t>
            </a:r>
            <a:r>
              <a:rPr lang="en-US" sz="1000" dirty="0">
                <a:solidFill>
                  <a:srgbClr val="8AB4FF"/>
                </a:solidFill>
                <a:latin typeface="Courier New" pitchFamily="34" charset="0"/>
                <a:ea typeface="Courier New" pitchFamily="34" charset="-122"/>
                <a:cs typeface="Courier New" pitchFamily="34" charset="-120"/>
              </a:rPr>
              <a:t>100</a:t>
            </a:r>
            <a:r>
              <a:rPr lang="en-US" sz="1000" dirty="0">
                <a:solidFill>
                  <a:srgbClr val="E8EEF9"/>
                </a:solidFill>
                <a:latin typeface="Courier New" pitchFamily="34" charset="0"/>
                <a:ea typeface="Courier New" pitchFamily="34" charset="-122"/>
                <a:cs typeface="Courier New" pitchFamily="34" charset="-120"/>
              </a:rPr>
              <a:t> * </a:t>
            </a:r>
            <a:r>
              <a:rPr lang="en-US" sz="1000" dirty="0">
                <a:solidFill>
                  <a:srgbClr val="4FD1C5"/>
                </a:solidFill>
                <a:latin typeface="Courier New" pitchFamily="34" charset="0"/>
                <a:ea typeface="Courier New" pitchFamily="34" charset="-122"/>
                <a:cs typeface="Courier New" pitchFamily="34" charset="-120"/>
              </a:rPr>
              <a:t>SUM</a:t>
            </a:r>
            <a:r>
              <a:rPr lang="en-US" sz="1000" dirty="0">
                <a:solidFill>
                  <a:srgbClr val="E8EEF9"/>
                </a:solidFill>
                <a:latin typeface="Courier New" pitchFamily="34" charset="0"/>
                <a:ea typeface="Courier New" pitchFamily="34" charset="-122"/>
                <a:cs typeface="Courier New" pitchFamily="34" charset="-120"/>
              </a:rPr>
              <a:t>(s.rev) /</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SUM</a:t>
            </a:r>
            <a:r>
              <a:rPr lang="en-US" sz="1000" dirty="0">
                <a:solidFill>
                  <a:srgbClr val="E8EEF9"/>
                </a:solidFill>
                <a:latin typeface="Courier New" pitchFamily="34" charset="0"/>
                <a:ea typeface="Courier New" pitchFamily="34" charset="-122"/>
                <a:cs typeface="Courier New" pitchFamily="34" charset="-120"/>
              </a:rPr>
              <a:t>(rev) </a:t>
            </a: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sales), </a:t>
            </a:r>
            <a:r>
              <a:rPr lang="en-US" sz="1000" dirty="0">
                <a:solidFill>
                  <a:srgbClr val="8AB4FF"/>
                </a:solidFill>
                <a:latin typeface="Courier New" pitchFamily="34" charset="0"/>
                <a:ea typeface="Courier New" pitchFamily="34" charset="-122"/>
                <a:cs typeface="Courier New" pitchFamily="34" charset="-120"/>
              </a:rPr>
              <a:t>2</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pct</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sales s</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category c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c.category_id = s.category_id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GROUP</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c.category_name</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revenue </a:t>
            </a:r>
            <a:r>
              <a:rPr lang="en-US" sz="1000" b="1" dirty="0">
                <a:solidFill>
                  <a:srgbClr val="FFA94D"/>
                </a:solidFill>
                <a:latin typeface="Courier New" pitchFamily="34" charset="0"/>
                <a:ea typeface="Courier New" pitchFamily="34" charset="-122"/>
                <a:cs typeface="Courier New" pitchFamily="34" charset="-120"/>
              </a:rPr>
              <a:t>DESC</a:t>
            </a:r>
            <a:r>
              <a:rPr lang="en-US" sz="1000" dirty="0">
                <a:solidFill>
                  <a:srgbClr val="E8EEF9"/>
                </a:solidFill>
                <a:latin typeface="Courier New" pitchFamily="34" charset="0"/>
                <a:ea typeface="Courier New" pitchFamily="34" charset="-122"/>
                <a:cs typeface="Courier New" pitchFamily="34" charset="-120"/>
              </a:rPr>
              <a:t>;</a:t>
            </a:r>
            <a:endParaRPr lang="en-US" sz="1000" dirty="0"/>
          </a:p>
        </p:txBody>
      </p:sp>
      <p:sp>
        <p:nvSpPr>
          <p:cNvPr id="9" name="mini-stat"/>
          <p:cNvSpPr/>
          <p:nvPr/>
        </p:nvSpPr>
        <p:spPr>
          <a:xfrm>
            <a:off x="457200" y="4267505"/>
            <a:ext cx="1554480" cy="1932432"/>
          </a:xfrm>
          <a:prstGeom prst="roundRect">
            <a:avLst>
              <a:gd name="adj" fmla="val 705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0" name="mini-value"/>
          <p:cNvSpPr txBox="1"/>
          <p:nvPr/>
        </p:nvSpPr>
        <p:spPr>
          <a:xfrm>
            <a:off x="594360" y="4358945"/>
            <a:ext cx="1280160" cy="502920"/>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89.63%</a:t>
            </a:r>
            <a:endParaRPr lang="en-US" sz="2200" dirty="0"/>
          </a:p>
        </p:txBody>
      </p:sp>
      <p:sp>
        <p:nvSpPr>
          <p:cNvPr id="11" name="mini-label"/>
          <p:cNvSpPr txBox="1"/>
          <p:nvPr/>
        </p:nvSpPr>
        <p:spPr>
          <a:xfrm>
            <a:off x="594360" y="4889297"/>
            <a:ext cx="1280160" cy="1246632"/>
          </a:xfrm>
          <a:prstGeom prst="rect">
            <a:avLst/>
          </a:prstGeom>
          <a:noFill/>
          <a:ln/>
        </p:spPr>
        <p:txBody>
          <a:bodyPr wrap="square" lIns="0" tIns="0" rIns="0" bIns="0" rtlCol="0" anchor="t"/>
          <a:lstStyle/>
          <a:p>
            <a:pPr marL="0" indent="0">
              <a:buNone/>
            </a:pPr>
            <a:r>
              <a:rPr lang="en-US" sz="1150" dirty="0">
                <a:solidFill>
                  <a:schemeClr val="tx1"/>
                </a:solidFill>
              </a:rPr>
              <a:t>of completed revenue is Electronics</a:t>
            </a:r>
            <a:endParaRPr lang="en-US" sz="1150" dirty="0"/>
          </a:p>
        </p:txBody>
      </p:sp>
      <p:sp>
        <p:nvSpPr>
          <p:cNvPr id="12" name="mini-stat"/>
          <p:cNvSpPr/>
          <p:nvPr/>
        </p:nvSpPr>
        <p:spPr>
          <a:xfrm>
            <a:off x="2148840" y="4267505"/>
            <a:ext cx="1554480" cy="1932432"/>
          </a:xfrm>
          <a:prstGeom prst="roundRect">
            <a:avLst>
              <a:gd name="adj" fmla="val 705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3" name="mini-value"/>
          <p:cNvSpPr txBox="1"/>
          <p:nvPr/>
        </p:nvSpPr>
        <p:spPr>
          <a:xfrm>
            <a:off x="2286000" y="4358945"/>
            <a:ext cx="1280160" cy="502920"/>
          </a:xfrm>
          <a:prstGeom prst="rect">
            <a:avLst/>
          </a:prstGeom>
          <a:noFill/>
          <a:ln/>
        </p:spPr>
        <p:txBody>
          <a:bodyPr wrap="square" lIns="0" tIns="0" rIns="0" bIns="0" rtlCol="0" anchor="ctr"/>
          <a:lstStyle/>
          <a:p>
            <a:pPr marL="0" indent="0">
              <a:buNone/>
            </a:pPr>
            <a:r>
              <a:rPr lang="en-US" sz="2200" b="1" dirty="0">
                <a:solidFill>
                  <a:schemeClr val="accent2"/>
                </a:solidFill>
                <a:latin typeface="Cambria" pitchFamily="34" charset="0"/>
                <a:ea typeface="Cambria" pitchFamily="34" charset="-122"/>
                <a:cs typeface="Cambria" pitchFamily="34" charset="-120"/>
              </a:rPr>
              <a:t>$10.38M</a:t>
            </a:r>
            <a:endParaRPr lang="en-US" sz="2200" dirty="0"/>
          </a:p>
        </p:txBody>
      </p:sp>
      <p:sp>
        <p:nvSpPr>
          <p:cNvPr id="14" name="mini-label"/>
          <p:cNvSpPr txBox="1"/>
          <p:nvPr/>
        </p:nvSpPr>
        <p:spPr>
          <a:xfrm>
            <a:off x="2286000" y="4889297"/>
            <a:ext cx="1280160" cy="1246632"/>
          </a:xfrm>
          <a:prstGeom prst="rect">
            <a:avLst/>
          </a:prstGeom>
          <a:noFill/>
          <a:ln/>
        </p:spPr>
        <p:txBody>
          <a:bodyPr wrap="square" lIns="0" tIns="0" rIns="0" bIns="0" rtlCol="0" anchor="t"/>
          <a:lstStyle/>
          <a:p>
            <a:pPr marL="0" indent="0">
              <a:buNone/>
            </a:pPr>
            <a:r>
              <a:rPr lang="en-US" sz="1150" dirty="0">
                <a:solidFill>
                  <a:schemeClr val="tx1"/>
                </a:solidFill>
              </a:rPr>
              <a:t>from 17,802 completed orders; AOV $583</a:t>
            </a:r>
            <a:endParaRPr lang="en-US" sz="1150" dirty="0"/>
          </a:p>
        </p:txBody>
      </p:sp>
      <p:sp>
        <p:nvSpPr>
          <p:cNvPr id="15" name="mini-stat"/>
          <p:cNvSpPr/>
          <p:nvPr/>
        </p:nvSpPr>
        <p:spPr>
          <a:xfrm>
            <a:off x="3840480" y="4267505"/>
            <a:ext cx="1554480" cy="1932432"/>
          </a:xfrm>
          <a:prstGeom prst="roundRect">
            <a:avLst>
              <a:gd name="adj" fmla="val 7059"/>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6" name="mini-value"/>
          <p:cNvSpPr txBox="1"/>
          <p:nvPr/>
        </p:nvSpPr>
        <p:spPr>
          <a:xfrm>
            <a:off x="3977640" y="4358945"/>
            <a:ext cx="1280160" cy="502920"/>
          </a:xfrm>
          <a:prstGeom prst="rect">
            <a:avLst/>
          </a:prstGeom>
          <a:noFill/>
          <a:ln/>
        </p:spPr>
        <p:txBody>
          <a:bodyPr wrap="square" lIns="0" tIns="0" rIns="0" bIns="0" rtlCol="0" anchor="ctr"/>
          <a:lstStyle/>
          <a:p>
            <a:pPr marL="0" indent="0">
              <a:buNone/>
            </a:pPr>
            <a:r>
              <a:rPr lang="en-US" sz="2200" b="1" dirty="0">
                <a:solidFill>
                  <a:schemeClr val="accent3"/>
                </a:solidFill>
                <a:latin typeface="Cambria" pitchFamily="34" charset="0"/>
                <a:ea typeface="Cambria" pitchFamily="34" charset="-122"/>
                <a:cs typeface="Cambria" pitchFamily="34" charset="-120"/>
              </a:rPr>
              <a:t>$7.82M</a:t>
            </a:r>
            <a:endParaRPr lang="en-US" sz="2200" dirty="0"/>
          </a:p>
        </p:txBody>
      </p:sp>
      <p:sp>
        <p:nvSpPr>
          <p:cNvPr id="17" name="mini-label"/>
          <p:cNvSpPr txBox="1"/>
          <p:nvPr/>
        </p:nvSpPr>
        <p:spPr>
          <a:xfrm>
            <a:off x="3977640" y="4889297"/>
            <a:ext cx="1280160" cy="1246632"/>
          </a:xfrm>
          <a:prstGeom prst="rect">
            <a:avLst/>
          </a:prstGeom>
          <a:noFill/>
          <a:ln/>
        </p:spPr>
        <p:txBody>
          <a:bodyPr wrap="square" lIns="0" tIns="0" rIns="0" bIns="0" rtlCol="0" anchor="t"/>
          <a:lstStyle/>
          <a:p>
            <a:pPr marL="0" indent="0">
              <a:buNone/>
            </a:pPr>
            <a:r>
              <a:rPr lang="en-US" sz="1150" dirty="0">
                <a:solidFill>
                  <a:schemeClr val="tx1"/>
                </a:solidFill>
              </a:rPr>
              <a:t>gross profit, 75.3% margin</a:t>
            </a:r>
            <a:endParaRPr lang="en-US" sz="1150" dirty="0"/>
          </a:p>
        </p:txBody>
      </p:sp>
      <p:graphicFrame>
        <p:nvGraphicFramePr>
          <p:cNvPr id="18" name="Chart 0"/>
          <p:cNvGraphicFramePr/>
          <p:nvPr/>
        </p:nvGraphicFramePr>
        <p:xfrm>
          <a:off x="5669280" y="1188720"/>
          <a:ext cx="6062472" cy="2880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0" y="4206240"/>
          <a:ext cx="6062472" cy="1920240"/>
        </p:xfrm>
        <a:graphic>
          <a:graphicData uri="http://schemas.openxmlformats.org/drawingml/2006/table">
            <a:tbl>
              <a:tblPr/>
              <a:tblGrid>
                <a:gridCol w="2377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tblGrid>
              <a:tr h="274320">
                <a:tc>
                  <a:txBody>
                    <a:bodyPr/>
                    <a:lstStyle/>
                    <a:p>
                      <a:pPr marL="0" indent="0" algn="l">
                        <a:buNone/>
                      </a:pPr>
                      <a:r>
                        <a:rPr lang="en-US" sz="1100" b="1" dirty="0">
                          <a:solidFill>
                            <a:schemeClr val="bg1"/>
                          </a:solidFill>
                        </a:rPr>
                        <a:t>Category</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r">
                        <a:buNone/>
                      </a:pPr>
                      <a:r>
                        <a:rPr lang="en-US" sz="1100" b="1" dirty="0">
                          <a:solidFill>
                            <a:schemeClr val="bg1"/>
                          </a:solidFill>
                        </a:rPr>
                        <a:t>Revenue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r">
                        <a:buNone/>
                      </a:pPr>
                      <a:r>
                        <a:rPr lang="en-US" sz="1100" b="1" dirty="0">
                          <a:solidFill>
                            <a:schemeClr val="bg1"/>
                          </a:solidFill>
                        </a:rPr>
                        <a:t>Share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74320">
                <a:tc>
                  <a:txBody>
                    <a:bodyPr/>
                    <a:lstStyle/>
                    <a:p>
                      <a:pPr marL="0" indent="0" algn="l">
                        <a:buNone/>
                      </a:pPr>
                      <a:r>
                        <a:rPr lang="en-US" sz="1100" b="1" dirty="0">
                          <a:solidFill>
                            <a:schemeClr val="tx1"/>
                          </a:solidFill>
                        </a:rPr>
                        <a:t>Electronics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$9,306,136</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89.63%</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100" b="1" dirty="0">
                          <a:solidFill>
                            <a:schemeClr val="tx1"/>
                          </a:solidFill>
                        </a:rPr>
                        <a:t>Sports &amp; Outdoors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$377,191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3.63%</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2"/>
                  </a:ext>
                </a:extLst>
              </a:tr>
              <a:tr h="274320">
                <a:tc>
                  <a:txBody>
                    <a:bodyPr/>
                    <a:lstStyle/>
                    <a:p>
                      <a:pPr marL="0" indent="0" algn="l">
                        <a:buNone/>
                      </a:pPr>
                      <a:r>
                        <a:rPr lang="en-US" sz="1100" b="1" dirty="0">
                          <a:solidFill>
                            <a:schemeClr val="tx1"/>
                          </a:solidFill>
                        </a:rPr>
                        <a:t>Toys &amp; Games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$290,594</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2.80%</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100" b="1" dirty="0">
                          <a:solidFill>
                            <a:schemeClr val="tx1"/>
                          </a:solidFill>
                        </a:rPr>
                        <a:t>Pet Supplies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$218,040</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2.10%</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4"/>
                  </a:ext>
                </a:extLst>
              </a:tr>
              <a:tr h="274320">
                <a:tc>
                  <a:txBody>
                    <a:bodyPr/>
                    <a:lstStyle/>
                    <a:p>
                      <a:pPr marL="0" indent="0" algn="l">
                        <a:buNone/>
                      </a:pPr>
                      <a:r>
                        <a:rPr lang="en-US" sz="1100" b="1" dirty="0">
                          <a:solidFill>
                            <a:schemeClr val="tx1"/>
                          </a:solidFill>
                        </a:rPr>
                        <a:t>Clothing</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$114,607</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1.10%</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1100" b="1" dirty="0">
                          <a:solidFill>
                            <a:schemeClr val="tx1"/>
                          </a:solidFill>
                        </a:rPr>
                        <a:t>Home &amp; Kitchen</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$76,281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0.73%</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6"/>
                  </a:ext>
                </a:extLst>
              </a:tr>
            </a:tbl>
          </a:graphicData>
        </a:graphic>
      </p:graphicFrame>
      <p:sp>
        <p:nvSpPr>
          <p:cNvPr id="20"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Which products drive sales? Apple iMac Pro leads</a:t>
            </a:r>
            <a:endParaRPr lang="en-US" sz="2800" dirty="0"/>
          </a:p>
        </p:txBody>
      </p:sp>
      <p:sp>
        <p:nvSpPr>
          <p:cNvPr id="3" name="q-chip"/>
          <p:cNvSpPr/>
          <p:nvPr/>
        </p:nvSpPr>
        <p:spPr>
          <a:xfrm>
            <a:off x="11274552" y="109728"/>
            <a:ext cx="457200" cy="237744"/>
          </a:xfrm>
          <a:prstGeom prst="roundRect">
            <a:avLst>
              <a:gd name="adj" fmla="val 50000"/>
            </a:avLst>
          </a:prstGeom>
          <a:solidFill>
            <a:schemeClr val="accent1"/>
          </a:solidFill>
          <a:ln w="6350">
            <a:solidFill>
              <a:schemeClr val="accent1"/>
            </a:solidFill>
            <a:prstDash val="solid"/>
          </a:ln>
        </p:spPr>
      </p:sp>
      <p:sp>
        <p:nvSpPr>
          <p:cNvPr id="4" name="q-chip-label"/>
          <p:cNvSpPr txBox="1"/>
          <p:nvPr/>
        </p:nvSpPr>
        <p:spPr>
          <a:xfrm>
            <a:off x="11274552" y="109728"/>
            <a:ext cx="457200" cy="237744"/>
          </a:xfrm>
          <a:prstGeom prst="rect">
            <a:avLst/>
          </a:prstGeom>
          <a:noFill/>
          <a:ln/>
        </p:spPr>
        <p:txBody>
          <a:bodyPr wrap="square" lIns="0" tIns="0" rIns="0" bIns="0" rtlCol="0" anchor="ctr"/>
          <a:lstStyle/>
          <a:p>
            <a:pPr marL="0" indent="0" algn="ctr">
              <a:buNone/>
            </a:pPr>
            <a:r>
              <a:rPr lang="en-US" sz="1100" b="1" dirty="0">
                <a:solidFill>
                  <a:schemeClr val="bg1"/>
                </a:solidFill>
              </a:rPr>
              <a:t>Q2</a:t>
            </a:r>
            <a:endParaRPr lang="en-US" sz="1100" dirty="0"/>
          </a:p>
        </p:txBody>
      </p:sp>
      <p:sp>
        <p:nvSpPr>
          <p:cNvPr id="5" name="business-question"/>
          <p:cNvSpPr txBox="1"/>
          <p:nvPr/>
        </p:nvSpPr>
        <p:spPr>
          <a:xfrm>
            <a:off x="457200" y="822960"/>
            <a:ext cx="10149840" cy="219456"/>
          </a:xfrm>
          <a:prstGeom prst="rect">
            <a:avLst/>
          </a:prstGeom>
          <a:noFill/>
          <a:ln/>
        </p:spPr>
        <p:txBody>
          <a:bodyPr wrap="square" lIns="0" tIns="0" rIns="0" bIns="0" rtlCol="0" anchor="t"/>
          <a:lstStyle/>
          <a:p>
            <a:pPr marL="0" indent="0">
              <a:buNone/>
            </a:pPr>
            <a:r>
              <a:rPr lang="en-US" sz="1250" i="1" dirty="0">
                <a:solidFill>
                  <a:schemeClr val="accent5"/>
                </a:solidFill>
              </a:rPr>
              <a:t>Business question  Q2: Which products are the best sellers by revenue?</a:t>
            </a:r>
            <a:endParaRPr lang="en-US" sz="1250" dirty="0"/>
          </a:p>
        </p:txBody>
      </p:sp>
      <p:sp>
        <p:nvSpPr>
          <p:cNvPr id="6" name="code-panel"/>
          <p:cNvSpPr/>
          <p:nvPr/>
        </p:nvSpPr>
        <p:spPr>
          <a:xfrm>
            <a:off x="457200" y="1188720"/>
            <a:ext cx="4937760" cy="1981200"/>
          </a:xfrm>
          <a:prstGeom prst="roundRect">
            <a:avLst>
              <a:gd name="adj" fmla="val 4615"/>
            </a:avLst>
          </a:prstGeom>
          <a:solidFill>
            <a:srgbClr val="111C36"/>
          </a:solidFill>
          <a:ln w="6350">
            <a:solidFill>
              <a:srgbClr val="111C36"/>
            </a:solidFill>
            <a:prstDash val="solid"/>
          </a:ln>
          <a:effectLst>
            <a:outerShdw blurRad="177800" dist="50800" dir="5400000" algn="bl" rotWithShape="0">
              <a:srgbClr val="0F1B33">
                <a:alpha val="25000"/>
              </a:srgbClr>
            </a:outerShdw>
          </a:effectLst>
        </p:spPr>
      </p:sp>
      <p:sp>
        <p:nvSpPr>
          <p:cNvPr id="7" name="code-label"/>
          <p:cNvSpPr txBox="1"/>
          <p:nvPr/>
        </p:nvSpPr>
        <p:spPr>
          <a:xfrm>
            <a:off x="621792" y="1261872"/>
            <a:ext cx="4608576" cy="228600"/>
          </a:xfrm>
          <a:prstGeom prst="rect">
            <a:avLst/>
          </a:prstGeom>
          <a:noFill/>
          <a:ln/>
        </p:spPr>
        <p:txBody>
          <a:bodyPr wrap="square" lIns="0" tIns="0" rIns="0" bIns="0" rtlCol="0" anchor="t"/>
          <a:lstStyle/>
          <a:p>
            <a:pPr marL="0" indent="0">
              <a:buNone/>
            </a:pPr>
            <a:r>
              <a:rPr lang="en-US" sz="1100" b="1" dirty="0">
                <a:solidFill>
                  <a:srgbClr val="FFB454"/>
                </a:solidFill>
              </a:rPr>
              <a:t>Q2 | Top 10 products by completed revenue</a:t>
            </a:r>
            <a:endParaRPr lang="en-US" sz="1100" dirty="0"/>
          </a:p>
        </p:txBody>
      </p:sp>
      <p:sp>
        <p:nvSpPr>
          <p:cNvPr id="8" name="sql-code"/>
          <p:cNvSpPr txBox="1"/>
          <p:nvPr/>
        </p:nvSpPr>
        <p:spPr>
          <a:xfrm>
            <a:off x="621792" y="1517904"/>
            <a:ext cx="4663440" cy="1560576"/>
          </a:xfrm>
          <a:prstGeom prst="rect">
            <a:avLst/>
          </a:prstGeom>
          <a:noFill/>
          <a:ln/>
        </p:spPr>
        <p:txBody>
          <a:bodyPr wrap="none" lIns="0" tIns="0" rIns="0" bIns="0" rtlCol="0" anchor="t"/>
          <a:lstStyle/>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p.product_id, p.product_name,</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SUM</a:t>
            </a:r>
            <a:r>
              <a:rPr lang="en-US" sz="1000" dirty="0">
                <a:solidFill>
                  <a:srgbClr val="E8EEF9"/>
                </a:solidFill>
                <a:latin typeface="Courier New" pitchFamily="34" charset="0"/>
                <a:ea typeface="Courier New" pitchFamily="34" charset="-122"/>
                <a:cs typeface="Courier New" pitchFamily="34" charset="-120"/>
              </a:rPr>
              <a:t>(oi.quantity)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units,</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SUM</a:t>
            </a:r>
            <a:r>
              <a:rPr lang="en-US" sz="1000" dirty="0">
                <a:solidFill>
                  <a:srgbClr val="E8EEF9"/>
                </a:solidFill>
                <a:latin typeface="Courier New" pitchFamily="34" charset="0"/>
                <a:ea typeface="Courier New" pitchFamily="34" charset="-122"/>
                <a:cs typeface="Courier New" pitchFamily="34" charset="-120"/>
              </a:rPr>
              <a:t>(oi.quantity * oi.price_per_unit)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revenue</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orders o</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order_items oi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oi.order_id = o.order_id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products p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p.product_id = oi.product_id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WHERE</a:t>
            </a:r>
            <a:r>
              <a:rPr lang="en-US" sz="1000" dirty="0">
                <a:solidFill>
                  <a:srgbClr val="E8EEF9"/>
                </a:solidFill>
                <a:latin typeface="Courier New" pitchFamily="34" charset="0"/>
                <a:ea typeface="Courier New" pitchFamily="34" charset="-122"/>
                <a:cs typeface="Courier New" pitchFamily="34" charset="-120"/>
              </a:rPr>
              <a:t> o.order_status = </a:t>
            </a:r>
            <a:r>
              <a:rPr lang="en-US" sz="1000" dirty="0">
                <a:solidFill>
                  <a:srgbClr val="9AE6B4"/>
                </a:solidFill>
                <a:latin typeface="Courier New" pitchFamily="34" charset="0"/>
                <a:ea typeface="Courier New" pitchFamily="34" charset="-122"/>
                <a:cs typeface="Courier New" pitchFamily="34" charset="-120"/>
              </a:rPr>
              <a:t>'Completed'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GROUP</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p.product_id, p.product_name</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revenue </a:t>
            </a:r>
            <a:r>
              <a:rPr lang="en-US" sz="1000" b="1" dirty="0">
                <a:solidFill>
                  <a:srgbClr val="FFA94D"/>
                </a:solidFill>
                <a:latin typeface="Courier New" pitchFamily="34" charset="0"/>
                <a:ea typeface="Courier New" pitchFamily="34" charset="-122"/>
                <a:cs typeface="Courier New" pitchFamily="34" charset="-120"/>
              </a:rPr>
              <a:t>DESC</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LIMIT</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8AB4FF"/>
                </a:solidFill>
                <a:latin typeface="Courier New" pitchFamily="34" charset="0"/>
                <a:ea typeface="Courier New" pitchFamily="34" charset="-122"/>
                <a:cs typeface="Courier New" pitchFamily="34" charset="-120"/>
              </a:rPr>
              <a:t>10</a:t>
            </a:r>
            <a:r>
              <a:rPr lang="en-US" sz="1000" dirty="0">
                <a:solidFill>
                  <a:srgbClr val="E8EEF9"/>
                </a:solidFill>
                <a:latin typeface="Courier New" pitchFamily="34" charset="0"/>
                <a:ea typeface="Courier New" pitchFamily="34" charset="-122"/>
                <a:cs typeface="Courier New" pitchFamily="34" charset="-120"/>
              </a:rPr>
              <a:t>;</a:t>
            </a:r>
            <a:endParaRPr lang="en-US" sz="1000" dirty="0"/>
          </a:p>
        </p:txBody>
      </p:sp>
      <p:sp>
        <p:nvSpPr>
          <p:cNvPr id="9" name="mini-stat"/>
          <p:cNvSpPr/>
          <p:nvPr/>
        </p:nvSpPr>
        <p:spPr>
          <a:xfrm>
            <a:off x="457200" y="3353105"/>
            <a:ext cx="1554480" cy="1280160"/>
          </a:xfrm>
          <a:prstGeom prst="roundRect">
            <a:avLst>
              <a:gd name="adj" fmla="val 8571"/>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0" name="mini-value"/>
          <p:cNvSpPr txBox="1"/>
          <p:nvPr/>
        </p:nvSpPr>
        <p:spPr>
          <a:xfrm>
            <a:off x="594360" y="3444545"/>
            <a:ext cx="1280160" cy="502920"/>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$505K</a:t>
            </a:r>
            <a:endParaRPr lang="en-US" sz="2200" dirty="0"/>
          </a:p>
        </p:txBody>
      </p:sp>
      <p:sp>
        <p:nvSpPr>
          <p:cNvPr id="11" name="mini-label"/>
          <p:cNvSpPr txBox="1"/>
          <p:nvPr/>
        </p:nvSpPr>
        <p:spPr>
          <a:xfrm>
            <a:off x="594360" y="3974897"/>
            <a:ext cx="1280160" cy="594360"/>
          </a:xfrm>
          <a:prstGeom prst="rect">
            <a:avLst/>
          </a:prstGeom>
          <a:noFill/>
          <a:ln/>
        </p:spPr>
        <p:txBody>
          <a:bodyPr wrap="square" lIns="0" tIns="0" rIns="0" bIns="0" rtlCol="0" anchor="t"/>
          <a:lstStyle/>
          <a:p>
            <a:pPr marL="0" indent="0">
              <a:buNone/>
            </a:pPr>
            <a:r>
              <a:rPr lang="en-US" sz="1150" dirty="0">
                <a:solidFill>
                  <a:schemeClr val="tx1"/>
                </a:solidFill>
              </a:rPr>
              <a:t>iMac Pro: 4.9% of all revenue</a:t>
            </a:r>
            <a:endParaRPr lang="en-US" sz="1150" dirty="0"/>
          </a:p>
        </p:txBody>
      </p:sp>
      <p:sp>
        <p:nvSpPr>
          <p:cNvPr id="12" name="mini-stat"/>
          <p:cNvSpPr/>
          <p:nvPr/>
        </p:nvSpPr>
        <p:spPr>
          <a:xfrm>
            <a:off x="2148840" y="3353105"/>
            <a:ext cx="1554480" cy="1280160"/>
          </a:xfrm>
          <a:prstGeom prst="roundRect">
            <a:avLst>
              <a:gd name="adj" fmla="val 8571"/>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3" name="mini-value"/>
          <p:cNvSpPr txBox="1"/>
          <p:nvPr/>
        </p:nvSpPr>
        <p:spPr>
          <a:xfrm>
            <a:off x="2286000" y="3444545"/>
            <a:ext cx="1280160" cy="502920"/>
          </a:xfrm>
          <a:prstGeom prst="rect">
            <a:avLst/>
          </a:prstGeom>
          <a:noFill/>
          <a:ln/>
        </p:spPr>
        <p:txBody>
          <a:bodyPr wrap="square" lIns="0" tIns="0" rIns="0" bIns="0" rtlCol="0" anchor="ctr"/>
          <a:lstStyle/>
          <a:p>
            <a:pPr marL="0" indent="0">
              <a:buNone/>
            </a:pPr>
            <a:r>
              <a:rPr lang="en-US" sz="2200" b="1" dirty="0">
                <a:solidFill>
                  <a:schemeClr val="accent2"/>
                </a:solidFill>
                <a:latin typeface="Cambria" pitchFamily="34" charset="0"/>
                <a:ea typeface="Cambria" pitchFamily="34" charset="-122"/>
                <a:cs typeface="Cambria" pitchFamily="34" charset="-120"/>
              </a:rPr>
              <a:t>+$310K</a:t>
            </a:r>
            <a:endParaRPr lang="en-US" sz="2200" dirty="0"/>
          </a:p>
        </p:txBody>
      </p:sp>
      <p:sp>
        <p:nvSpPr>
          <p:cNvPr id="14" name="mini-label"/>
          <p:cNvSpPr txBox="1"/>
          <p:nvPr/>
        </p:nvSpPr>
        <p:spPr>
          <a:xfrm>
            <a:off x="2286000" y="3974897"/>
            <a:ext cx="1280160" cy="594360"/>
          </a:xfrm>
          <a:prstGeom prst="rect">
            <a:avLst/>
          </a:prstGeom>
          <a:noFill/>
          <a:ln/>
        </p:spPr>
        <p:txBody>
          <a:bodyPr wrap="square" lIns="0" tIns="0" rIns="0" bIns="0" rtlCol="0" anchor="t"/>
          <a:lstStyle/>
          <a:p>
            <a:pPr marL="0" indent="0">
              <a:buNone/>
            </a:pPr>
            <a:r>
              <a:rPr lang="en-US" sz="1150" dirty="0">
                <a:solidFill>
                  <a:schemeClr val="tx1"/>
                </a:solidFill>
              </a:rPr>
              <a:t>lead over #2, Canon EOS R5</a:t>
            </a:r>
            <a:endParaRPr lang="en-US" sz="1150" dirty="0"/>
          </a:p>
        </p:txBody>
      </p:sp>
      <p:sp>
        <p:nvSpPr>
          <p:cNvPr id="15" name="mini-stat"/>
          <p:cNvSpPr/>
          <p:nvPr/>
        </p:nvSpPr>
        <p:spPr>
          <a:xfrm>
            <a:off x="3840480" y="3353105"/>
            <a:ext cx="1554480" cy="1280160"/>
          </a:xfrm>
          <a:prstGeom prst="roundRect">
            <a:avLst>
              <a:gd name="adj" fmla="val 8571"/>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6" name="mini-value"/>
          <p:cNvSpPr txBox="1"/>
          <p:nvPr/>
        </p:nvSpPr>
        <p:spPr>
          <a:xfrm>
            <a:off x="3977640" y="3444545"/>
            <a:ext cx="1280160" cy="502920"/>
          </a:xfrm>
          <a:prstGeom prst="rect">
            <a:avLst/>
          </a:prstGeom>
          <a:noFill/>
          <a:ln/>
        </p:spPr>
        <p:txBody>
          <a:bodyPr wrap="square" lIns="0" tIns="0" rIns="0" bIns="0" rtlCol="0" anchor="ctr"/>
          <a:lstStyle/>
          <a:p>
            <a:pPr marL="0" indent="0">
              <a:buNone/>
            </a:pPr>
            <a:r>
              <a:rPr lang="en-US" sz="2200" b="1" dirty="0">
                <a:solidFill>
                  <a:schemeClr val="accent3"/>
                </a:solidFill>
                <a:latin typeface="Cambria" pitchFamily="34" charset="0"/>
                <a:ea typeface="Cambria" pitchFamily="34" charset="-122"/>
                <a:cs typeface="Cambria" pitchFamily="34" charset="-120"/>
              </a:rPr>
              <a:t>17.7%</a:t>
            </a:r>
            <a:endParaRPr lang="en-US" sz="2200" dirty="0"/>
          </a:p>
        </p:txBody>
      </p:sp>
      <p:sp>
        <p:nvSpPr>
          <p:cNvPr id="17" name="mini-label"/>
          <p:cNvSpPr txBox="1"/>
          <p:nvPr/>
        </p:nvSpPr>
        <p:spPr>
          <a:xfrm>
            <a:off x="3977640" y="3974897"/>
            <a:ext cx="1280160" cy="594360"/>
          </a:xfrm>
          <a:prstGeom prst="rect">
            <a:avLst/>
          </a:prstGeom>
          <a:noFill/>
          <a:ln/>
        </p:spPr>
        <p:txBody>
          <a:bodyPr wrap="square" lIns="0" tIns="0" rIns="0" bIns="0" rtlCol="0" anchor="t"/>
          <a:lstStyle/>
          <a:p>
            <a:pPr marL="0" indent="0">
              <a:buNone/>
            </a:pPr>
            <a:r>
              <a:rPr lang="en-US" sz="1150" dirty="0">
                <a:solidFill>
                  <a:schemeClr val="tx1"/>
                </a:solidFill>
              </a:rPr>
              <a:t>of revenue from the top 10</a:t>
            </a:r>
            <a:endParaRPr lang="en-US" sz="1150" dirty="0"/>
          </a:p>
        </p:txBody>
      </p:sp>
      <p:sp>
        <p:nvSpPr>
          <p:cNvPr id="18" name="insight-card"/>
          <p:cNvSpPr/>
          <p:nvPr/>
        </p:nvSpPr>
        <p:spPr>
          <a:xfrm>
            <a:off x="457200" y="4816145"/>
            <a:ext cx="4937760" cy="1383792"/>
          </a:xfrm>
          <a:prstGeom prst="roundRect">
            <a:avLst>
              <a:gd name="adj" fmla="val 793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9" name="insight-title"/>
          <p:cNvSpPr txBox="1"/>
          <p:nvPr/>
        </p:nvSpPr>
        <p:spPr>
          <a:xfrm>
            <a:off x="640080" y="4907585"/>
            <a:ext cx="4572000" cy="237744"/>
          </a:xfrm>
          <a:prstGeom prst="rect">
            <a:avLst/>
          </a:prstGeom>
          <a:noFill/>
          <a:ln/>
        </p:spPr>
        <p:txBody>
          <a:bodyPr wrap="square" lIns="0" tIns="0" rIns="0" bIns="0" rtlCol="0" anchor="t"/>
          <a:lstStyle/>
          <a:p>
            <a:pPr marL="0" indent="0">
              <a:buNone/>
            </a:pPr>
            <a:r>
              <a:rPr lang="en-US" sz="1300" b="1" dirty="0">
                <a:solidFill>
                  <a:schemeClr val="accent1"/>
                </a:solidFill>
              </a:rPr>
              <a:t>Reading the result</a:t>
            </a:r>
            <a:endParaRPr lang="en-US" sz="1300" dirty="0"/>
          </a:p>
        </p:txBody>
      </p:sp>
      <p:sp>
        <p:nvSpPr>
          <p:cNvPr id="20" name="insight-list"/>
          <p:cNvSpPr txBox="1"/>
          <p:nvPr/>
        </p:nvSpPr>
        <p:spPr>
          <a:xfrm>
            <a:off x="640080" y="5200193"/>
            <a:ext cx="4572000" cy="926592"/>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All top 10 products are Electronics</a:t>
            </a:r>
            <a:endParaRPr lang="en-US" sz="1200" dirty="0"/>
          </a:p>
          <a:p>
            <a:pPr marL="342900" indent="-342900">
              <a:spcAft>
                <a:spcPts val="300"/>
              </a:spcAft>
              <a:buSzPct val="100000"/>
              <a:buChar char="•"/>
            </a:pPr>
            <a:r>
              <a:rPr lang="en-US" sz="1200" dirty="0">
                <a:solidFill>
                  <a:schemeClr val="tx1"/>
                </a:solidFill>
              </a:rPr>
              <a:t>iMac Pro sells 101 units at $4,999.99 each</a:t>
            </a:r>
            <a:endParaRPr lang="en-US" sz="1200" dirty="0"/>
          </a:p>
        </p:txBody>
      </p:sp>
      <p:graphicFrame>
        <p:nvGraphicFramePr>
          <p:cNvPr id="21" name="Chart 0"/>
          <p:cNvGraphicFramePr/>
          <p:nvPr/>
        </p:nvGraphicFramePr>
        <p:xfrm>
          <a:off x="5669280" y="1188720"/>
          <a:ext cx="6062472" cy="3154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0" y="4462272"/>
          <a:ext cx="6062472" cy="1645920"/>
        </p:xfrm>
        <a:graphic>
          <a:graphicData uri="http://schemas.openxmlformats.org/drawingml/2006/table">
            <a:tbl>
              <a:tblPr/>
              <a:tblGrid>
                <a:gridCol w="31089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856232">
                  <a:extLst>
                    <a:ext uri="{9D8B030D-6E8A-4147-A177-3AD203B41FA5}">
                      <a16:colId xmlns:a16="http://schemas.microsoft.com/office/drawing/2014/main" val="20002"/>
                    </a:ext>
                  </a:extLst>
                </a:gridCol>
              </a:tblGrid>
              <a:tr h="274320">
                <a:tc>
                  <a:txBody>
                    <a:bodyPr/>
                    <a:lstStyle/>
                    <a:p>
                      <a:pPr marL="0" indent="0" algn="l">
                        <a:buNone/>
                      </a:pPr>
                      <a:r>
                        <a:rPr lang="en-US" sz="1100" b="1" dirty="0">
                          <a:solidFill>
                            <a:schemeClr val="bg1"/>
                          </a:solidFill>
                        </a:rPr>
                        <a:t>Top 5 products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r">
                        <a:buNone/>
                      </a:pPr>
                      <a:r>
                        <a:rPr lang="en-US" sz="1100" b="1" dirty="0">
                          <a:solidFill>
                            <a:schemeClr val="bg1"/>
                          </a:solidFill>
                        </a:rPr>
                        <a:t>Units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r">
                        <a:buNone/>
                      </a:pPr>
                      <a:r>
                        <a:rPr lang="en-US" sz="1100" b="1" dirty="0">
                          <a:solidFill>
                            <a:schemeClr val="bg1"/>
                          </a:solidFill>
                        </a:rPr>
                        <a:t>Revenue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74320">
                <a:tc>
                  <a:txBody>
                    <a:bodyPr/>
                    <a:lstStyle/>
                    <a:p>
                      <a:pPr marL="0" indent="0" algn="l">
                        <a:buNone/>
                      </a:pPr>
                      <a:r>
                        <a:rPr lang="en-US" sz="1100" b="1" dirty="0">
                          <a:solidFill>
                            <a:schemeClr val="tx1"/>
                          </a:solidFill>
                        </a:rPr>
                        <a:t>Apple iMac Pro</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101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$504,999</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100" b="1" dirty="0">
                          <a:solidFill>
                            <a:schemeClr val="tx1"/>
                          </a:solidFill>
                        </a:rPr>
                        <a:t>Canon EOS R5 Mirrorless Camera</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50</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$195,000</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2"/>
                  </a:ext>
                </a:extLst>
              </a:tr>
              <a:tr h="274320">
                <a:tc>
                  <a:txBody>
                    <a:bodyPr/>
                    <a:lstStyle/>
                    <a:p>
                      <a:pPr marL="0" indent="0" algn="l">
                        <a:buNone/>
                      </a:pPr>
                      <a:r>
                        <a:rPr lang="en-US" sz="1100" b="1" dirty="0">
                          <a:solidFill>
                            <a:schemeClr val="tx1"/>
                          </a:solidFill>
                        </a:rPr>
                        <a:t>Apple iMac 27-Inch Retina</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102</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$183,599</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100" b="1" dirty="0">
                          <a:solidFill>
                            <a:schemeClr val="tx1"/>
                          </a:solidFill>
                        </a:rPr>
                        <a:t>Apple iMac 24-Inch</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120</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$155,999</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4"/>
                  </a:ext>
                </a:extLst>
              </a:tr>
              <a:tr h="274320">
                <a:tc>
                  <a:txBody>
                    <a:bodyPr/>
                    <a:lstStyle/>
                    <a:p>
                      <a:pPr marL="0" indent="0" algn="l">
                        <a:buNone/>
                      </a:pPr>
                      <a:r>
                        <a:rPr lang="en-US" sz="1100" b="1" dirty="0">
                          <a:solidFill>
                            <a:schemeClr val="tx1"/>
                          </a:solidFill>
                        </a:rPr>
                        <a:t>Apple MacBook Pro 16-inch (2021)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59</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$147,499</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Revenue trend: steady to 2023, then a sharp monthly drop</a:t>
            </a:r>
            <a:endParaRPr lang="en-US" sz="2800" dirty="0"/>
          </a:p>
        </p:txBody>
      </p:sp>
      <p:sp>
        <p:nvSpPr>
          <p:cNvPr id="3" name="q-chip"/>
          <p:cNvSpPr/>
          <p:nvPr/>
        </p:nvSpPr>
        <p:spPr>
          <a:xfrm>
            <a:off x="11274552" y="109728"/>
            <a:ext cx="457200" cy="237744"/>
          </a:xfrm>
          <a:prstGeom prst="roundRect">
            <a:avLst>
              <a:gd name="adj" fmla="val 50000"/>
            </a:avLst>
          </a:prstGeom>
          <a:solidFill>
            <a:schemeClr val="accent1"/>
          </a:solidFill>
          <a:ln w="6350">
            <a:solidFill>
              <a:schemeClr val="accent1"/>
            </a:solidFill>
            <a:prstDash val="solid"/>
          </a:ln>
        </p:spPr>
      </p:sp>
      <p:sp>
        <p:nvSpPr>
          <p:cNvPr id="4" name="q-chip-label"/>
          <p:cNvSpPr txBox="1"/>
          <p:nvPr/>
        </p:nvSpPr>
        <p:spPr>
          <a:xfrm>
            <a:off x="11274552" y="109728"/>
            <a:ext cx="457200" cy="237744"/>
          </a:xfrm>
          <a:prstGeom prst="rect">
            <a:avLst/>
          </a:prstGeom>
          <a:noFill/>
          <a:ln/>
        </p:spPr>
        <p:txBody>
          <a:bodyPr wrap="square" lIns="0" tIns="0" rIns="0" bIns="0" rtlCol="0" anchor="ctr"/>
          <a:lstStyle/>
          <a:p>
            <a:pPr marL="0" indent="0" algn="ctr">
              <a:buNone/>
            </a:pPr>
            <a:r>
              <a:rPr lang="en-US" sz="1100" b="1" dirty="0">
                <a:solidFill>
                  <a:schemeClr val="bg1"/>
                </a:solidFill>
              </a:rPr>
              <a:t>Q9</a:t>
            </a:r>
            <a:endParaRPr lang="en-US" sz="1100" dirty="0"/>
          </a:p>
        </p:txBody>
      </p:sp>
      <p:sp>
        <p:nvSpPr>
          <p:cNvPr id="5" name="business-question"/>
          <p:cNvSpPr txBox="1"/>
          <p:nvPr/>
        </p:nvSpPr>
        <p:spPr>
          <a:xfrm>
            <a:off x="457200" y="822960"/>
            <a:ext cx="10149840" cy="219456"/>
          </a:xfrm>
          <a:prstGeom prst="rect">
            <a:avLst/>
          </a:prstGeom>
          <a:noFill/>
          <a:ln/>
        </p:spPr>
        <p:txBody>
          <a:bodyPr wrap="square" lIns="0" tIns="0" rIns="0" bIns="0" rtlCol="0" anchor="t"/>
          <a:lstStyle/>
          <a:p>
            <a:pPr marL="0" indent="0">
              <a:buNone/>
            </a:pPr>
            <a:r>
              <a:rPr lang="en-US" sz="1250" i="1" dirty="0">
                <a:solidFill>
                  <a:schemeClr val="accent5"/>
                </a:solidFill>
              </a:rPr>
              <a:t>Business question  Q9: How has revenue changed year over year?</a:t>
            </a:r>
            <a:endParaRPr lang="en-US" sz="1250" dirty="0"/>
          </a:p>
        </p:txBody>
      </p:sp>
      <p:sp>
        <p:nvSpPr>
          <p:cNvPr id="6" name="code-panel"/>
          <p:cNvSpPr/>
          <p:nvPr/>
        </p:nvSpPr>
        <p:spPr>
          <a:xfrm>
            <a:off x="457200" y="1188720"/>
            <a:ext cx="4937760" cy="2438400"/>
          </a:xfrm>
          <a:prstGeom prst="roundRect">
            <a:avLst>
              <a:gd name="adj" fmla="val 3750"/>
            </a:avLst>
          </a:prstGeom>
          <a:solidFill>
            <a:srgbClr val="111C36"/>
          </a:solidFill>
          <a:ln w="6350">
            <a:solidFill>
              <a:srgbClr val="111C36"/>
            </a:solidFill>
            <a:prstDash val="solid"/>
          </a:ln>
          <a:effectLst>
            <a:outerShdw blurRad="177800" dist="50800" dir="5400000" algn="bl" rotWithShape="0">
              <a:srgbClr val="0F1B33">
                <a:alpha val="25000"/>
              </a:srgbClr>
            </a:outerShdw>
          </a:effectLst>
        </p:spPr>
      </p:sp>
      <p:sp>
        <p:nvSpPr>
          <p:cNvPr id="7" name="code-label"/>
          <p:cNvSpPr txBox="1"/>
          <p:nvPr/>
        </p:nvSpPr>
        <p:spPr>
          <a:xfrm>
            <a:off x="621792" y="1261872"/>
            <a:ext cx="4608576" cy="228600"/>
          </a:xfrm>
          <a:prstGeom prst="rect">
            <a:avLst/>
          </a:prstGeom>
          <a:noFill/>
          <a:ln/>
        </p:spPr>
        <p:txBody>
          <a:bodyPr wrap="square" lIns="0" tIns="0" rIns="0" bIns="0" rtlCol="0" anchor="t"/>
          <a:lstStyle/>
          <a:p>
            <a:pPr marL="0" indent="0">
              <a:buNone/>
            </a:pPr>
            <a:r>
              <a:rPr lang="en-US" sz="1100" b="1" dirty="0">
                <a:solidFill>
                  <a:srgbClr val="FFB454"/>
                </a:solidFill>
              </a:rPr>
              <a:t>Q9 | Yearly revenue and growth (CTE + LAG)</a:t>
            </a:r>
            <a:endParaRPr lang="en-US" sz="1100" dirty="0"/>
          </a:p>
        </p:txBody>
      </p:sp>
      <p:sp>
        <p:nvSpPr>
          <p:cNvPr id="8" name="sql-code"/>
          <p:cNvSpPr txBox="1"/>
          <p:nvPr/>
        </p:nvSpPr>
        <p:spPr>
          <a:xfrm>
            <a:off x="621792" y="1517904"/>
            <a:ext cx="4663440" cy="2017776"/>
          </a:xfrm>
          <a:prstGeom prst="rect">
            <a:avLst/>
          </a:prstGeom>
          <a:noFill/>
          <a:ln/>
        </p:spPr>
        <p:txBody>
          <a:bodyPr wrap="none" lIns="0" tIns="0" rIns="0" bIns="0" rtlCol="0" anchor="t"/>
          <a:lstStyle/>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WITH</a:t>
            </a:r>
            <a:r>
              <a:rPr lang="en-US" sz="1000" dirty="0">
                <a:solidFill>
                  <a:srgbClr val="E8EEF9"/>
                </a:solidFill>
                <a:latin typeface="Courier New" pitchFamily="34" charset="0"/>
                <a:ea typeface="Courier New" pitchFamily="34" charset="-122"/>
                <a:cs typeface="Courier New" pitchFamily="34" charset="-120"/>
              </a:rPr>
              <a:t> yearly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YEAR</a:t>
            </a:r>
            <a:r>
              <a:rPr lang="en-US" sz="1000" dirty="0">
                <a:solidFill>
                  <a:srgbClr val="E8EEF9"/>
                </a:solidFill>
                <a:latin typeface="Courier New" pitchFamily="34" charset="0"/>
                <a:ea typeface="Courier New" pitchFamily="34" charset="-122"/>
                <a:cs typeface="Courier New" pitchFamily="34" charset="-120"/>
              </a:rPr>
              <a:t>(o.order_date)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yr,</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SUM</a:t>
            </a:r>
            <a:r>
              <a:rPr lang="en-US" sz="1000" dirty="0">
                <a:solidFill>
                  <a:srgbClr val="E8EEF9"/>
                </a:solidFill>
                <a:latin typeface="Courier New" pitchFamily="34" charset="0"/>
                <a:ea typeface="Courier New" pitchFamily="34" charset="-122"/>
                <a:cs typeface="Courier New" pitchFamily="34" charset="-120"/>
              </a:rPr>
              <a:t>(oi.quantity * oi.price_per_unit)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revenue</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orders o</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order_items oi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oi.order_id = o.order_id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WHERE</a:t>
            </a:r>
            <a:r>
              <a:rPr lang="en-US" sz="1000" dirty="0">
                <a:solidFill>
                  <a:srgbClr val="E8EEF9"/>
                </a:solidFill>
                <a:latin typeface="Courier New" pitchFamily="34" charset="0"/>
                <a:ea typeface="Courier New" pitchFamily="34" charset="-122"/>
                <a:cs typeface="Courier New" pitchFamily="34" charset="-120"/>
              </a:rPr>
              <a:t> o.order_status = </a:t>
            </a:r>
            <a:r>
              <a:rPr lang="en-US" sz="1000" dirty="0">
                <a:solidFill>
                  <a:srgbClr val="9AE6B4"/>
                </a:solidFill>
                <a:latin typeface="Courier New" pitchFamily="34" charset="0"/>
                <a:ea typeface="Courier New" pitchFamily="34" charset="-122"/>
                <a:cs typeface="Courier New" pitchFamily="34" charset="-120"/>
              </a:rPr>
              <a:t>'Completed'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GROUP</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YEAR</a:t>
            </a:r>
            <a:r>
              <a:rPr lang="en-US" sz="1000" dirty="0">
                <a:solidFill>
                  <a:srgbClr val="E8EEF9"/>
                </a:solidFill>
                <a:latin typeface="Courier New" pitchFamily="34" charset="0"/>
                <a:ea typeface="Courier New" pitchFamily="34" charset="-122"/>
                <a:cs typeface="Courier New" pitchFamily="34" charset="-120"/>
              </a:rPr>
              <a:t>(o.order_date))</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yr, revenue,</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LAG</a:t>
            </a:r>
            <a:r>
              <a:rPr lang="en-US" sz="1000" dirty="0">
                <a:solidFill>
                  <a:srgbClr val="E8EEF9"/>
                </a:solidFill>
                <a:latin typeface="Courier New" pitchFamily="34" charset="0"/>
                <a:ea typeface="Courier New" pitchFamily="34" charset="-122"/>
                <a:cs typeface="Courier New" pitchFamily="34" charset="-120"/>
              </a:rPr>
              <a:t>(revenue) </a:t>
            </a:r>
            <a:r>
              <a:rPr lang="en-US" sz="1000" b="1" dirty="0">
                <a:solidFill>
                  <a:srgbClr val="FFA94D"/>
                </a:solidFill>
                <a:latin typeface="Courier New" pitchFamily="34" charset="0"/>
                <a:ea typeface="Courier New" pitchFamily="34" charset="-122"/>
                <a:cs typeface="Courier New" pitchFamily="34" charset="-120"/>
              </a:rPr>
              <a:t>OVER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yr)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prev_revenue,</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ROUND</a:t>
            </a:r>
            <a:r>
              <a:rPr lang="en-US" sz="1000" dirty="0">
                <a:solidFill>
                  <a:srgbClr val="E8EEF9"/>
                </a:solidFill>
                <a:latin typeface="Courier New" pitchFamily="34" charset="0"/>
                <a:ea typeface="Courier New" pitchFamily="34" charset="-122"/>
                <a:cs typeface="Courier New" pitchFamily="34" charset="-120"/>
              </a:rPr>
              <a:t>(</a:t>
            </a:r>
            <a:r>
              <a:rPr lang="en-US" sz="1000" dirty="0">
                <a:solidFill>
                  <a:srgbClr val="8AB4FF"/>
                </a:solidFill>
                <a:latin typeface="Courier New" pitchFamily="34" charset="0"/>
                <a:ea typeface="Courier New" pitchFamily="34" charset="-122"/>
                <a:cs typeface="Courier New" pitchFamily="34" charset="-120"/>
              </a:rPr>
              <a:t>100.0</a:t>
            </a:r>
            <a:r>
              <a:rPr lang="en-US" sz="1000" dirty="0">
                <a:solidFill>
                  <a:srgbClr val="E8EEF9"/>
                </a:solidFill>
                <a:latin typeface="Courier New" pitchFamily="34" charset="0"/>
                <a:ea typeface="Courier New" pitchFamily="34" charset="-122"/>
                <a:cs typeface="Courier New" pitchFamily="34" charset="-120"/>
              </a:rPr>
              <a:t> * (revenue - </a:t>
            </a:r>
            <a:r>
              <a:rPr lang="en-US" sz="1000" dirty="0">
                <a:solidFill>
                  <a:srgbClr val="4FD1C5"/>
                </a:solidFill>
                <a:latin typeface="Courier New" pitchFamily="34" charset="0"/>
                <a:ea typeface="Courier New" pitchFamily="34" charset="-122"/>
                <a:cs typeface="Courier New" pitchFamily="34" charset="-120"/>
              </a:rPr>
              <a:t>LAG</a:t>
            </a:r>
            <a:r>
              <a:rPr lang="en-US" sz="1000" dirty="0">
                <a:solidFill>
                  <a:srgbClr val="E8EEF9"/>
                </a:solidFill>
                <a:latin typeface="Courier New" pitchFamily="34" charset="0"/>
                <a:ea typeface="Courier New" pitchFamily="34" charset="-122"/>
                <a:cs typeface="Courier New" pitchFamily="34" charset="-120"/>
              </a:rPr>
              <a:t>(revenue)</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OVER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yr)) / </a:t>
            </a:r>
            <a:r>
              <a:rPr lang="en-US" sz="1000" dirty="0">
                <a:solidFill>
                  <a:srgbClr val="4FD1C5"/>
                </a:solidFill>
                <a:latin typeface="Courier New" pitchFamily="34" charset="0"/>
                <a:ea typeface="Courier New" pitchFamily="34" charset="-122"/>
                <a:cs typeface="Courier New" pitchFamily="34" charset="-120"/>
              </a:rPr>
              <a:t>LAG</a:t>
            </a:r>
            <a:r>
              <a:rPr lang="en-US" sz="1000" dirty="0">
                <a:solidFill>
                  <a:srgbClr val="E8EEF9"/>
                </a:solidFill>
                <a:latin typeface="Courier New" pitchFamily="34" charset="0"/>
                <a:ea typeface="Courier New" pitchFamily="34" charset="-122"/>
                <a:cs typeface="Courier New" pitchFamily="34" charset="-120"/>
              </a:rPr>
              <a:t>(revenue)</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OVER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yr), </a:t>
            </a:r>
            <a:r>
              <a:rPr lang="en-US" sz="1000" dirty="0">
                <a:solidFill>
                  <a:srgbClr val="8AB4FF"/>
                </a:solidFill>
                <a:latin typeface="Courier New" pitchFamily="34" charset="0"/>
                <a:ea typeface="Courier New" pitchFamily="34" charset="-122"/>
                <a:cs typeface="Courier New" pitchFamily="34" charset="-120"/>
              </a:rPr>
              <a:t>1</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growth_pct</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yearly;</a:t>
            </a:r>
            <a:endParaRPr lang="en-US" sz="1000" dirty="0"/>
          </a:p>
        </p:txBody>
      </p:sp>
      <p:sp>
        <p:nvSpPr>
          <p:cNvPr id="9" name="insight-card"/>
          <p:cNvSpPr/>
          <p:nvPr/>
        </p:nvSpPr>
        <p:spPr>
          <a:xfrm>
            <a:off x="457200" y="3810305"/>
            <a:ext cx="4937760" cy="2389632"/>
          </a:xfrm>
          <a:prstGeom prst="roundRect">
            <a:avLst>
              <a:gd name="adj" fmla="val 4592"/>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0" name="insight-title"/>
          <p:cNvSpPr txBox="1"/>
          <p:nvPr/>
        </p:nvSpPr>
        <p:spPr>
          <a:xfrm>
            <a:off x="640080" y="3901745"/>
            <a:ext cx="4572000" cy="237744"/>
          </a:xfrm>
          <a:prstGeom prst="rect">
            <a:avLst/>
          </a:prstGeom>
          <a:noFill/>
          <a:ln/>
        </p:spPr>
        <p:txBody>
          <a:bodyPr wrap="square" lIns="0" tIns="0" rIns="0" bIns="0" rtlCol="0" anchor="t"/>
          <a:lstStyle/>
          <a:p>
            <a:pPr marL="0" indent="0">
              <a:buNone/>
            </a:pPr>
            <a:r>
              <a:rPr lang="en-US" sz="1300" b="1" dirty="0">
                <a:solidFill>
                  <a:schemeClr val="accent1"/>
                </a:solidFill>
              </a:rPr>
              <a:t>Check data capture before trusting 2024</a:t>
            </a:r>
            <a:endParaRPr lang="en-US" sz="1300" dirty="0"/>
          </a:p>
        </p:txBody>
      </p:sp>
      <p:sp>
        <p:nvSpPr>
          <p:cNvPr id="11" name="insight-list"/>
          <p:cNvSpPr txBox="1"/>
          <p:nvPr/>
        </p:nvSpPr>
        <p:spPr>
          <a:xfrm>
            <a:off x="640080" y="4194353"/>
            <a:ext cx="4572000" cy="1932432"/>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Data ends 2024-07-30: 2024 is a partial year, so the -85.7% is not a real decline.</a:t>
            </a:r>
            <a:endParaRPr lang="en-US" sz="1200" dirty="0"/>
          </a:p>
          <a:p>
            <a:pPr marL="342900" indent="-342900">
              <a:spcAft>
                <a:spcPts val="300"/>
              </a:spcAft>
              <a:buSzPct val="100000"/>
              <a:buChar char="•"/>
            </a:pPr>
            <a:r>
              <a:rPr lang="en-US" sz="1200" dirty="0">
                <a:solidFill>
                  <a:schemeClr val="tx1"/>
                </a:solidFill>
              </a:rPr>
              <a:t>Orders per month (all statuses) fall from about 290 in Nov-Dec 2023 to 100-110 from Mar 2024.</a:t>
            </a:r>
            <a:endParaRPr lang="en-US" sz="1200" dirty="0"/>
          </a:p>
          <a:p>
            <a:pPr marL="342900" indent="-342900">
              <a:spcAft>
                <a:spcPts val="300"/>
              </a:spcAft>
              <a:buSzPct val="100000"/>
              <a:buChar char="•"/>
            </a:pPr>
            <a:r>
              <a:rPr lang="en-US" sz="1200" dirty="0">
                <a:solidFill>
                  <a:schemeClr val="tx1"/>
                </a:solidFill>
              </a:rPr>
              <a:t>Completed revenue falls from a $224K monthly average in 2023 to under $25K a month, Mar-Jul 2024.</a:t>
            </a:r>
            <a:endParaRPr lang="en-US" sz="1200" dirty="0"/>
          </a:p>
        </p:txBody>
      </p:sp>
      <p:graphicFrame>
        <p:nvGraphicFramePr>
          <p:cNvPr id="12" name="Chart 0"/>
          <p:cNvGraphicFramePr/>
          <p:nvPr/>
        </p:nvGraphicFramePr>
        <p:xfrm>
          <a:off x="5669280" y="1188720"/>
          <a:ext cx="6062472"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0" y="4023360"/>
          <a:ext cx="6062472" cy="2084832"/>
        </p:xfrm>
        <a:graphic>
          <a:graphicData uri="http://schemas.openxmlformats.org/drawingml/2006/table">
            <a:tbl>
              <a:tblPr/>
              <a:tblGrid>
                <a:gridCol w="914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81912">
                  <a:extLst>
                    <a:ext uri="{9D8B030D-6E8A-4147-A177-3AD203B41FA5}">
                      <a16:colId xmlns:a16="http://schemas.microsoft.com/office/drawing/2014/main" val="20003"/>
                    </a:ext>
                  </a:extLst>
                </a:gridCol>
              </a:tblGrid>
              <a:tr h="347472">
                <a:tc>
                  <a:txBody>
                    <a:bodyPr/>
                    <a:lstStyle/>
                    <a:p>
                      <a:pPr marL="0" indent="0" algn="l">
                        <a:buNone/>
                      </a:pPr>
                      <a:r>
                        <a:rPr lang="en-US" sz="1100" b="1" dirty="0">
                          <a:solidFill>
                            <a:schemeClr val="bg1"/>
                          </a:solidFill>
                        </a:rPr>
                        <a:t>Year</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r">
                        <a:buNone/>
                      </a:pPr>
                      <a:r>
                        <a:rPr lang="en-US" sz="1100" b="1" dirty="0">
                          <a:solidFill>
                            <a:schemeClr val="bg1"/>
                          </a:solidFill>
                        </a:rPr>
                        <a:t>Revenue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r">
                        <a:buNone/>
                      </a:pPr>
                      <a:r>
                        <a:rPr lang="en-US" sz="1100" b="1" dirty="0">
                          <a:solidFill>
                            <a:schemeClr val="bg1"/>
                          </a:solidFill>
                        </a:rPr>
                        <a:t>Prev year</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r">
                        <a:buNone/>
                      </a:pPr>
                      <a:r>
                        <a:rPr lang="en-US" sz="1100" b="1" dirty="0">
                          <a:solidFill>
                            <a:schemeClr val="bg1"/>
                          </a:solidFill>
                        </a:rPr>
                        <a:t>Growth</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47472">
                <a:tc>
                  <a:txBody>
                    <a:bodyPr/>
                    <a:lstStyle/>
                    <a:p>
                      <a:pPr marL="0" indent="0" algn="l">
                        <a:buNone/>
                      </a:pPr>
                      <a:r>
                        <a:rPr lang="en-US" sz="1100" b="1" dirty="0">
                          <a:solidFill>
                            <a:schemeClr val="tx1"/>
                          </a:solidFill>
                        </a:rPr>
                        <a:t>2020</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$2,023,678</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100" b="1" dirty="0">
                          <a:solidFill>
                            <a:schemeClr val="tx1"/>
                          </a:solidFill>
                        </a:rPr>
                        <a:t>2021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$2,725,931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$2,023,678</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+34.7%</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2"/>
                  </a:ext>
                </a:extLst>
              </a:tr>
              <a:tr h="347472">
                <a:tc>
                  <a:txBody>
                    <a:bodyPr/>
                    <a:lstStyle/>
                    <a:p>
                      <a:pPr marL="0" indent="0" algn="l">
                        <a:buNone/>
                      </a:pPr>
                      <a:r>
                        <a:rPr lang="en-US" sz="1100" b="1" dirty="0">
                          <a:solidFill>
                            <a:schemeClr val="tx1"/>
                          </a:solidFill>
                        </a:rPr>
                        <a:t>2022</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$2,566,081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$2,725,931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-5.9%</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100" b="1" dirty="0">
                          <a:solidFill>
                            <a:schemeClr val="tx1"/>
                          </a:solidFill>
                        </a:rPr>
                        <a:t>2023</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$2,682,791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$2,566,081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+4.5%</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4"/>
                  </a:ext>
                </a:extLst>
              </a:tr>
              <a:tr h="347472">
                <a:tc>
                  <a:txBody>
                    <a:bodyPr/>
                    <a:lstStyle/>
                    <a:p>
                      <a:pPr marL="0" indent="0" algn="l">
                        <a:buNone/>
                      </a:pPr>
                      <a:r>
                        <a:rPr lang="en-US" sz="1100" b="1" dirty="0">
                          <a:solidFill>
                            <a:schemeClr val="tx1"/>
                          </a:solidFill>
                        </a:rPr>
                        <a:t>2024</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$384,369</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$2,682,791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-85.7%</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4"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Where is revenue concentrated? Ohio and Texas</a:t>
            </a:r>
            <a:endParaRPr lang="en-US" sz="2800" dirty="0"/>
          </a:p>
        </p:txBody>
      </p:sp>
      <p:sp>
        <p:nvSpPr>
          <p:cNvPr id="3" name="q-chip"/>
          <p:cNvSpPr/>
          <p:nvPr/>
        </p:nvSpPr>
        <p:spPr>
          <a:xfrm>
            <a:off x="11274552" y="109728"/>
            <a:ext cx="457200" cy="237744"/>
          </a:xfrm>
          <a:prstGeom prst="roundRect">
            <a:avLst>
              <a:gd name="adj" fmla="val 50000"/>
            </a:avLst>
          </a:prstGeom>
          <a:solidFill>
            <a:schemeClr val="accent1"/>
          </a:solidFill>
          <a:ln w="6350">
            <a:solidFill>
              <a:schemeClr val="accent1"/>
            </a:solidFill>
            <a:prstDash val="solid"/>
          </a:ln>
        </p:spPr>
      </p:sp>
      <p:sp>
        <p:nvSpPr>
          <p:cNvPr id="4" name="q-chip-label"/>
          <p:cNvSpPr txBox="1"/>
          <p:nvPr/>
        </p:nvSpPr>
        <p:spPr>
          <a:xfrm>
            <a:off x="11274552" y="109728"/>
            <a:ext cx="457200" cy="237744"/>
          </a:xfrm>
          <a:prstGeom prst="rect">
            <a:avLst/>
          </a:prstGeom>
          <a:noFill/>
          <a:ln/>
        </p:spPr>
        <p:txBody>
          <a:bodyPr wrap="square" lIns="0" tIns="0" rIns="0" bIns="0" rtlCol="0" anchor="ctr"/>
          <a:lstStyle/>
          <a:p>
            <a:pPr marL="0" indent="0" algn="ctr">
              <a:buNone/>
            </a:pPr>
            <a:r>
              <a:rPr lang="en-US" sz="1100" b="1" dirty="0">
                <a:solidFill>
                  <a:schemeClr val="bg1"/>
                </a:solidFill>
              </a:rPr>
              <a:t>Q3</a:t>
            </a:r>
            <a:endParaRPr lang="en-US" sz="1100" dirty="0"/>
          </a:p>
        </p:txBody>
      </p:sp>
      <p:sp>
        <p:nvSpPr>
          <p:cNvPr id="5" name="business-question"/>
          <p:cNvSpPr txBox="1"/>
          <p:nvPr/>
        </p:nvSpPr>
        <p:spPr>
          <a:xfrm>
            <a:off x="457200" y="822960"/>
            <a:ext cx="10149840" cy="219456"/>
          </a:xfrm>
          <a:prstGeom prst="rect">
            <a:avLst/>
          </a:prstGeom>
          <a:noFill/>
          <a:ln/>
        </p:spPr>
        <p:txBody>
          <a:bodyPr wrap="square" lIns="0" tIns="0" rIns="0" bIns="0" rtlCol="0" anchor="t"/>
          <a:lstStyle/>
          <a:p>
            <a:pPr marL="0" indent="0">
              <a:buNone/>
            </a:pPr>
            <a:r>
              <a:rPr lang="en-US" sz="1250" i="1" dirty="0">
                <a:solidFill>
                  <a:schemeClr val="accent5"/>
                </a:solidFill>
              </a:rPr>
              <a:t>Business question  Q3: Which states bring in the most revenue?</a:t>
            </a:r>
            <a:endParaRPr lang="en-US" sz="1250" dirty="0"/>
          </a:p>
        </p:txBody>
      </p:sp>
      <p:sp>
        <p:nvSpPr>
          <p:cNvPr id="6" name="code-panel"/>
          <p:cNvSpPr/>
          <p:nvPr/>
        </p:nvSpPr>
        <p:spPr>
          <a:xfrm>
            <a:off x="457200" y="1188720"/>
            <a:ext cx="4937760" cy="1828800"/>
          </a:xfrm>
          <a:prstGeom prst="roundRect">
            <a:avLst>
              <a:gd name="adj" fmla="val 5000"/>
            </a:avLst>
          </a:prstGeom>
          <a:solidFill>
            <a:srgbClr val="111C36"/>
          </a:solidFill>
          <a:ln w="6350">
            <a:solidFill>
              <a:srgbClr val="111C36"/>
            </a:solidFill>
            <a:prstDash val="solid"/>
          </a:ln>
          <a:effectLst>
            <a:outerShdw blurRad="177800" dist="50800" dir="5400000" algn="bl" rotWithShape="0">
              <a:srgbClr val="0F1B33">
                <a:alpha val="25000"/>
              </a:srgbClr>
            </a:outerShdw>
          </a:effectLst>
        </p:spPr>
      </p:sp>
      <p:sp>
        <p:nvSpPr>
          <p:cNvPr id="7" name="code-label"/>
          <p:cNvSpPr txBox="1"/>
          <p:nvPr/>
        </p:nvSpPr>
        <p:spPr>
          <a:xfrm>
            <a:off x="621792" y="1261872"/>
            <a:ext cx="4608576" cy="228600"/>
          </a:xfrm>
          <a:prstGeom prst="rect">
            <a:avLst/>
          </a:prstGeom>
          <a:noFill/>
          <a:ln/>
        </p:spPr>
        <p:txBody>
          <a:bodyPr wrap="square" lIns="0" tIns="0" rIns="0" bIns="0" rtlCol="0" anchor="t"/>
          <a:lstStyle/>
          <a:p>
            <a:pPr marL="0" indent="0">
              <a:buNone/>
            </a:pPr>
            <a:r>
              <a:rPr lang="en-US" sz="1100" b="1" dirty="0">
                <a:solidFill>
                  <a:srgbClr val="FFB454"/>
                </a:solidFill>
              </a:rPr>
              <a:t>Q3 | Top 5 states by completed revenue</a:t>
            </a:r>
            <a:endParaRPr lang="en-US" sz="1100" dirty="0"/>
          </a:p>
        </p:txBody>
      </p:sp>
      <p:sp>
        <p:nvSpPr>
          <p:cNvPr id="8" name="sql-code"/>
          <p:cNvSpPr txBox="1"/>
          <p:nvPr/>
        </p:nvSpPr>
        <p:spPr>
          <a:xfrm>
            <a:off x="621792" y="1517904"/>
            <a:ext cx="4663440" cy="1408176"/>
          </a:xfrm>
          <a:prstGeom prst="rect">
            <a:avLst/>
          </a:prstGeom>
          <a:noFill/>
          <a:ln/>
        </p:spPr>
        <p:txBody>
          <a:bodyPr wrap="none" lIns="0" tIns="0" rIns="0" bIns="0" rtlCol="0" anchor="t"/>
          <a:lstStyle/>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cu.state,</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SUM</a:t>
            </a:r>
            <a:r>
              <a:rPr lang="en-US" sz="1000" dirty="0">
                <a:solidFill>
                  <a:srgbClr val="E8EEF9"/>
                </a:solidFill>
                <a:latin typeface="Courier New" pitchFamily="34" charset="0"/>
                <a:ea typeface="Courier New" pitchFamily="34" charset="-122"/>
                <a:cs typeface="Courier New" pitchFamily="34" charset="-120"/>
              </a:rPr>
              <a:t>(oi.quantity * oi.price_per_unit)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revenue</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orders o</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customers cu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cu.customer_id = o.customer_id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order_items oi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oi.order_id = o.order_id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WHERE</a:t>
            </a:r>
            <a:r>
              <a:rPr lang="en-US" sz="1000" dirty="0">
                <a:solidFill>
                  <a:srgbClr val="E8EEF9"/>
                </a:solidFill>
                <a:latin typeface="Courier New" pitchFamily="34" charset="0"/>
                <a:ea typeface="Courier New" pitchFamily="34" charset="-122"/>
                <a:cs typeface="Courier New" pitchFamily="34" charset="-120"/>
              </a:rPr>
              <a:t> o.order_status = </a:t>
            </a:r>
            <a:r>
              <a:rPr lang="en-US" sz="1000" dirty="0">
                <a:solidFill>
                  <a:srgbClr val="9AE6B4"/>
                </a:solidFill>
                <a:latin typeface="Courier New" pitchFamily="34" charset="0"/>
                <a:ea typeface="Courier New" pitchFamily="34" charset="-122"/>
                <a:cs typeface="Courier New" pitchFamily="34" charset="-120"/>
              </a:rPr>
              <a:t>'Completed'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GROUP</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cu.state</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revenue </a:t>
            </a:r>
            <a:r>
              <a:rPr lang="en-US" sz="1000" b="1" dirty="0">
                <a:solidFill>
                  <a:srgbClr val="FFA94D"/>
                </a:solidFill>
                <a:latin typeface="Courier New" pitchFamily="34" charset="0"/>
                <a:ea typeface="Courier New" pitchFamily="34" charset="-122"/>
                <a:cs typeface="Courier New" pitchFamily="34" charset="-120"/>
              </a:rPr>
              <a:t>DESC</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LIMIT</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8AB4FF"/>
                </a:solidFill>
                <a:latin typeface="Courier New" pitchFamily="34" charset="0"/>
                <a:ea typeface="Courier New" pitchFamily="34" charset="-122"/>
                <a:cs typeface="Courier New" pitchFamily="34" charset="-120"/>
              </a:rPr>
              <a:t>5</a:t>
            </a:r>
            <a:r>
              <a:rPr lang="en-US" sz="1000" dirty="0">
                <a:solidFill>
                  <a:srgbClr val="E8EEF9"/>
                </a:solidFill>
                <a:latin typeface="Courier New" pitchFamily="34" charset="0"/>
                <a:ea typeface="Courier New" pitchFamily="34" charset="-122"/>
                <a:cs typeface="Courier New" pitchFamily="34" charset="-120"/>
              </a:rPr>
              <a:t>;</a:t>
            </a:r>
            <a:endParaRPr lang="en-US" sz="1000" dirty="0"/>
          </a:p>
        </p:txBody>
      </p:sp>
      <p:sp>
        <p:nvSpPr>
          <p:cNvPr id="9" name="mini-stat"/>
          <p:cNvSpPr/>
          <p:nvPr/>
        </p:nvSpPr>
        <p:spPr>
          <a:xfrm>
            <a:off x="457200" y="3200400"/>
            <a:ext cx="1554480" cy="1325880"/>
          </a:xfrm>
          <a:prstGeom prst="roundRect">
            <a:avLst>
              <a:gd name="adj" fmla="val 8276"/>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0" name="mini-value"/>
          <p:cNvSpPr txBox="1"/>
          <p:nvPr/>
        </p:nvSpPr>
        <p:spPr>
          <a:xfrm>
            <a:off x="594360" y="3291840"/>
            <a:ext cx="1280160" cy="502920"/>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90.2%</a:t>
            </a:r>
            <a:endParaRPr lang="en-US" sz="2200" dirty="0"/>
          </a:p>
        </p:txBody>
      </p:sp>
      <p:sp>
        <p:nvSpPr>
          <p:cNvPr id="11" name="mini-label"/>
          <p:cNvSpPr txBox="1"/>
          <p:nvPr/>
        </p:nvSpPr>
        <p:spPr>
          <a:xfrm>
            <a:off x="594360" y="3822192"/>
            <a:ext cx="1280160" cy="640080"/>
          </a:xfrm>
          <a:prstGeom prst="rect">
            <a:avLst/>
          </a:prstGeom>
          <a:noFill/>
          <a:ln/>
        </p:spPr>
        <p:txBody>
          <a:bodyPr wrap="square" lIns="0" tIns="0" rIns="0" bIns="0" rtlCol="0" anchor="t"/>
          <a:lstStyle/>
          <a:p>
            <a:pPr marL="0" indent="0">
              <a:buNone/>
            </a:pPr>
            <a:r>
              <a:rPr lang="en-US" sz="1150" dirty="0">
                <a:solidFill>
                  <a:schemeClr val="tx1"/>
                </a:solidFill>
              </a:rPr>
              <a:t>Ohio + Texas share</a:t>
            </a:r>
            <a:endParaRPr lang="en-US" sz="1150" dirty="0"/>
          </a:p>
        </p:txBody>
      </p:sp>
      <p:sp>
        <p:nvSpPr>
          <p:cNvPr id="12" name="mini-stat"/>
          <p:cNvSpPr/>
          <p:nvPr/>
        </p:nvSpPr>
        <p:spPr>
          <a:xfrm>
            <a:off x="2148840" y="3200400"/>
            <a:ext cx="1554480" cy="1325880"/>
          </a:xfrm>
          <a:prstGeom prst="roundRect">
            <a:avLst>
              <a:gd name="adj" fmla="val 8276"/>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3" name="mini-value"/>
          <p:cNvSpPr txBox="1"/>
          <p:nvPr/>
        </p:nvSpPr>
        <p:spPr>
          <a:xfrm>
            <a:off x="2286000" y="3291840"/>
            <a:ext cx="1280160" cy="502920"/>
          </a:xfrm>
          <a:prstGeom prst="rect">
            <a:avLst/>
          </a:prstGeom>
          <a:noFill/>
          <a:ln/>
        </p:spPr>
        <p:txBody>
          <a:bodyPr wrap="square" lIns="0" tIns="0" rIns="0" bIns="0" rtlCol="0" anchor="ctr"/>
          <a:lstStyle/>
          <a:p>
            <a:pPr marL="0" indent="0">
              <a:buNone/>
            </a:pPr>
            <a:r>
              <a:rPr lang="en-US" sz="2200" b="1" dirty="0">
                <a:solidFill>
                  <a:schemeClr val="accent2"/>
                </a:solidFill>
                <a:latin typeface="Cambria" pitchFamily="34" charset="0"/>
                <a:ea typeface="Cambria" pitchFamily="34" charset="-122"/>
                <a:cs typeface="Cambria" pitchFamily="34" charset="-120"/>
              </a:rPr>
              <a:t>63.2%</a:t>
            </a:r>
            <a:endParaRPr lang="en-US" sz="2200" dirty="0"/>
          </a:p>
        </p:txBody>
      </p:sp>
      <p:sp>
        <p:nvSpPr>
          <p:cNvPr id="14" name="mini-label"/>
          <p:cNvSpPr txBox="1"/>
          <p:nvPr/>
        </p:nvSpPr>
        <p:spPr>
          <a:xfrm>
            <a:off x="2286000" y="3822192"/>
            <a:ext cx="1280160" cy="640080"/>
          </a:xfrm>
          <a:prstGeom prst="rect">
            <a:avLst/>
          </a:prstGeom>
          <a:noFill/>
          <a:ln/>
        </p:spPr>
        <p:txBody>
          <a:bodyPr wrap="square" lIns="0" tIns="0" rIns="0" bIns="0" rtlCol="0" anchor="t"/>
          <a:lstStyle/>
          <a:p>
            <a:pPr marL="0" indent="0">
              <a:buNone/>
            </a:pPr>
            <a:r>
              <a:rPr lang="en-US" sz="1150" dirty="0">
                <a:solidFill>
                  <a:schemeClr val="tx1"/>
                </a:solidFill>
              </a:rPr>
              <a:t>Ohio: $6.56M</a:t>
            </a:r>
            <a:endParaRPr lang="en-US" sz="1150" dirty="0"/>
          </a:p>
        </p:txBody>
      </p:sp>
      <p:sp>
        <p:nvSpPr>
          <p:cNvPr id="15" name="mini-stat"/>
          <p:cNvSpPr/>
          <p:nvPr/>
        </p:nvSpPr>
        <p:spPr>
          <a:xfrm>
            <a:off x="3840480" y="3200400"/>
            <a:ext cx="1554480" cy="1325880"/>
          </a:xfrm>
          <a:prstGeom prst="roundRect">
            <a:avLst>
              <a:gd name="adj" fmla="val 8276"/>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6" name="mini-value"/>
          <p:cNvSpPr txBox="1"/>
          <p:nvPr/>
        </p:nvSpPr>
        <p:spPr>
          <a:xfrm>
            <a:off x="3977640" y="3291840"/>
            <a:ext cx="1280160" cy="502920"/>
          </a:xfrm>
          <a:prstGeom prst="rect">
            <a:avLst/>
          </a:prstGeom>
          <a:noFill/>
          <a:ln/>
        </p:spPr>
        <p:txBody>
          <a:bodyPr wrap="square" lIns="0" tIns="0" rIns="0" bIns="0" rtlCol="0" anchor="ctr"/>
          <a:lstStyle/>
          <a:p>
            <a:pPr marL="0" indent="0">
              <a:buNone/>
            </a:pPr>
            <a:r>
              <a:rPr lang="en-US" sz="2200" b="1" dirty="0">
                <a:solidFill>
                  <a:schemeClr val="accent3"/>
                </a:solidFill>
                <a:latin typeface="Cambria" pitchFamily="34" charset="0"/>
                <a:ea typeface="Cambria" pitchFamily="34" charset="-122"/>
                <a:cs typeface="Cambria" pitchFamily="34" charset="-120"/>
              </a:rPr>
              <a:t>26.9%</a:t>
            </a:r>
            <a:endParaRPr lang="en-US" sz="2200" dirty="0"/>
          </a:p>
        </p:txBody>
      </p:sp>
      <p:sp>
        <p:nvSpPr>
          <p:cNvPr id="17" name="mini-label"/>
          <p:cNvSpPr txBox="1"/>
          <p:nvPr/>
        </p:nvSpPr>
        <p:spPr>
          <a:xfrm>
            <a:off x="3977640" y="3822192"/>
            <a:ext cx="1280160" cy="640080"/>
          </a:xfrm>
          <a:prstGeom prst="rect">
            <a:avLst/>
          </a:prstGeom>
          <a:noFill/>
          <a:ln/>
        </p:spPr>
        <p:txBody>
          <a:bodyPr wrap="square" lIns="0" tIns="0" rIns="0" bIns="0" rtlCol="0" anchor="t"/>
          <a:lstStyle/>
          <a:p>
            <a:pPr marL="0" indent="0">
              <a:buNone/>
            </a:pPr>
            <a:r>
              <a:rPr lang="en-US" sz="1150" dirty="0">
                <a:solidFill>
                  <a:schemeClr val="tx1"/>
                </a:solidFill>
              </a:rPr>
              <a:t>Texas: $2.80M</a:t>
            </a:r>
            <a:endParaRPr lang="en-US" sz="1150" dirty="0"/>
          </a:p>
        </p:txBody>
      </p:sp>
      <p:sp>
        <p:nvSpPr>
          <p:cNvPr id="18" name="insight-card"/>
          <p:cNvSpPr/>
          <p:nvPr/>
        </p:nvSpPr>
        <p:spPr>
          <a:xfrm>
            <a:off x="457200" y="4709160"/>
            <a:ext cx="4937760" cy="1490472"/>
          </a:xfrm>
          <a:prstGeom prst="roundRect">
            <a:avLst>
              <a:gd name="adj" fmla="val 7362"/>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9" name="insight-title"/>
          <p:cNvSpPr txBox="1"/>
          <p:nvPr/>
        </p:nvSpPr>
        <p:spPr>
          <a:xfrm>
            <a:off x="640080" y="4800600"/>
            <a:ext cx="4572000" cy="237744"/>
          </a:xfrm>
          <a:prstGeom prst="rect">
            <a:avLst/>
          </a:prstGeom>
          <a:noFill/>
          <a:ln/>
        </p:spPr>
        <p:txBody>
          <a:bodyPr wrap="square" lIns="0" tIns="0" rIns="0" bIns="0" rtlCol="0" anchor="t"/>
          <a:lstStyle/>
          <a:p>
            <a:pPr marL="0" indent="0">
              <a:buNone/>
            </a:pPr>
            <a:r>
              <a:rPr lang="en-US" sz="1300" b="1" dirty="0">
                <a:solidFill>
                  <a:schemeClr val="accent1"/>
                </a:solidFill>
              </a:rPr>
              <a:t>Reading the result</a:t>
            </a:r>
            <a:endParaRPr lang="en-US" sz="1300" dirty="0"/>
          </a:p>
        </p:txBody>
      </p:sp>
      <p:sp>
        <p:nvSpPr>
          <p:cNvPr id="20" name="insight-list"/>
          <p:cNvSpPr txBox="1"/>
          <p:nvPr/>
        </p:nvSpPr>
        <p:spPr>
          <a:xfrm>
            <a:off x="640080" y="5093208"/>
            <a:ext cx="4572000" cy="1033272"/>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Only 34 of 49 customer states have completed sales</a:t>
            </a:r>
            <a:endParaRPr lang="en-US" sz="1200" dirty="0"/>
          </a:p>
          <a:p>
            <a:pPr marL="342900" indent="-342900">
              <a:spcAft>
                <a:spcPts val="300"/>
              </a:spcAft>
              <a:buSzPct val="100000"/>
              <a:buChar char="•"/>
            </a:pPr>
            <a:r>
              <a:rPr lang="en-US" sz="1200" dirty="0">
                <a:solidFill>
                  <a:schemeClr val="tx1"/>
                </a:solidFill>
              </a:rPr>
              <a:t>Ohio and Texas together are 90.2% of revenue</a:t>
            </a:r>
            <a:endParaRPr lang="en-US" sz="1200" dirty="0"/>
          </a:p>
          <a:p>
            <a:pPr marL="342900" indent="-342900">
              <a:spcAft>
                <a:spcPts val="300"/>
              </a:spcAft>
              <a:buSzPct val="100000"/>
              <a:buChar char="•"/>
            </a:pPr>
            <a:r>
              <a:rPr lang="en-US" sz="1200" dirty="0">
                <a:solidFill>
                  <a:schemeClr val="tx1"/>
                </a:solidFill>
              </a:rPr>
              <a:t>The other 29 states add only $355K combined</a:t>
            </a:r>
            <a:endParaRPr lang="en-US" sz="1200" dirty="0"/>
          </a:p>
        </p:txBody>
      </p:sp>
      <p:graphicFrame>
        <p:nvGraphicFramePr>
          <p:cNvPr id="21" name="Chart 0"/>
          <p:cNvGraphicFramePr/>
          <p:nvPr/>
        </p:nvGraphicFramePr>
        <p:xfrm>
          <a:off x="5669280" y="1188720"/>
          <a:ext cx="6062472" cy="3154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0" y="4462272"/>
          <a:ext cx="6062472" cy="1645920"/>
        </p:xfrm>
        <a:graphic>
          <a:graphicData uri="http://schemas.openxmlformats.org/drawingml/2006/table">
            <a:tbl>
              <a:tblPr/>
              <a:tblGrid>
                <a:gridCol w="24688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tblGrid>
              <a:tr h="274320">
                <a:tc>
                  <a:txBody>
                    <a:bodyPr/>
                    <a:lstStyle/>
                    <a:p>
                      <a:pPr marL="0" indent="0" algn="l">
                        <a:buNone/>
                      </a:pPr>
                      <a:r>
                        <a:rPr lang="en-US" sz="1100" b="1" dirty="0">
                          <a:solidFill>
                            <a:schemeClr val="bg1"/>
                          </a:solidFill>
                        </a:rPr>
                        <a:t>State (top 5)</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r">
                        <a:buNone/>
                      </a:pPr>
                      <a:r>
                        <a:rPr lang="en-US" sz="1100" b="1" dirty="0">
                          <a:solidFill>
                            <a:schemeClr val="bg1"/>
                          </a:solidFill>
                        </a:rPr>
                        <a:t>Revenue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r">
                        <a:buNone/>
                      </a:pPr>
                      <a:r>
                        <a:rPr lang="en-US" sz="1100" b="1" dirty="0">
                          <a:solidFill>
                            <a:schemeClr val="bg1"/>
                          </a:solidFill>
                        </a:rPr>
                        <a:t>Share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74320">
                <a:tc>
                  <a:txBody>
                    <a:bodyPr/>
                    <a:lstStyle/>
                    <a:p>
                      <a:pPr marL="0" indent="0" algn="l">
                        <a:buNone/>
                      </a:pPr>
                      <a:r>
                        <a:rPr lang="en-US" sz="1100" b="1" dirty="0">
                          <a:solidFill>
                            <a:schemeClr val="tx1"/>
                          </a:solidFill>
                        </a:rPr>
                        <a:t>Ohio</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$6,563,975</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63.22%</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100" b="1" dirty="0">
                          <a:solidFill>
                            <a:schemeClr val="tx1"/>
                          </a:solidFill>
                        </a:rPr>
                        <a:t>Texas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$2,798,080</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26.95%</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2"/>
                  </a:ext>
                </a:extLst>
              </a:tr>
              <a:tr h="274320">
                <a:tc>
                  <a:txBody>
                    <a:bodyPr/>
                    <a:lstStyle/>
                    <a:p>
                      <a:pPr marL="0" indent="0" algn="l">
                        <a:buNone/>
                      </a:pPr>
                      <a:r>
                        <a:rPr lang="en-US" sz="1100" b="1" dirty="0">
                          <a:solidFill>
                            <a:schemeClr val="tx1"/>
                          </a:solidFill>
                        </a:rPr>
                        <a:t>New York</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$320,286</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3.08%</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100" b="1" dirty="0">
                          <a:solidFill>
                            <a:schemeClr val="tx1"/>
                          </a:solidFill>
                        </a:rPr>
                        <a:t>Oklahoma</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$181,456</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1.75%</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4"/>
                  </a:ext>
                </a:extLst>
              </a:tr>
              <a:tr h="274320">
                <a:tc>
                  <a:txBody>
                    <a:bodyPr/>
                    <a:lstStyle/>
                    <a:p>
                      <a:pPr marL="0" indent="0" algn="l">
                        <a:buNone/>
                      </a:pPr>
                      <a:r>
                        <a:rPr lang="en-US" sz="1100" b="1" dirty="0">
                          <a:solidFill>
                            <a:schemeClr val="tx1"/>
                          </a:solidFill>
                        </a:rPr>
                        <a:t>Tennessee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$163,920</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1.58%</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Payments and returns: 13.13% refunded</a:t>
            </a:r>
            <a:endParaRPr lang="en-US" sz="2800" dirty="0"/>
          </a:p>
        </p:txBody>
      </p:sp>
      <p:sp>
        <p:nvSpPr>
          <p:cNvPr id="3" name="q-chip"/>
          <p:cNvSpPr/>
          <p:nvPr/>
        </p:nvSpPr>
        <p:spPr>
          <a:xfrm>
            <a:off x="10744200" y="109728"/>
            <a:ext cx="457200" cy="237744"/>
          </a:xfrm>
          <a:prstGeom prst="roundRect">
            <a:avLst>
              <a:gd name="adj" fmla="val 50000"/>
            </a:avLst>
          </a:prstGeom>
          <a:solidFill>
            <a:schemeClr val="accent1"/>
          </a:solidFill>
          <a:ln w="6350">
            <a:solidFill>
              <a:schemeClr val="accent1"/>
            </a:solidFill>
            <a:prstDash val="solid"/>
          </a:ln>
        </p:spPr>
      </p:sp>
      <p:sp>
        <p:nvSpPr>
          <p:cNvPr id="4" name="q-chip-label"/>
          <p:cNvSpPr txBox="1"/>
          <p:nvPr/>
        </p:nvSpPr>
        <p:spPr>
          <a:xfrm>
            <a:off x="10744200" y="109728"/>
            <a:ext cx="457200" cy="237744"/>
          </a:xfrm>
          <a:prstGeom prst="rect">
            <a:avLst/>
          </a:prstGeom>
          <a:noFill/>
          <a:ln/>
        </p:spPr>
        <p:txBody>
          <a:bodyPr wrap="square" lIns="0" tIns="0" rIns="0" bIns="0" rtlCol="0" anchor="ctr"/>
          <a:lstStyle/>
          <a:p>
            <a:pPr marL="0" indent="0" algn="ctr">
              <a:buNone/>
            </a:pPr>
            <a:r>
              <a:rPr lang="en-US" sz="1100" b="1" dirty="0">
                <a:solidFill>
                  <a:schemeClr val="bg1"/>
                </a:solidFill>
              </a:rPr>
              <a:t>Q4</a:t>
            </a:r>
            <a:endParaRPr lang="en-US" sz="1100" dirty="0"/>
          </a:p>
        </p:txBody>
      </p:sp>
      <p:sp>
        <p:nvSpPr>
          <p:cNvPr id="5" name="q-chip"/>
          <p:cNvSpPr/>
          <p:nvPr/>
        </p:nvSpPr>
        <p:spPr>
          <a:xfrm>
            <a:off x="11274552" y="109728"/>
            <a:ext cx="457200" cy="237744"/>
          </a:xfrm>
          <a:prstGeom prst="roundRect">
            <a:avLst>
              <a:gd name="adj" fmla="val 50000"/>
            </a:avLst>
          </a:prstGeom>
          <a:solidFill>
            <a:schemeClr val="accent1"/>
          </a:solidFill>
          <a:ln w="6350">
            <a:solidFill>
              <a:schemeClr val="accent1"/>
            </a:solidFill>
            <a:prstDash val="solid"/>
          </a:ln>
        </p:spPr>
      </p:sp>
      <p:sp>
        <p:nvSpPr>
          <p:cNvPr id="6" name="q-chip-label"/>
          <p:cNvSpPr txBox="1"/>
          <p:nvPr/>
        </p:nvSpPr>
        <p:spPr>
          <a:xfrm>
            <a:off x="11274552" y="109728"/>
            <a:ext cx="457200" cy="237744"/>
          </a:xfrm>
          <a:prstGeom prst="rect">
            <a:avLst/>
          </a:prstGeom>
          <a:noFill/>
          <a:ln/>
        </p:spPr>
        <p:txBody>
          <a:bodyPr wrap="square" lIns="0" tIns="0" rIns="0" bIns="0" rtlCol="0" anchor="ctr"/>
          <a:lstStyle/>
          <a:p>
            <a:pPr marL="0" indent="0" algn="ctr">
              <a:buNone/>
            </a:pPr>
            <a:r>
              <a:rPr lang="en-US" sz="1100" b="1" dirty="0">
                <a:solidFill>
                  <a:schemeClr val="bg1"/>
                </a:solidFill>
              </a:rPr>
              <a:t>Q5</a:t>
            </a:r>
            <a:endParaRPr lang="en-US" sz="1100" dirty="0"/>
          </a:p>
        </p:txBody>
      </p:sp>
      <p:sp>
        <p:nvSpPr>
          <p:cNvPr id="7" name="business-question"/>
          <p:cNvSpPr txBox="1"/>
          <p:nvPr/>
        </p:nvSpPr>
        <p:spPr>
          <a:xfrm>
            <a:off x="457200" y="822960"/>
            <a:ext cx="10149840" cy="219456"/>
          </a:xfrm>
          <a:prstGeom prst="rect">
            <a:avLst/>
          </a:prstGeom>
          <a:noFill/>
          <a:ln/>
        </p:spPr>
        <p:txBody>
          <a:bodyPr wrap="square" lIns="0" tIns="0" rIns="0" bIns="0" rtlCol="0" anchor="t"/>
          <a:lstStyle/>
          <a:p>
            <a:pPr marL="0" indent="0">
              <a:buNone/>
            </a:pPr>
            <a:r>
              <a:rPr lang="en-US" sz="1250" i="1" dirty="0">
                <a:solidFill>
                  <a:schemeClr val="accent5"/>
                </a:solidFill>
              </a:rPr>
              <a:t>Business question  Q4: What share of payments succeed, are refunded or fail?  |  Q5: Which products have a return rate above 20%?</a:t>
            </a:r>
            <a:endParaRPr lang="en-US" sz="1250" dirty="0"/>
          </a:p>
        </p:txBody>
      </p:sp>
      <p:sp>
        <p:nvSpPr>
          <p:cNvPr id="8" name="code-panel"/>
          <p:cNvSpPr/>
          <p:nvPr/>
        </p:nvSpPr>
        <p:spPr>
          <a:xfrm>
            <a:off x="457200" y="1188720"/>
            <a:ext cx="4937760" cy="1524000"/>
          </a:xfrm>
          <a:prstGeom prst="roundRect">
            <a:avLst>
              <a:gd name="adj" fmla="val 6000"/>
            </a:avLst>
          </a:prstGeom>
          <a:solidFill>
            <a:srgbClr val="111C36"/>
          </a:solidFill>
          <a:ln w="6350">
            <a:solidFill>
              <a:srgbClr val="111C36"/>
            </a:solidFill>
            <a:prstDash val="solid"/>
          </a:ln>
          <a:effectLst>
            <a:outerShdw blurRad="177800" dist="50800" dir="5400000" algn="bl" rotWithShape="0">
              <a:srgbClr val="0F1B33">
                <a:alpha val="25000"/>
              </a:srgbClr>
            </a:outerShdw>
          </a:effectLst>
        </p:spPr>
      </p:sp>
      <p:sp>
        <p:nvSpPr>
          <p:cNvPr id="9" name="code-label"/>
          <p:cNvSpPr txBox="1"/>
          <p:nvPr/>
        </p:nvSpPr>
        <p:spPr>
          <a:xfrm>
            <a:off x="621792" y="1261872"/>
            <a:ext cx="4608576" cy="228600"/>
          </a:xfrm>
          <a:prstGeom prst="rect">
            <a:avLst/>
          </a:prstGeom>
          <a:noFill/>
          <a:ln/>
        </p:spPr>
        <p:txBody>
          <a:bodyPr wrap="square" lIns="0" tIns="0" rIns="0" bIns="0" rtlCol="0" anchor="t"/>
          <a:lstStyle/>
          <a:p>
            <a:pPr marL="0" indent="0">
              <a:buNone/>
            </a:pPr>
            <a:r>
              <a:rPr lang="en-US" sz="1100" b="1" dirty="0">
                <a:solidFill>
                  <a:srgbClr val="FFB454"/>
                </a:solidFill>
              </a:rPr>
              <a:t>Q4 | Payment status distribution</a:t>
            </a:r>
            <a:endParaRPr lang="en-US" sz="1100" dirty="0"/>
          </a:p>
        </p:txBody>
      </p:sp>
      <p:sp>
        <p:nvSpPr>
          <p:cNvPr id="10" name="sql-code"/>
          <p:cNvSpPr txBox="1"/>
          <p:nvPr/>
        </p:nvSpPr>
        <p:spPr>
          <a:xfrm>
            <a:off x="621792" y="1517904"/>
            <a:ext cx="4663440" cy="1103376"/>
          </a:xfrm>
          <a:prstGeom prst="rect">
            <a:avLst/>
          </a:prstGeom>
          <a:noFill/>
          <a:ln/>
        </p:spPr>
        <p:txBody>
          <a:bodyPr wrap="none" lIns="0" tIns="0" rIns="0" bIns="0" rtlCol="0" anchor="t"/>
          <a:lstStyle/>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payment_status,</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COUNT</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payments,</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ROUND</a:t>
            </a:r>
            <a:r>
              <a:rPr lang="en-US" sz="1000" dirty="0">
                <a:solidFill>
                  <a:srgbClr val="E8EEF9"/>
                </a:solidFill>
                <a:latin typeface="Courier New" pitchFamily="34" charset="0"/>
                <a:ea typeface="Courier New" pitchFamily="34" charset="-122"/>
                <a:cs typeface="Courier New" pitchFamily="34" charset="-120"/>
              </a:rPr>
              <a:t>(</a:t>
            </a:r>
            <a:r>
              <a:rPr lang="en-US" sz="1000" dirty="0">
                <a:solidFill>
                  <a:srgbClr val="8AB4FF"/>
                </a:solidFill>
                <a:latin typeface="Courier New" pitchFamily="34" charset="0"/>
                <a:ea typeface="Courier New" pitchFamily="34" charset="-122"/>
                <a:cs typeface="Courier New" pitchFamily="34" charset="-120"/>
              </a:rPr>
              <a:t>100.0</a:t>
            </a:r>
            <a:r>
              <a:rPr lang="en-US" sz="1000" dirty="0">
                <a:solidFill>
                  <a:srgbClr val="E8EEF9"/>
                </a:solidFill>
                <a:latin typeface="Courier New" pitchFamily="34" charset="0"/>
                <a:ea typeface="Courier New" pitchFamily="34" charset="-122"/>
                <a:cs typeface="Courier New" pitchFamily="34" charset="-120"/>
              </a:rPr>
              <a:t> * </a:t>
            </a:r>
            <a:r>
              <a:rPr lang="en-US" sz="1000" dirty="0">
                <a:solidFill>
                  <a:srgbClr val="4FD1C5"/>
                </a:solidFill>
                <a:latin typeface="Courier New" pitchFamily="34" charset="0"/>
                <a:ea typeface="Courier New" pitchFamily="34" charset="-122"/>
                <a:cs typeface="Courier New" pitchFamily="34" charset="-120"/>
              </a:rPr>
              <a:t>COUNT</a:t>
            </a:r>
            <a:r>
              <a:rPr lang="en-US" sz="1000" dirty="0">
                <a:solidFill>
                  <a:srgbClr val="E8EEF9"/>
                </a:solidFill>
                <a:latin typeface="Courier New" pitchFamily="34" charset="0"/>
                <a:ea typeface="Courier New" pitchFamily="34" charset="-122"/>
                <a:cs typeface="Courier New" pitchFamily="34" charset="-120"/>
              </a:rPr>
              <a:t>(*) /</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COUNT</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payments), </a:t>
            </a:r>
            <a:r>
              <a:rPr lang="en-US" sz="1000" dirty="0">
                <a:solidFill>
                  <a:srgbClr val="8AB4FF"/>
                </a:solidFill>
                <a:latin typeface="Courier New" pitchFamily="34" charset="0"/>
                <a:ea typeface="Courier New" pitchFamily="34" charset="-122"/>
                <a:cs typeface="Courier New" pitchFamily="34" charset="-120"/>
              </a:rPr>
              <a:t>2</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pct</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payments</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GROUP</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payment_status</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payments </a:t>
            </a:r>
            <a:r>
              <a:rPr lang="en-US" sz="1000" b="1" dirty="0">
                <a:solidFill>
                  <a:srgbClr val="FFA94D"/>
                </a:solidFill>
                <a:latin typeface="Courier New" pitchFamily="34" charset="0"/>
                <a:ea typeface="Courier New" pitchFamily="34" charset="-122"/>
                <a:cs typeface="Courier New" pitchFamily="34" charset="-120"/>
              </a:rPr>
              <a:t>DESC</a:t>
            </a:r>
            <a:r>
              <a:rPr lang="en-US" sz="1000" dirty="0">
                <a:solidFill>
                  <a:srgbClr val="E8EEF9"/>
                </a:solidFill>
                <a:latin typeface="Courier New" pitchFamily="34" charset="0"/>
                <a:ea typeface="Courier New" pitchFamily="34" charset="-122"/>
                <a:cs typeface="Courier New" pitchFamily="34" charset="-120"/>
              </a:rPr>
              <a:t>;</a:t>
            </a:r>
            <a:endParaRPr lang="en-US" sz="1000" dirty="0"/>
          </a:p>
        </p:txBody>
      </p:sp>
      <p:sp>
        <p:nvSpPr>
          <p:cNvPr id="11" name="code-panel"/>
          <p:cNvSpPr/>
          <p:nvPr/>
        </p:nvSpPr>
        <p:spPr>
          <a:xfrm>
            <a:off x="457200" y="2822753"/>
            <a:ext cx="4937760" cy="3395472"/>
          </a:xfrm>
          <a:prstGeom prst="roundRect">
            <a:avLst>
              <a:gd name="adj" fmla="val 2693"/>
            </a:avLst>
          </a:prstGeom>
          <a:solidFill>
            <a:srgbClr val="111C36"/>
          </a:solidFill>
          <a:ln w="6350">
            <a:solidFill>
              <a:srgbClr val="111C36"/>
            </a:solidFill>
            <a:prstDash val="solid"/>
          </a:ln>
          <a:effectLst>
            <a:outerShdw blurRad="177800" dist="50800" dir="5400000" algn="bl" rotWithShape="0">
              <a:srgbClr val="0F1B33">
                <a:alpha val="25000"/>
              </a:srgbClr>
            </a:outerShdw>
          </a:effectLst>
        </p:spPr>
      </p:sp>
      <p:sp>
        <p:nvSpPr>
          <p:cNvPr id="12" name="code-label"/>
          <p:cNvSpPr txBox="1"/>
          <p:nvPr/>
        </p:nvSpPr>
        <p:spPr>
          <a:xfrm>
            <a:off x="621792" y="2895905"/>
            <a:ext cx="4608576" cy="228600"/>
          </a:xfrm>
          <a:prstGeom prst="rect">
            <a:avLst/>
          </a:prstGeom>
          <a:noFill/>
          <a:ln/>
        </p:spPr>
        <p:txBody>
          <a:bodyPr wrap="square" lIns="0" tIns="0" rIns="0" bIns="0" rtlCol="0" anchor="t"/>
          <a:lstStyle/>
          <a:p>
            <a:pPr marL="0" indent="0">
              <a:buNone/>
            </a:pPr>
            <a:r>
              <a:rPr lang="en-US" sz="1100" b="1" dirty="0">
                <a:solidFill>
                  <a:srgbClr val="FFB454"/>
                </a:solidFill>
              </a:rPr>
              <a:t>Q5 | Products with return rate above 20% (50+ units)</a:t>
            </a:r>
            <a:endParaRPr lang="en-US" sz="1100" dirty="0"/>
          </a:p>
        </p:txBody>
      </p:sp>
      <p:sp>
        <p:nvSpPr>
          <p:cNvPr id="13" name="sql-code"/>
          <p:cNvSpPr txBox="1"/>
          <p:nvPr/>
        </p:nvSpPr>
        <p:spPr>
          <a:xfrm>
            <a:off x="621792" y="3151937"/>
            <a:ext cx="4663440" cy="2170176"/>
          </a:xfrm>
          <a:prstGeom prst="rect">
            <a:avLst/>
          </a:prstGeom>
          <a:noFill/>
          <a:ln/>
        </p:spPr>
        <p:txBody>
          <a:bodyPr wrap="none" lIns="0" tIns="0" rIns="0" bIns="0" rtlCol="0" anchor="t"/>
          <a:lstStyle/>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WITH</a:t>
            </a:r>
            <a:r>
              <a:rPr lang="en-US" sz="1000" dirty="0">
                <a:solidFill>
                  <a:srgbClr val="E8EEF9"/>
                </a:solidFill>
                <a:latin typeface="Courier New" pitchFamily="34" charset="0"/>
                <a:ea typeface="Courier New" pitchFamily="34" charset="-122"/>
                <a:cs typeface="Courier New" pitchFamily="34" charset="-120"/>
              </a:rPr>
              <a:t> r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p.product_id, p.product_name,</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SUM</a:t>
            </a:r>
            <a:r>
              <a:rPr lang="en-US" sz="1000" dirty="0">
                <a:solidFill>
                  <a:srgbClr val="E8EEF9"/>
                </a:solidFill>
                <a:latin typeface="Courier New" pitchFamily="34" charset="0"/>
                <a:ea typeface="Courier New" pitchFamily="34" charset="-122"/>
                <a:cs typeface="Courier New" pitchFamily="34" charset="-120"/>
              </a:rPr>
              <a:t>(oi.quantity)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units,</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SUM</a:t>
            </a:r>
            <a:r>
              <a:rPr lang="en-US" sz="1000" dirty="0">
                <a:solidFill>
                  <a:srgbClr val="E8EEF9"/>
                </a:solidFill>
                <a:latin typeface="Courier New" pitchFamily="34" charset="0"/>
                <a:ea typeface="Courier New" pitchFamily="34" charset="-122"/>
                <a:cs typeface="Courier New" pitchFamily="34" charset="-120"/>
              </a:rPr>
              <a:t>(</a:t>
            </a:r>
            <a:r>
              <a:rPr lang="en-US" sz="1000" b="1" dirty="0">
                <a:solidFill>
                  <a:srgbClr val="FFA94D"/>
                </a:solidFill>
                <a:latin typeface="Courier New" pitchFamily="34" charset="0"/>
                <a:ea typeface="Courier New" pitchFamily="34" charset="-122"/>
                <a:cs typeface="Courier New" pitchFamily="34" charset="-120"/>
              </a:rPr>
              <a:t>CASE</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WHEN</a:t>
            </a:r>
            <a:r>
              <a:rPr lang="en-US" sz="1000" dirty="0">
                <a:solidFill>
                  <a:srgbClr val="E8EEF9"/>
                </a:solidFill>
                <a:latin typeface="Courier New" pitchFamily="34" charset="0"/>
                <a:ea typeface="Courier New" pitchFamily="34" charset="-122"/>
                <a:cs typeface="Courier New" pitchFamily="34" charset="-120"/>
              </a:rPr>
              <a:t> o.order_status = </a:t>
            </a:r>
            <a:r>
              <a:rPr lang="en-US" sz="1000" dirty="0">
                <a:solidFill>
                  <a:srgbClr val="9AE6B4"/>
                </a:solidFill>
                <a:latin typeface="Courier New" pitchFamily="34" charset="0"/>
                <a:ea typeface="Courier New" pitchFamily="34" charset="-122"/>
                <a:cs typeface="Courier New" pitchFamily="34" charset="-120"/>
              </a:rPr>
              <a:t>'Returned'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THEN</a:t>
            </a:r>
            <a:r>
              <a:rPr lang="en-US" sz="1000" dirty="0">
                <a:solidFill>
                  <a:srgbClr val="E8EEF9"/>
                </a:solidFill>
                <a:latin typeface="Courier New" pitchFamily="34" charset="0"/>
                <a:ea typeface="Courier New" pitchFamily="34" charset="-122"/>
                <a:cs typeface="Courier New" pitchFamily="34" charset="-120"/>
              </a:rPr>
              <a:t> oi.quantity </a:t>
            </a:r>
            <a:r>
              <a:rPr lang="en-US" sz="1000" b="1" dirty="0">
                <a:solidFill>
                  <a:srgbClr val="FFA94D"/>
                </a:solidFill>
                <a:latin typeface="Courier New" pitchFamily="34" charset="0"/>
                <a:ea typeface="Courier New" pitchFamily="34" charset="-122"/>
                <a:cs typeface="Courier New" pitchFamily="34" charset="-120"/>
              </a:rPr>
              <a:t>ELSE</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8AB4FF"/>
                </a:solidFill>
                <a:latin typeface="Courier New" pitchFamily="34" charset="0"/>
                <a:ea typeface="Courier New" pitchFamily="34" charset="-122"/>
                <a:cs typeface="Courier New" pitchFamily="34" charset="-120"/>
              </a:rPr>
              <a:t>0</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END</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returned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orders o</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order_items oi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oi.order_id = o.order_id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products p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p.product_id = oi.product_id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GROUP</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p.product_id, p.product_name)</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product_id, product_name, units, returned,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ROUND</a:t>
            </a:r>
            <a:r>
              <a:rPr lang="en-US" sz="1000" dirty="0">
                <a:solidFill>
                  <a:srgbClr val="E8EEF9"/>
                </a:solidFill>
                <a:latin typeface="Courier New" pitchFamily="34" charset="0"/>
                <a:ea typeface="Courier New" pitchFamily="34" charset="-122"/>
                <a:cs typeface="Courier New" pitchFamily="34" charset="-120"/>
              </a:rPr>
              <a:t>(</a:t>
            </a:r>
            <a:r>
              <a:rPr lang="en-US" sz="1000" dirty="0">
                <a:solidFill>
                  <a:srgbClr val="8AB4FF"/>
                </a:solidFill>
                <a:latin typeface="Courier New" pitchFamily="34" charset="0"/>
                <a:ea typeface="Courier New" pitchFamily="34" charset="-122"/>
                <a:cs typeface="Courier New" pitchFamily="34" charset="-120"/>
              </a:rPr>
              <a:t>100.0</a:t>
            </a:r>
            <a:r>
              <a:rPr lang="en-US" sz="1000" dirty="0">
                <a:solidFill>
                  <a:srgbClr val="E8EEF9"/>
                </a:solidFill>
                <a:latin typeface="Courier New" pitchFamily="34" charset="0"/>
                <a:ea typeface="Courier New" pitchFamily="34" charset="-122"/>
                <a:cs typeface="Courier New" pitchFamily="34" charset="-120"/>
              </a:rPr>
              <a:t> * returned / units, </a:t>
            </a:r>
            <a:r>
              <a:rPr lang="en-US" sz="1000" dirty="0">
                <a:solidFill>
                  <a:srgbClr val="8AB4FF"/>
                </a:solidFill>
                <a:latin typeface="Courier New" pitchFamily="34" charset="0"/>
                <a:ea typeface="Courier New" pitchFamily="34" charset="-122"/>
                <a:cs typeface="Courier New" pitchFamily="34" charset="-120"/>
              </a:rPr>
              <a:t>2</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return_pct</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r</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WHERE</a:t>
            </a:r>
            <a:r>
              <a:rPr lang="en-US" sz="1000" dirty="0">
                <a:solidFill>
                  <a:srgbClr val="E8EEF9"/>
                </a:solidFill>
                <a:latin typeface="Courier New" pitchFamily="34" charset="0"/>
                <a:ea typeface="Courier New" pitchFamily="34" charset="-122"/>
                <a:cs typeface="Courier New" pitchFamily="34" charset="-120"/>
              </a:rPr>
              <a:t> units &gt;= </a:t>
            </a:r>
            <a:r>
              <a:rPr lang="en-US" sz="1000" dirty="0">
                <a:solidFill>
                  <a:srgbClr val="8AB4FF"/>
                </a:solidFill>
                <a:latin typeface="Courier New" pitchFamily="34" charset="0"/>
                <a:ea typeface="Courier New" pitchFamily="34" charset="-122"/>
                <a:cs typeface="Courier New" pitchFamily="34" charset="-120"/>
              </a:rPr>
              <a:t>50</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AND</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8AB4FF"/>
                </a:solidFill>
                <a:latin typeface="Courier New" pitchFamily="34" charset="0"/>
                <a:ea typeface="Courier New" pitchFamily="34" charset="-122"/>
                <a:cs typeface="Courier New" pitchFamily="34" charset="-120"/>
              </a:rPr>
              <a:t>100.0</a:t>
            </a:r>
            <a:r>
              <a:rPr lang="en-US" sz="1000" dirty="0">
                <a:solidFill>
                  <a:srgbClr val="E8EEF9"/>
                </a:solidFill>
                <a:latin typeface="Courier New" pitchFamily="34" charset="0"/>
                <a:ea typeface="Courier New" pitchFamily="34" charset="-122"/>
                <a:cs typeface="Courier New" pitchFamily="34" charset="-120"/>
              </a:rPr>
              <a:t> * returned / units &gt; </a:t>
            </a:r>
            <a:r>
              <a:rPr lang="en-US" sz="1000" dirty="0">
                <a:solidFill>
                  <a:srgbClr val="8AB4FF"/>
                </a:solidFill>
                <a:latin typeface="Courier New" pitchFamily="34" charset="0"/>
                <a:ea typeface="Courier New" pitchFamily="34" charset="-122"/>
                <a:cs typeface="Courier New" pitchFamily="34" charset="-120"/>
              </a:rPr>
              <a:t>20</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return_pct </a:t>
            </a:r>
            <a:r>
              <a:rPr lang="en-US" sz="1000" b="1" dirty="0">
                <a:solidFill>
                  <a:srgbClr val="FFA94D"/>
                </a:solidFill>
                <a:latin typeface="Courier New" pitchFamily="34" charset="0"/>
                <a:ea typeface="Courier New" pitchFamily="34" charset="-122"/>
                <a:cs typeface="Courier New" pitchFamily="34" charset="-120"/>
              </a:rPr>
              <a:t>DESC</a:t>
            </a:r>
            <a:r>
              <a:rPr lang="en-US" sz="1000" dirty="0">
                <a:solidFill>
                  <a:srgbClr val="E8EEF9"/>
                </a:solidFill>
                <a:latin typeface="Courier New" pitchFamily="34" charset="0"/>
                <a:ea typeface="Courier New" pitchFamily="34" charset="-122"/>
                <a:cs typeface="Courier New" pitchFamily="34" charset="-120"/>
              </a:rPr>
              <a:t>;</a:t>
            </a:r>
            <a:endParaRPr lang="en-US" sz="1000" dirty="0"/>
          </a:p>
        </p:txBody>
      </p:sp>
      <p:sp>
        <p:nvSpPr>
          <p:cNvPr id="14" name="code-note"/>
          <p:cNvSpPr txBox="1"/>
          <p:nvPr/>
        </p:nvSpPr>
        <p:spPr>
          <a:xfrm>
            <a:off x="621792" y="5449824"/>
            <a:ext cx="4608576" cy="658368"/>
          </a:xfrm>
          <a:prstGeom prst="rect">
            <a:avLst/>
          </a:prstGeom>
          <a:noFill/>
          <a:ln/>
        </p:spPr>
        <p:txBody>
          <a:bodyPr wrap="square" lIns="0" tIns="0" rIns="0" bIns="0" rtlCol="0" anchor="t"/>
          <a:lstStyle/>
          <a:p>
            <a:pPr marL="0" indent="0">
              <a:buNone/>
            </a:pPr>
            <a:r>
              <a:rPr lang="en-US" sz="1050" i="1" dirty="0">
                <a:solidFill>
                  <a:srgbClr val="9FB0CC"/>
                </a:solidFill>
              </a:rPr>
              <a:t>How it works: the CTE counts total and returned units per product. The outer query keeps products with 50+ units and a return rate above 20%.</a:t>
            </a:r>
            <a:endParaRPr lang="en-US" sz="1050" dirty="0"/>
          </a:p>
        </p:txBody>
      </p:sp>
      <p:sp>
        <p:nvSpPr>
          <p:cNvPr id="15" name="chart-heading"/>
          <p:cNvSpPr txBox="1"/>
          <p:nvPr/>
        </p:nvSpPr>
        <p:spPr>
          <a:xfrm>
            <a:off x="5669280" y="1143000"/>
            <a:ext cx="2743200" cy="256032"/>
          </a:xfrm>
          <a:prstGeom prst="rect">
            <a:avLst/>
          </a:prstGeom>
          <a:noFill/>
          <a:ln/>
        </p:spPr>
        <p:txBody>
          <a:bodyPr wrap="square" lIns="0" tIns="0" rIns="0" bIns="0" rtlCol="0" anchor="t"/>
          <a:lstStyle/>
          <a:p>
            <a:pPr marL="0" indent="0">
              <a:buNone/>
            </a:pPr>
            <a:r>
              <a:rPr lang="en-US" sz="1300" b="1" dirty="0">
                <a:solidFill>
                  <a:schemeClr val="accent1"/>
                </a:solidFill>
              </a:rPr>
              <a:t>Payment status</a:t>
            </a:r>
            <a:endParaRPr lang="en-US" sz="1300" dirty="0"/>
          </a:p>
        </p:txBody>
      </p:sp>
      <p:graphicFrame>
        <p:nvGraphicFramePr>
          <p:cNvPr id="16" name="Chart 0"/>
          <p:cNvGraphicFramePr/>
          <p:nvPr/>
        </p:nvGraphicFramePr>
        <p:xfrm>
          <a:off x="5669280" y="1371600"/>
          <a:ext cx="28346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17" name="fact-card"/>
          <p:cNvSpPr/>
          <p:nvPr/>
        </p:nvSpPr>
        <p:spPr>
          <a:xfrm>
            <a:off x="8641080" y="1188720"/>
            <a:ext cx="3090672" cy="749808"/>
          </a:xfrm>
          <a:prstGeom prst="roundRect">
            <a:avLst>
              <a:gd name="adj" fmla="val 14634"/>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8" name="fact-title"/>
          <p:cNvSpPr txBox="1"/>
          <p:nvPr/>
        </p:nvSpPr>
        <p:spPr>
          <a:xfrm>
            <a:off x="8796528" y="1261872"/>
            <a:ext cx="2834640" cy="237744"/>
          </a:xfrm>
          <a:prstGeom prst="rect">
            <a:avLst/>
          </a:prstGeom>
          <a:noFill/>
          <a:ln/>
        </p:spPr>
        <p:txBody>
          <a:bodyPr wrap="square" lIns="0" tIns="0" rIns="0" bIns="0" rtlCol="0" anchor="t"/>
          <a:lstStyle/>
          <a:p>
            <a:pPr marL="0" indent="0">
              <a:buNone/>
            </a:pPr>
            <a:r>
              <a:rPr lang="en-US" sz="1300" b="1" dirty="0">
                <a:solidFill>
                  <a:schemeClr val="accent1"/>
                </a:solidFill>
              </a:rPr>
              <a:t>Refunded = Returned</a:t>
            </a:r>
            <a:endParaRPr lang="en-US" sz="1300" dirty="0"/>
          </a:p>
        </p:txBody>
      </p:sp>
      <p:sp>
        <p:nvSpPr>
          <p:cNvPr id="19" name="fact-text"/>
          <p:cNvSpPr txBox="1"/>
          <p:nvPr/>
        </p:nvSpPr>
        <p:spPr>
          <a:xfrm>
            <a:off x="8796528" y="1536192"/>
            <a:ext cx="2834640" cy="365760"/>
          </a:xfrm>
          <a:prstGeom prst="rect">
            <a:avLst/>
          </a:prstGeom>
          <a:noFill/>
          <a:ln/>
        </p:spPr>
        <p:txBody>
          <a:bodyPr wrap="square" lIns="0" tIns="0" rIns="0" bIns="0" rtlCol="0" anchor="t"/>
          <a:lstStyle/>
          <a:p>
            <a:pPr marL="0" indent="0">
              <a:buNone/>
            </a:pPr>
            <a:r>
              <a:rPr lang="en-US" sz="1100" dirty="0">
                <a:solidFill>
                  <a:schemeClr val="tx1"/>
                </a:solidFill>
              </a:rPr>
              <a:t>2,840 refunded payments = 2,840 returned orders</a:t>
            </a:r>
            <a:endParaRPr lang="en-US" sz="1100" dirty="0"/>
          </a:p>
        </p:txBody>
      </p:sp>
      <p:sp>
        <p:nvSpPr>
          <p:cNvPr id="20" name="fact-card"/>
          <p:cNvSpPr/>
          <p:nvPr/>
        </p:nvSpPr>
        <p:spPr>
          <a:xfrm>
            <a:off x="8641080" y="2039112"/>
            <a:ext cx="3090672" cy="749808"/>
          </a:xfrm>
          <a:prstGeom prst="roundRect">
            <a:avLst>
              <a:gd name="adj" fmla="val 14634"/>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1" name="fact-title"/>
          <p:cNvSpPr txBox="1"/>
          <p:nvPr/>
        </p:nvSpPr>
        <p:spPr>
          <a:xfrm>
            <a:off x="8796528" y="2112264"/>
            <a:ext cx="2834640" cy="237744"/>
          </a:xfrm>
          <a:prstGeom prst="rect">
            <a:avLst/>
          </a:prstGeom>
          <a:noFill/>
          <a:ln/>
        </p:spPr>
        <p:txBody>
          <a:bodyPr wrap="square" lIns="0" tIns="0" rIns="0" bIns="0" rtlCol="0" anchor="t"/>
          <a:lstStyle/>
          <a:p>
            <a:pPr marL="0" indent="0">
              <a:buNone/>
            </a:pPr>
            <a:r>
              <a:rPr lang="en-US" sz="1300" b="1" dirty="0">
                <a:solidFill>
                  <a:schemeClr val="accent4"/>
                </a:solidFill>
              </a:rPr>
              <a:t>Failed = Cancelled</a:t>
            </a:r>
            <a:endParaRPr lang="en-US" sz="1300" dirty="0"/>
          </a:p>
        </p:txBody>
      </p:sp>
      <p:sp>
        <p:nvSpPr>
          <p:cNvPr id="22" name="fact-text"/>
          <p:cNvSpPr txBox="1"/>
          <p:nvPr/>
        </p:nvSpPr>
        <p:spPr>
          <a:xfrm>
            <a:off x="8796528" y="2386584"/>
            <a:ext cx="2834640" cy="365760"/>
          </a:xfrm>
          <a:prstGeom prst="rect">
            <a:avLst/>
          </a:prstGeom>
          <a:noFill/>
          <a:ln/>
        </p:spPr>
        <p:txBody>
          <a:bodyPr wrap="square" lIns="0" tIns="0" rIns="0" bIns="0" rtlCol="0" anchor="t"/>
          <a:lstStyle/>
          <a:p>
            <a:pPr marL="0" indent="0">
              <a:buNone/>
            </a:pPr>
            <a:r>
              <a:rPr lang="en-US" sz="1100" dirty="0">
                <a:solidFill>
                  <a:schemeClr val="tx1"/>
                </a:solidFill>
              </a:rPr>
              <a:t>488 failed payments = 488 cancelled orders</a:t>
            </a:r>
            <a:endParaRPr lang="en-US" sz="1100" dirty="0"/>
          </a:p>
        </p:txBody>
      </p:sp>
      <p:sp>
        <p:nvSpPr>
          <p:cNvPr id="23" name="fact-card"/>
          <p:cNvSpPr/>
          <p:nvPr/>
        </p:nvSpPr>
        <p:spPr>
          <a:xfrm>
            <a:off x="8641080" y="2889504"/>
            <a:ext cx="3090672" cy="749808"/>
          </a:xfrm>
          <a:prstGeom prst="roundRect">
            <a:avLst>
              <a:gd name="adj" fmla="val 14634"/>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4" name="fact-title"/>
          <p:cNvSpPr txBox="1"/>
          <p:nvPr/>
        </p:nvSpPr>
        <p:spPr>
          <a:xfrm>
            <a:off x="8796528" y="2962656"/>
            <a:ext cx="2834640" cy="237744"/>
          </a:xfrm>
          <a:prstGeom prst="rect">
            <a:avLst/>
          </a:prstGeom>
          <a:noFill/>
          <a:ln/>
        </p:spPr>
        <p:txBody>
          <a:bodyPr wrap="square" lIns="0" tIns="0" rIns="0" bIns="0" rtlCol="0" anchor="t"/>
          <a:lstStyle/>
          <a:p>
            <a:pPr marL="0" indent="0">
              <a:buNone/>
            </a:pPr>
            <a:r>
              <a:rPr lang="en-US" sz="1300" b="1" dirty="0">
                <a:solidFill>
                  <a:schemeClr val="accent2"/>
                </a:solidFill>
              </a:rPr>
              <a:t>Return rate 12.79%</a:t>
            </a:r>
            <a:endParaRPr lang="en-US" sz="1300" dirty="0"/>
          </a:p>
        </p:txBody>
      </p:sp>
      <p:sp>
        <p:nvSpPr>
          <p:cNvPr id="25" name="fact-text"/>
          <p:cNvSpPr txBox="1"/>
          <p:nvPr/>
        </p:nvSpPr>
        <p:spPr>
          <a:xfrm>
            <a:off x="8796528" y="3236976"/>
            <a:ext cx="2834640" cy="365760"/>
          </a:xfrm>
          <a:prstGeom prst="rect">
            <a:avLst/>
          </a:prstGeom>
          <a:noFill/>
          <a:ln/>
        </p:spPr>
        <p:txBody>
          <a:bodyPr wrap="square" lIns="0" tIns="0" rIns="0" bIns="0" rtlCol="0" anchor="t"/>
          <a:lstStyle/>
          <a:p>
            <a:pPr marL="0" indent="0">
              <a:buNone/>
            </a:pPr>
            <a:r>
              <a:rPr lang="en-US" sz="1100" dirty="0">
                <a:solidFill>
                  <a:schemeClr val="tx1"/>
                </a:solidFill>
              </a:rPr>
              <a:t>of all units; 12 products (50+ units) exceed 20%</a:t>
            </a:r>
            <a:endParaRPr lang="en-US" sz="1100" dirty="0"/>
          </a:p>
        </p:txBody>
      </p:sp>
      <p:sp>
        <p:nvSpPr>
          <p:cNvPr id="26" name="chart-heading"/>
          <p:cNvSpPr txBox="1"/>
          <p:nvPr/>
        </p:nvSpPr>
        <p:spPr>
          <a:xfrm>
            <a:off x="5669280" y="3886200"/>
            <a:ext cx="6062472" cy="256032"/>
          </a:xfrm>
          <a:prstGeom prst="rect">
            <a:avLst/>
          </a:prstGeom>
          <a:noFill/>
          <a:ln/>
        </p:spPr>
        <p:txBody>
          <a:bodyPr wrap="square" lIns="0" tIns="0" rIns="0" bIns="0" rtlCol="0" anchor="t"/>
          <a:lstStyle/>
          <a:p>
            <a:pPr marL="0" indent="0">
              <a:buNone/>
            </a:pPr>
            <a:r>
              <a:rPr lang="en-US" sz="1300" b="1" dirty="0">
                <a:solidFill>
                  <a:schemeClr val="accent1"/>
                </a:solidFill>
              </a:rPr>
              <a:t>Highest return rates (50+ units sold)</a:t>
            </a:r>
            <a:endParaRPr lang="en-US" sz="1300" dirty="0"/>
          </a:p>
        </p:txBody>
      </p:sp>
      <p:graphicFrame>
        <p:nvGraphicFramePr>
          <p:cNvPr id="27" name="Chart 1"/>
          <p:cNvGraphicFramePr/>
          <p:nvPr/>
        </p:nvGraphicFramePr>
        <p:xfrm>
          <a:off x="5669280" y="4114800"/>
          <a:ext cx="6062472" cy="2103120"/>
        </p:xfrm>
        <a:graphic>
          <a:graphicData uri="http://schemas.openxmlformats.org/drawingml/2006/chart">
            <c:chart xmlns:c="http://schemas.openxmlformats.org/drawingml/2006/chart" xmlns:r="http://schemas.openxmlformats.org/officeDocument/2006/relationships" r:id="rId4"/>
          </a:graphicData>
        </a:graphic>
      </p:graphicFrame>
      <p:sp>
        <p:nvSpPr>
          <p:cNvPr id="28"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Customers: 212 have never ordered</a:t>
            </a:r>
            <a:endParaRPr lang="en-US" sz="2800" dirty="0"/>
          </a:p>
        </p:txBody>
      </p:sp>
      <p:sp>
        <p:nvSpPr>
          <p:cNvPr id="3" name="q-chip"/>
          <p:cNvSpPr/>
          <p:nvPr/>
        </p:nvSpPr>
        <p:spPr>
          <a:xfrm>
            <a:off x="10744200" y="109728"/>
            <a:ext cx="457200" cy="237744"/>
          </a:xfrm>
          <a:prstGeom prst="roundRect">
            <a:avLst>
              <a:gd name="adj" fmla="val 50000"/>
            </a:avLst>
          </a:prstGeom>
          <a:solidFill>
            <a:schemeClr val="accent1"/>
          </a:solidFill>
          <a:ln w="6350">
            <a:solidFill>
              <a:schemeClr val="accent1"/>
            </a:solidFill>
            <a:prstDash val="solid"/>
          </a:ln>
        </p:spPr>
      </p:sp>
      <p:sp>
        <p:nvSpPr>
          <p:cNvPr id="4" name="q-chip-label"/>
          <p:cNvSpPr txBox="1"/>
          <p:nvPr/>
        </p:nvSpPr>
        <p:spPr>
          <a:xfrm>
            <a:off x="10744200" y="109728"/>
            <a:ext cx="457200" cy="237744"/>
          </a:xfrm>
          <a:prstGeom prst="rect">
            <a:avLst/>
          </a:prstGeom>
          <a:noFill/>
          <a:ln/>
        </p:spPr>
        <p:txBody>
          <a:bodyPr wrap="square" lIns="0" tIns="0" rIns="0" bIns="0" rtlCol="0" anchor="ctr"/>
          <a:lstStyle/>
          <a:p>
            <a:pPr marL="0" indent="0" algn="ctr">
              <a:buNone/>
            </a:pPr>
            <a:r>
              <a:rPr lang="en-US" sz="1100" b="1" dirty="0">
                <a:solidFill>
                  <a:schemeClr val="bg1"/>
                </a:solidFill>
              </a:rPr>
              <a:t>Q6</a:t>
            </a:r>
            <a:endParaRPr lang="en-US" sz="1100" dirty="0"/>
          </a:p>
        </p:txBody>
      </p:sp>
      <p:sp>
        <p:nvSpPr>
          <p:cNvPr id="5" name="q-chip"/>
          <p:cNvSpPr/>
          <p:nvPr/>
        </p:nvSpPr>
        <p:spPr>
          <a:xfrm>
            <a:off x="11274552" y="109728"/>
            <a:ext cx="457200" cy="237744"/>
          </a:xfrm>
          <a:prstGeom prst="roundRect">
            <a:avLst>
              <a:gd name="adj" fmla="val 50000"/>
            </a:avLst>
          </a:prstGeom>
          <a:solidFill>
            <a:schemeClr val="accent1"/>
          </a:solidFill>
          <a:ln w="6350">
            <a:solidFill>
              <a:schemeClr val="accent1"/>
            </a:solidFill>
            <a:prstDash val="solid"/>
          </a:ln>
        </p:spPr>
      </p:sp>
      <p:sp>
        <p:nvSpPr>
          <p:cNvPr id="6" name="q-chip-label"/>
          <p:cNvSpPr txBox="1"/>
          <p:nvPr/>
        </p:nvSpPr>
        <p:spPr>
          <a:xfrm>
            <a:off x="11274552" y="109728"/>
            <a:ext cx="457200" cy="237744"/>
          </a:xfrm>
          <a:prstGeom prst="rect">
            <a:avLst/>
          </a:prstGeom>
          <a:noFill/>
          <a:ln/>
        </p:spPr>
        <p:txBody>
          <a:bodyPr wrap="square" lIns="0" tIns="0" rIns="0" bIns="0" rtlCol="0" anchor="ctr"/>
          <a:lstStyle/>
          <a:p>
            <a:pPr marL="0" indent="0" algn="ctr">
              <a:buNone/>
            </a:pPr>
            <a:r>
              <a:rPr lang="en-US" sz="1100" b="1" dirty="0">
                <a:solidFill>
                  <a:schemeClr val="bg1"/>
                </a:solidFill>
              </a:rPr>
              <a:t>Q10</a:t>
            </a:r>
            <a:endParaRPr lang="en-US" sz="1100" dirty="0"/>
          </a:p>
        </p:txBody>
      </p:sp>
      <p:sp>
        <p:nvSpPr>
          <p:cNvPr id="7" name="business-question"/>
          <p:cNvSpPr txBox="1"/>
          <p:nvPr/>
        </p:nvSpPr>
        <p:spPr>
          <a:xfrm>
            <a:off x="457200" y="822960"/>
            <a:ext cx="10149840" cy="219456"/>
          </a:xfrm>
          <a:prstGeom prst="rect">
            <a:avLst/>
          </a:prstGeom>
          <a:noFill/>
          <a:ln/>
        </p:spPr>
        <p:txBody>
          <a:bodyPr wrap="square" lIns="0" tIns="0" rIns="0" bIns="0" rtlCol="0" anchor="t"/>
          <a:lstStyle/>
          <a:p>
            <a:pPr marL="0" indent="0">
              <a:buNone/>
            </a:pPr>
            <a:r>
              <a:rPr lang="en-US" sz="1250" i="1" dirty="0">
                <a:solidFill>
                  <a:schemeClr val="accent5"/>
                </a:solidFill>
              </a:rPr>
              <a:t>Business question  Q6: How many customers have never placed an order?  |  Q10: Who are the most valuable customers (historical CLTV)?</a:t>
            </a:r>
            <a:endParaRPr lang="en-US" sz="1250" dirty="0"/>
          </a:p>
        </p:txBody>
      </p:sp>
      <p:sp>
        <p:nvSpPr>
          <p:cNvPr id="8" name="code-panel"/>
          <p:cNvSpPr/>
          <p:nvPr/>
        </p:nvSpPr>
        <p:spPr>
          <a:xfrm>
            <a:off x="457200" y="1188720"/>
            <a:ext cx="4937760" cy="1066800"/>
          </a:xfrm>
          <a:prstGeom prst="roundRect">
            <a:avLst>
              <a:gd name="adj" fmla="val 8571"/>
            </a:avLst>
          </a:prstGeom>
          <a:solidFill>
            <a:srgbClr val="111C36"/>
          </a:solidFill>
          <a:ln w="6350">
            <a:solidFill>
              <a:srgbClr val="111C36"/>
            </a:solidFill>
            <a:prstDash val="solid"/>
          </a:ln>
          <a:effectLst>
            <a:outerShdw blurRad="177800" dist="50800" dir="5400000" algn="bl" rotWithShape="0">
              <a:srgbClr val="0F1B33">
                <a:alpha val="25000"/>
              </a:srgbClr>
            </a:outerShdw>
          </a:effectLst>
        </p:spPr>
      </p:sp>
      <p:sp>
        <p:nvSpPr>
          <p:cNvPr id="9" name="code-label"/>
          <p:cNvSpPr txBox="1"/>
          <p:nvPr/>
        </p:nvSpPr>
        <p:spPr>
          <a:xfrm>
            <a:off x="621792" y="1261872"/>
            <a:ext cx="4608576" cy="228600"/>
          </a:xfrm>
          <a:prstGeom prst="rect">
            <a:avLst/>
          </a:prstGeom>
          <a:noFill/>
          <a:ln/>
        </p:spPr>
        <p:txBody>
          <a:bodyPr wrap="square" lIns="0" tIns="0" rIns="0" bIns="0" rtlCol="0" anchor="t"/>
          <a:lstStyle/>
          <a:p>
            <a:pPr marL="0" indent="0">
              <a:buNone/>
            </a:pPr>
            <a:r>
              <a:rPr lang="en-US" sz="1100" b="1" dirty="0">
                <a:solidFill>
                  <a:srgbClr val="FFB454"/>
                </a:solidFill>
              </a:rPr>
              <a:t>Q6 | Customers with no order (LEFT JOIN + IS NULL)</a:t>
            </a:r>
            <a:endParaRPr lang="en-US" sz="1100" dirty="0"/>
          </a:p>
        </p:txBody>
      </p:sp>
      <p:sp>
        <p:nvSpPr>
          <p:cNvPr id="10" name="sql-code"/>
          <p:cNvSpPr txBox="1"/>
          <p:nvPr/>
        </p:nvSpPr>
        <p:spPr>
          <a:xfrm>
            <a:off x="621792" y="1517904"/>
            <a:ext cx="4663440" cy="646176"/>
          </a:xfrm>
          <a:prstGeom prst="rect">
            <a:avLst/>
          </a:prstGeom>
          <a:noFill/>
          <a:ln/>
        </p:spPr>
        <p:txBody>
          <a:bodyPr wrap="none" lIns="0" tIns="0" rIns="0" bIns="0" rtlCol="0" anchor="t"/>
          <a:lstStyle/>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COUNT</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never_ordered_customers</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customers cu</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LEFT</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orders o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o.customer_id = cu.customer_id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WHERE</a:t>
            </a:r>
            <a:r>
              <a:rPr lang="en-US" sz="1000" dirty="0">
                <a:solidFill>
                  <a:srgbClr val="E8EEF9"/>
                </a:solidFill>
                <a:latin typeface="Courier New" pitchFamily="34" charset="0"/>
                <a:ea typeface="Courier New" pitchFamily="34" charset="-122"/>
                <a:cs typeface="Courier New" pitchFamily="34" charset="-120"/>
              </a:rPr>
              <a:t> o.order_id </a:t>
            </a:r>
            <a:r>
              <a:rPr lang="en-US" sz="1000" b="1" dirty="0">
                <a:solidFill>
                  <a:srgbClr val="FFA94D"/>
                </a:solidFill>
                <a:latin typeface="Courier New" pitchFamily="34" charset="0"/>
                <a:ea typeface="Courier New" pitchFamily="34" charset="-122"/>
                <a:cs typeface="Courier New" pitchFamily="34" charset="-120"/>
              </a:rPr>
              <a:t>IS</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NULL</a:t>
            </a:r>
            <a:r>
              <a:rPr lang="en-US" sz="1000" dirty="0">
                <a:solidFill>
                  <a:srgbClr val="E8EEF9"/>
                </a:solidFill>
                <a:latin typeface="Courier New" pitchFamily="34" charset="0"/>
                <a:ea typeface="Courier New" pitchFamily="34" charset="-122"/>
                <a:cs typeface="Courier New" pitchFamily="34" charset="-120"/>
              </a:rPr>
              <a:t>;</a:t>
            </a:r>
            <a:endParaRPr lang="en-US" sz="1000" dirty="0"/>
          </a:p>
        </p:txBody>
      </p:sp>
      <p:sp>
        <p:nvSpPr>
          <p:cNvPr id="11" name="code-panel"/>
          <p:cNvSpPr/>
          <p:nvPr/>
        </p:nvSpPr>
        <p:spPr>
          <a:xfrm>
            <a:off x="457200" y="2365553"/>
            <a:ext cx="4937760" cy="2590800"/>
          </a:xfrm>
          <a:prstGeom prst="roundRect">
            <a:avLst>
              <a:gd name="adj" fmla="val 3529"/>
            </a:avLst>
          </a:prstGeom>
          <a:solidFill>
            <a:srgbClr val="111C36"/>
          </a:solidFill>
          <a:ln w="6350">
            <a:solidFill>
              <a:srgbClr val="111C36"/>
            </a:solidFill>
            <a:prstDash val="solid"/>
          </a:ln>
          <a:effectLst>
            <a:outerShdw blurRad="177800" dist="50800" dir="5400000" algn="bl" rotWithShape="0">
              <a:srgbClr val="0F1B33">
                <a:alpha val="25000"/>
              </a:srgbClr>
            </a:outerShdw>
          </a:effectLst>
        </p:spPr>
      </p:sp>
      <p:sp>
        <p:nvSpPr>
          <p:cNvPr id="12" name="code-label"/>
          <p:cNvSpPr txBox="1"/>
          <p:nvPr/>
        </p:nvSpPr>
        <p:spPr>
          <a:xfrm>
            <a:off x="621792" y="2438705"/>
            <a:ext cx="4608576" cy="228600"/>
          </a:xfrm>
          <a:prstGeom prst="rect">
            <a:avLst/>
          </a:prstGeom>
          <a:noFill/>
          <a:ln/>
        </p:spPr>
        <p:txBody>
          <a:bodyPr wrap="square" lIns="0" tIns="0" rIns="0" bIns="0" rtlCol="0" anchor="t"/>
          <a:lstStyle/>
          <a:p>
            <a:pPr marL="0" indent="0">
              <a:buNone/>
            </a:pPr>
            <a:r>
              <a:rPr lang="en-US" sz="1100" b="1" dirty="0">
                <a:solidFill>
                  <a:srgbClr val="FFB454"/>
                </a:solidFill>
              </a:rPr>
              <a:t>Q10 | Top 5 customers by historical CLTV</a:t>
            </a:r>
            <a:endParaRPr lang="en-US" sz="1100" dirty="0"/>
          </a:p>
        </p:txBody>
      </p:sp>
      <p:sp>
        <p:nvSpPr>
          <p:cNvPr id="13" name="sql-code"/>
          <p:cNvSpPr txBox="1"/>
          <p:nvPr/>
        </p:nvSpPr>
        <p:spPr>
          <a:xfrm>
            <a:off x="621792" y="2694737"/>
            <a:ext cx="4663440" cy="2170176"/>
          </a:xfrm>
          <a:prstGeom prst="rect">
            <a:avLst/>
          </a:prstGeom>
          <a:noFill/>
          <a:ln/>
        </p:spPr>
        <p:txBody>
          <a:bodyPr wrap="none" lIns="0" tIns="0" rIns="0" bIns="0" rtlCol="0" anchor="t"/>
          <a:lstStyle/>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WITH</a:t>
            </a:r>
            <a:r>
              <a:rPr lang="en-US" sz="1000" dirty="0">
                <a:solidFill>
                  <a:srgbClr val="E8EEF9"/>
                </a:solidFill>
                <a:latin typeface="Courier New" pitchFamily="34" charset="0"/>
                <a:ea typeface="Courier New" pitchFamily="34" charset="-122"/>
                <a:cs typeface="Courier New" pitchFamily="34" charset="-120"/>
              </a:rPr>
              <a:t> cltv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o.customer_id,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SUM</a:t>
            </a:r>
            <a:r>
              <a:rPr lang="en-US" sz="1000" dirty="0">
                <a:solidFill>
                  <a:srgbClr val="E8EEF9"/>
                </a:solidFill>
                <a:latin typeface="Courier New" pitchFamily="34" charset="0"/>
                <a:ea typeface="Courier New" pitchFamily="34" charset="-122"/>
                <a:cs typeface="Courier New" pitchFamily="34" charset="-120"/>
              </a:rPr>
              <a:t>(oi.quantity * oi.price_per_unit)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ltv</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orders o</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order_items oi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oi.order_id = o.order_id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WHERE</a:t>
            </a:r>
            <a:r>
              <a:rPr lang="en-US" sz="1000" dirty="0">
                <a:solidFill>
                  <a:srgbClr val="E8EEF9"/>
                </a:solidFill>
                <a:latin typeface="Courier New" pitchFamily="34" charset="0"/>
                <a:ea typeface="Courier New" pitchFamily="34" charset="-122"/>
                <a:cs typeface="Courier New" pitchFamily="34" charset="-120"/>
              </a:rPr>
              <a:t> o.order_status = </a:t>
            </a:r>
            <a:r>
              <a:rPr lang="en-US" sz="1000" dirty="0">
                <a:solidFill>
                  <a:srgbClr val="9AE6B4"/>
                </a:solidFill>
                <a:latin typeface="Courier New" pitchFamily="34" charset="0"/>
                <a:ea typeface="Courier New" pitchFamily="34" charset="-122"/>
                <a:cs typeface="Courier New" pitchFamily="34" charset="-120"/>
              </a:rPr>
              <a:t>'Completed'</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GROUP</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o.customer_id)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cu.first_name, cu.last_name, cu.state, c.ltv,</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RANK</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OVER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c.ltv </a:t>
            </a:r>
            <a:r>
              <a:rPr lang="en-US" sz="1000" b="1" dirty="0">
                <a:solidFill>
                  <a:srgbClr val="FFA94D"/>
                </a:solidFill>
                <a:latin typeface="Courier New" pitchFamily="34" charset="0"/>
                <a:ea typeface="Courier New" pitchFamily="34" charset="-122"/>
                <a:cs typeface="Courier New" pitchFamily="34" charset="-120"/>
              </a:rPr>
              <a:t>DESC</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ltv_rank,</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4FD1C5"/>
                </a:solidFill>
                <a:latin typeface="Courier New" pitchFamily="34" charset="0"/>
                <a:ea typeface="Courier New" pitchFamily="34" charset="-122"/>
                <a:cs typeface="Courier New" pitchFamily="34" charset="-120"/>
              </a:rPr>
              <a:t>ROUND</a:t>
            </a:r>
            <a:r>
              <a:rPr lang="en-US" sz="1000" dirty="0">
                <a:solidFill>
                  <a:srgbClr val="E8EEF9"/>
                </a:solidFill>
                <a:latin typeface="Courier New" pitchFamily="34" charset="0"/>
                <a:ea typeface="Courier New" pitchFamily="34" charset="-122"/>
                <a:cs typeface="Courier New" pitchFamily="34" charset="-120"/>
              </a:rPr>
              <a:t>(</a:t>
            </a:r>
            <a:r>
              <a:rPr lang="en-US" sz="1000" dirty="0">
                <a:solidFill>
                  <a:srgbClr val="4FD1C5"/>
                </a:solidFill>
                <a:latin typeface="Courier New" pitchFamily="34" charset="0"/>
                <a:ea typeface="Courier New" pitchFamily="34" charset="-122"/>
                <a:cs typeface="Courier New" pitchFamily="34" charset="-120"/>
              </a:rPr>
              <a:t>AVG</a:t>
            </a:r>
            <a:r>
              <a:rPr lang="en-US" sz="1000" dirty="0">
                <a:solidFill>
                  <a:srgbClr val="E8EEF9"/>
                </a:solidFill>
                <a:latin typeface="Courier New" pitchFamily="34" charset="0"/>
                <a:ea typeface="Courier New" pitchFamily="34" charset="-122"/>
                <a:cs typeface="Courier New" pitchFamily="34" charset="-120"/>
              </a:rPr>
              <a:t>(ltv), </a:t>
            </a:r>
            <a:r>
              <a:rPr lang="en-US" sz="1000" dirty="0">
                <a:solidFill>
                  <a:srgbClr val="8AB4FF"/>
                </a:solidFill>
                <a:latin typeface="Courier New" pitchFamily="34" charset="0"/>
                <a:ea typeface="Courier New" pitchFamily="34" charset="-122"/>
                <a:cs typeface="Courier New" pitchFamily="34" charset="-120"/>
              </a:rPr>
              <a:t>2</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cltv) </a:t>
            </a:r>
            <a:r>
              <a:rPr lang="en-US" sz="1000" b="1" dirty="0">
                <a:solidFill>
                  <a:srgbClr val="FFA94D"/>
                </a:solidFill>
                <a:latin typeface="Courier New" pitchFamily="34" charset="0"/>
                <a:ea typeface="Courier New" pitchFamily="34" charset="-122"/>
                <a:cs typeface="Courier New" pitchFamily="34" charset="-120"/>
              </a:rPr>
              <a:t>AS</a:t>
            </a:r>
            <a:r>
              <a:rPr lang="en-US" sz="1000" dirty="0">
                <a:solidFill>
                  <a:srgbClr val="E8EEF9"/>
                </a:solidFill>
                <a:latin typeface="Courier New" pitchFamily="34" charset="0"/>
                <a:ea typeface="Courier New" pitchFamily="34" charset="-122"/>
                <a:cs typeface="Courier New" pitchFamily="34" charset="-120"/>
              </a:rPr>
              <a:t> avg_ltv</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cltv c</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customers cu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cu.customer_id = c.customer_id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ltv_rank</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LIMIT</a:t>
            </a:r>
            <a:r>
              <a:rPr lang="en-US" sz="1000" dirty="0">
                <a:solidFill>
                  <a:srgbClr val="E8EEF9"/>
                </a:solidFill>
                <a:latin typeface="Courier New" pitchFamily="34" charset="0"/>
                <a:ea typeface="Courier New" pitchFamily="34" charset="-122"/>
                <a:cs typeface="Courier New" pitchFamily="34" charset="-120"/>
              </a:rPr>
              <a:t> </a:t>
            </a:r>
            <a:r>
              <a:rPr lang="en-US" sz="1000" dirty="0">
                <a:solidFill>
                  <a:srgbClr val="8AB4FF"/>
                </a:solidFill>
                <a:latin typeface="Courier New" pitchFamily="34" charset="0"/>
                <a:ea typeface="Courier New" pitchFamily="34" charset="-122"/>
                <a:cs typeface="Courier New" pitchFamily="34" charset="-120"/>
              </a:rPr>
              <a:t>5</a:t>
            </a:r>
            <a:r>
              <a:rPr lang="en-US" sz="1000" dirty="0">
                <a:solidFill>
                  <a:srgbClr val="E8EEF9"/>
                </a:solidFill>
                <a:latin typeface="Courier New" pitchFamily="34" charset="0"/>
                <a:ea typeface="Courier New" pitchFamily="34" charset="-122"/>
                <a:cs typeface="Courier New" pitchFamily="34" charset="-120"/>
              </a:rPr>
              <a:t>;</a:t>
            </a:r>
            <a:endParaRPr lang="en-US" sz="1000" dirty="0"/>
          </a:p>
        </p:txBody>
      </p:sp>
      <p:sp>
        <p:nvSpPr>
          <p:cNvPr id="14" name="insight-card"/>
          <p:cNvSpPr/>
          <p:nvPr/>
        </p:nvSpPr>
        <p:spPr>
          <a:xfrm>
            <a:off x="457200" y="5065776"/>
            <a:ext cx="4937760" cy="1152144"/>
          </a:xfrm>
          <a:prstGeom prst="roundRect">
            <a:avLst>
              <a:gd name="adj" fmla="val 9524"/>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5" name="insight-title"/>
          <p:cNvSpPr txBox="1"/>
          <p:nvPr/>
        </p:nvSpPr>
        <p:spPr>
          <a:xfrm>
            <a:off x="640080" y="5157216"/>
            <a:ext cx="4572000" cy="237744"/>
          </a:xfrm>
          <a:prstGeom prst="rect">
            <a:avLst/>
          </a:prstGeom>
          <a:noFill/>
          <a:ln/>
        </p:spPr>
        <p:txBody>
          <a:bodyPr wrap="square" lIns="0" tIns="0" rIns="0" bIns="0" rtlCol="0" anchor="t"/>
          <a:lstStyle/>
          <a:p>
            <a:pPr marL="0" indent="0">
              <a:buNone/>
            </a:pPr>
            <a:r>
              <a:rPr lang="en-US" sz="1300" b="1" dirty="0">
                <a:solidFill>
                  <a:schemeClr val="accent1"/>
                </a:solidFill>
              </a:rPr>
              <a:t>Reading the results</a:t>
            </a:r>
            <a:endParaRPr lang="en-US" sz="1300" dirty="0"/>
          </a:p>
        </p:txBody>
      </p:sp>
      <p:sp>
        <p:nvSpPr>
          <p:cNvPr id="16" name="insight-list"/>
          <p:cNvSpPr txBox="1"/>
          <p:nvPr/>
        </p:nvSpPr>
        <p:spPr>
          <a:xfrm>
            <a:off x="640080" y="5449824"/>
            <a:ext cx="4572000" cy="694944"/>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212 of 898 customers (23.6%) never ordered</a:t>
            </a:r>
            <a:endParaRPr lang="en-US" sz="1200" dirty="0"/>
          </a:p>
          <a:p>
            <a:pPr marL="342900" indent="-342900">
              <a:spcAft>
                <a:spcPts val="300"/>
              </a:spcAft>
              <a:buSzPct val="100000"/>
              <a:buChar char="•"/>
            </a:pPr>
            <a:r>
              <a:rPr lang="en-US" sz="1200" dirty="0">
                <a:solidFill>
                  <a:schemeClr val="tx1"/>
                </a:solidFill>
              </a:rPr>
              <a:t>686 ordered; 520 have completed-order revenue</a:t>
            </a:r>
            <a:endParaRPr lang="en-US" sz="1200" dirty="0"/>
          </a:p>
        </p:txBody>
      </p:sp>
      <p:sp>
        <p:nvSpPr>
          <p:cNvPr id="17" name="table-heading"/>
          <p:cNvSpPr txBox="1"/>
          <p:nvPr/>
        </p:nvSpPr>
        <p:spPr>
          <a:xfrm>
            <a:off x="5669280" y="1143000"/>
            <a:ext cx="6062472" cy="256032"/>
          </a:xfrm>
          <a:prstGeom prst="rect">
            <a:avLst/>
          </a:prstGeom>
          <a:noFill/>
          <a:ln/>
        </p:spPr>
        <p:txBody>
          <a:bodyPr wrap="square" lIns="0" tIns="0" rIns="0" bIns="0" rtlCol="0" anchor="t"/>
          <a:lstStyle/>
          <a:p>
            <a:pPr marL="0" indent="0">
              <a:buNone/>
            </a:pPr>
            <a:r>
              <a:rPr lang="en-US" sz="1300" b="1" dirty="0">
                <a:solidFill>
                  <a:schemeClr val="accent1"/>
                </a:solidFill>
              </a:rPr>
              <a:t>Top 5 customers by historical CLTV</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0" y="1371600"/>
          <a:ext cx="6062472" cy="1536192"/>
        </p:xfrm>
        <a:graphic>
          <a:graphicData uri="http://schemas.openxmlformats.org/drawingml/2006/table">
            <a:tbl>
              <a:tblPr/>
              <a:tblGrid>
                <a:gridCol w="7315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581912">
                  <a:extLst>
                    <a:ext uri="{9D8B030D-6E8A-4147-A177-3AD203B41FA5}">
                      <a16:colId xmlns:a16="http://schemas.microsoft.com/office/drawing/2014/main" val="20003"/>
                    </a:ext>
                  </a:extLst>
                </a:gridCol>
              </a:tblGrid>
              <a:tr h="256032">
                <a:tc>
                  <a:txBody>
                    <a:bodyPr/>
                    <a:lstStyle/>
                    <a:p>
                      <a:pPr marL="0" indent="0" algn="l">
                        <a:buNone/>
                      </a:pPr>
                      <a:r>
                        <a:rPr lang="en-US" sz="1100" b="1" dirty="0">
                          <a:solidFill>
                            <a:schemeClr val="bg1"/>
                          </a:solidFill>
                        </a:rPr>
                        <a:t>Rank</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l">
                        <a:buNone/>
                      </a:pPr>
                      <a:r>
                        <a:rPr lang="en-US" sz="1100" b="1" dirty="0">
                          <a:solidFill>
                            <a:schemeClr val="bg1"/>
                          </a:solidFill>
                        </a:rPr>
                        <a:t>Customer</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l">
                        <a:buNone/>
                      </a:pPr>
                      <a:r>
                        <a:rPr lang="en-US" sz="1100" b="1" dirty="0">
                          <a:solidFill>
                            <a:schemeClr val="bg1"/>
                          </a:solidFill>
                        </a:rPr>
                        <a:t>State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tc>
                  <a:txBody>
                    <a:bodyPr/>
                    <a:lstStyle/>
                    <a:p>
                      <a:pPr marL="0" indent="0" algn="r">
                        <a:buNone/>
                      </a:pPr>
                      <a:r>
                        <a:rPr lang="en-US" sz="1100" b="1" dirty="0">
                          <a:solidFill>
                            <a:schemeClr val="bg1"/>
                          </a:solidFill>
                        </a:rPr>
                        <a:t>CLTV</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56032">
                <a:tc>
                  <a:txBody>
                    <a:bodyPr/>
                    <a:lstStyle/>
                    <a:p>
                      <a:pPr marL="0" indent="0" algn="l">
                        <a:buNone/>
                      </a:pPr>
                      <a:r>
                        <a:rPr lang="en-US" sz="1100" b="1" dirty="0">
                          <a:solidFill>
                            <a:schemeClr val="tx1"/>
                          </a:solidFill>
                        </a:rPr>
                        <a:t>1</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l">
                        <a:buNone/>
                      </a:pPr>
                      <a:r>
                        <a:rPr lang="en-US" sz="1100" dirty="0">
                          <a:solidFill>
                            <a:schemeClr val="tx1"/>
                          </a:solidFill>
                        </a:rPr>
                        <a:t>Yvonne Reed</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l">
                        <a:buNone/>
                      </a:pPr>
                      <a:r>
                        <a:rPr lang="en-US" sz="1100" dirty="0">
                          <a:solidFill>
                            <a:schemeClr val="tx1"/>
                          </a:solidFill>
                        </a:rPr>
                        <a:t>Ohio</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$89,029</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b="1" dirty="0">
                          <a:solidFill>
                            <a:schemeClr val="tx1"/>
                          </a:solidFill>
                        </a:rPr>
                        <a:t>2</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l">
                        <a:buNone/>
                      </a:pPr>
                      <a:r>
                        <a:rPr lang="en-US" sz="1100" dirty="0">
                          <a:solidFill>
                            <a:schemeClr val="tx1"/>
                          </a:solidFill>
                        </a:rPr>
                        <a:t>Mia Reed</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l">
                        <a:buNone/>
                      </a:pPr>
                      <a:r>
                        <a:rPr lang="en-US" sz="1100" dirty="0">
                          <a:solidFill>
                            <a:schemeClr val="tx1"/>
                          </a:solidFill>
                        </a:rPr>
                        <a:t>Ohio</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$82,350</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2"/>
                  </a:ext>
                </a:extLst>
              </a:tr>
              <a:tr h="256032">
                <a:tc>
                  <a:txBody>
                    <a:bodyPr/>
                    <a:lstStyle/>
                    <a:p>
                      <a:pPr marL="0" indent="0" algn="l">
                        <a:buNone/>
                      </a:pPr>
                      <a:r>
                        <a:rPr lang="en-US" sz="1100" b="1" dirty="0">
                          <a:solidFill>
                            <a:schemeClr val="tx1"/>
                          </a:solidFill>
                        </a:rPr>
                        <a:t>3</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l">
                        <a:buNone/>
                      </a:pPr>
                      <a:r>
                        <a:rPr lang="en-US" sz="1100" dirty="0">
                          <a:solidFill>
                            <a:schemeClr val="tx1"/>
                          </a:solidFill>
                        </a:rPr>
                        <a:t>Fred Davis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l">
                        <a:buNone/>
                      </a:pPr>
                      <a:r>
                        <a:rPr lang="en-US" sz="1100" dirty="0">
                          <a:solidFill>
                            <a:schemeClr val="tx1"/>
                          </a:solidFill>
                        </a:rPr>
                        <a:t>Texas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$82,179</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00" b="1" dirty="0">
                          <a:solidFill>
                            <a:schemeClr val="tx1"/>
                          </a:solidFill>
                        </a:rPr>
                        <a:t>4</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l">
                        <a:buNone/>
                      </a:pPr>
                      <a:r>
                        <a:rPr lang="en-US" sz="1100" dirty="0">
                          <a:solidFill>
                            <a:schemeClr val="tx1"/>
                          </a:solidFill>
                        </a:rPr>
                        <a:t>Quinn Davis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l">
                        <a:buNone/>
                      </a:pPr>
                      <a:r>
                        <a:rPr lang="en-US" sz="1100" dirty="0">
                          <a:solidFill>
                            <a:schemeClr val="tx1"/>
                          </a:solidFill>
                        </a:rPr>
                        <a:t>Ohio</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tc>
                  <a:txBody>
                    <a:bodyPr/>
                    <a:lstStyle/>
                    <a:p>
                      <a:pPr marL="0" indent="0" algn="r">
                        <a:buNone/>
                      </a:pPr>
                      <a:r>
                        <a:rPr lang="en-US" sz="1100" dirty="0">
                          <a:solidFill>
                            <a:schemeClr val="tx1"/>
                          </a:solidFill>
                        </a:rPr>
                        <a:t>$79,205</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4F7FD"/>
                    </a:solidFill>
                  </a:tcPr>
                </a:tc>
                <a:extLst>
                  <a:ext uri="{0D108BD9-81ED-4DB2-BD59-A6C34878D82A}">
                    <a16:rowId xmlns:a16="http://schemas.microsoft.com/office/drawing/2014/main" val="10004"/>
                  </a:ext>
                </a:extLst>
              </a:tr>
              <a:tr h="256032">
                <a:tc>
                  <a:txBody>
                    <a:bodyPr/>
                    <a:lstStyle/>
                    <a:p>
                      <a:pPr marL="0" indent="0" algn="l">
                        <a:buNone/>
                      </a:pPr>
                      <a:r>
                        <a:rPr lang="en-US" sz="1100" b="1" dirty="0">
                          <a:solidFill>
                            <a:schemeClr val="tx1"/>
                          </a:solidFill>
                        </a:rPr>
                        <a:t>5</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l">
                        <a:buNone/>
                      </a:pPr>
                      <a:r>
                        <a:rPr lang="en-US" sz="1100" dirty="0">
                          <a:solidFill>
                            <a:schemeClr val="tx1"/>
                          </a:solidFill>
                        </a:rPr>
                        <a:t>Nathan Lee</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l">
                        <a:buNone/>
                      </a:pPr>
                      <a:r>
                        <a:rPr lang="en-US" sz="1100" dirty="0">
                          <a:solidFill>
                            <a:schemeClr val="tx1"/>
                          </a:solidFill>
                        </a:rPr>
                        <a:t>Texas</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lgn="r">
                        <a:buNone/>
                      </a:pPr>
                      <a:r>
                        <a:rPr lang="en-US" sz="1100" dirty="0">
                          <a:solidFill>
                            <a:schemeClr val="tx1"/>
                          </a:solidFill>
                        </a:rPr>
                        <a:t>$77,137</a:t>
                      </a:r>
                      <a:endParaRPr lang="en-US" sz="1100" dirty="0"/>
                    </a:p>
                  </a:txBody>
                  <a:tcPr marL="73152" marR="73152" marT="0" marB="0"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mini-stat"/>
          <p:cNvSpPr/>
          <p:nvPr/>
        </p:nvSpPr>
        <p:spPr>
          <a:xfrm>
            <a:off x="5669280" y="3291840"/>
            <a:ext cx="2926080" cy="1097280"/>
          </a:xfrm>
          <a:prstGeom prst="roundRect">
            <a:avLst>
              <a:gd name="adj" fmla="val 10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0" name="mini-value"/>
          <p:cNvSpPr txBox="1"/>
          <p:nvPr/>
        </p:nvSpPr>
        <p:spPr>
          <a:xfrm>
            <a:off x="5806440" y="3383280"/>
            <a:ext cx="2651760" cy="50292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212</a:t>
            </a:r>
            <a:endParaRPr lang="en-US" sz="2600" dirty="0"/>
          </a:p>
        </p:txBody>
      </p:sp>
      <p:sp>
        <p:nvSpPr>
          <p:cNvPr id="21" name="mini-label"/>
          <p:cNvSpPr txBox="1"/>
          <p:nvPr/>
        </p:nvSpPr>
        <p:spPr>
          <a:xfrm>
            <a:off x="5806440" y="3913632"/>
            <a:ext cx="2651760" cy="411480"/>
          </a:xfrm>
          <a:prstGeom prst="rect">
            <a:avLst/>
          </a:prstGeom>
          <a:noFill/>
          <a:ln/>
        </p:spPr>
        <p:txBody>
          <a:bodyPr wrap="square" lIns="0" tIns="0" rIns="0" bIns="0" rtlCol="0" anchor="t"/>
          <a:lstStyle/>
          <a:p>
            <a:pPr marL="0" indent="0">
              <a:buNone/>
            </a:pPr>
            <a:r>
              <a:rPr lang="en-US" sz="1150" dirty="0">
                <a:solidFill>
                  <a:schemeClr val="tx1"/>
                </a:solidFill>
              </a:rPr>
              <a:t>never-ordered customers; 118 in Texas, 33 in California</a:t>
            </a:r>
            <a:endParaRPr lang="en-US" sz="1150" dirty="0"/>
          </a:p>
        </p:txBody>
      </p:sp>
      <p:sp>
        <p:nvSpPr>
          <p:cNvPr id="22" name="mini-stat"/>
          <p:cNvSpPr/>
          <p:nvPr/>
        </p:nvSpPr>
        <p:spPr>
          <a:xfrm>
            <a:off x="8805672" y="3291840"/>
            <a:ext cx="2926080" cy="1097280"/>
          </a:xfrm>
          <a:prstGeom prst="roundRect">
            <a:avLst>
              <a:gd name="adj" fmla="val 10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3" name="mini-value"/>
          <p:cNvSpPr txBox="1"/>
          <p:nvPr/>
        </p:nvSpPr>
        <p:spPr>
          <a:xfrm>
            <a:off x="8942832" y="3383280"/>
            <a:ext cx="2651760" cy="502920"/>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$19,967</a:t>
            </a:r>
            <a:endParaRPr lang="en-US" sz="2600" dirty="0"/>
          </a:p>
        </p:txBody>
      </p:sp>
      <p:sp>
        <p:nvSpPr>
          <p:cNvPr id="24" name="mini-label"/>
          <p:cNvSpPr txBox="1"/>
          <p:nvPr/>
        </p:nvSpPr>
        <p:spPr>
          <a:xfrm>
            <a:off x="8942832" y="3913632"/>
            <a:ext cx="2651760" cy="411480"/>
          </a:xfrm>
          <a:prstGeom prst="rect">
            <a:avLst/>
          </a:prstGeom>
          <a:noFill/>
          <a:ln/>
        </p:spPr>
        <p:txBody>
          <a:bodyPr wrap="square" lIns="0" tIns="0" rIns="0" bIns="0" rtlCol="0" anchor="t"/>
          <a:lstStyle/>
          <a:p>
            <a:pPr marL="0" indent="0">
              <a:buNone/>
            </a:pPr>
            <a:r>
              <a:rPr lang="en-US" sz="1150" dirty="0">
                <a:solidFill>
                  <a:schemeClr val="tx1"/>
                </a:solidFill>
              </a:rPr>
              <a:t>average CLTV across 520 customers with completed orders</a:t>
            </a:r>
            <a:endParaRPr lang="en-US" sz="1150" dirty="0"/>
          </a:p>
        </p:txBody>
      </p:sp>
      <p:sp>
        <p:nvSpPr>
          <p:cNvPr id="25" name="chart-heading"/>
          <p:cNvSpPr txBox="1"/>
          <p:nvPr/>
        </p:nvSpPr>
        <p:spPr>
          <a:xfrm>
            <a:off x="5669280" y="4526280"/>
            <a:ext cx="6062472" cy="256032"/>
          </a:xfrm>
          <a:prstGeom prst="rect">
            <a:avLst/>
          </a:prstGeom>
          <a:noFill/>
          <a:ln/>
        </p:spPr>
        <p:txBody>
          <a:bodyPr wrap="square" lIns="0" tIns="0" rIns="0" bIns="0" rtlCol="0" anchor="t"/>
          <a:lstStyle/>
          <a:p>
            <a:pPr marL="0" indent="0">
              <a:buNone/>
            </a:pPr>
            <a:r>
              <a:rPr lang="en-US" sz="1300" b="1" dirty="0">
                <a:solidFill>
                  <a:schemeClr val="accent1"/>
                </a:solidFill>
              </a:rPr>
              <a:t>Where the 212 never-ordered customers live</a:t>
            </a:r>
            <a:endParaRPr lang="en-US" sz="1300" dirty="0"/>
          </a:p>
        </p:txBody>
      </p:sp>
      <p:graphicFrame>
        <p:nvGraphicFramePr>
          <p:cNvPr id="26" name="Chart 0"/>
          <p:cNvGraphicFramePr/>
          <p:nvPr/>
        </p:nvGraphicFramePr>
        <p:xfrm>
          <a:off x="5669280" y="4709160"/>
          <a:ext cx="6062472" cy="1508760"/>
        </p:xfrm>
        <a:graphic>
          <a:graphicData uri="http://schemas.openxmlformats.org/drawingml/2006/chart">
            <c:chart xmlns:c="http://schemas.openxmlformats.org/drawingml/2006/chart" xmlns:r="http://schemas.openxmlformats.org/officeDocument/2006/relationships" r:id="rId3"/>
          </a:graphicData>
        </a:graphic>
      </p:graphicFrame>
      <p:sp>
        <p:nvSpPr>
          <p:cNvPr id="27"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Operations: low stock and unsold products</a:t>
            </a:r>
            <a:endParaRPr lang="en-US" sz="2800" dirty="0"/>
          </a:p>
        </p:txBody>
      </p:sp>
      <p:sp>
        <p:nvSpPr>
          <p:cNvPr id="3" name="q-chip"/>
          <p:cNvSpPr/>
          <p:nvPr/>
        </p:nvSpPr>
        <p:spPr>
          <a:xfrm>
            <a:off x="10744200" y="109728"/>
            <a:ext cx="457200" cy="237744"/>
          </a:xfrm>
          <a:prstGeom prst="roundRect">
            <a:avLst>
              <a:gd name="adj" fmla="val 50000"/>
            </a:avLst>
          </a:prstGeom>
          <a:solidFill>
            <a:schemeClr val="accent1"/>
          </a:solidFill>
          <a:ln w="6350">
            <a:solidFill>
              <a:schemeClr val="accent1"/>
            </a:solidFill>
            <a:prstDash val="solid"/>
          </a:ln>
        </p:spPr>
      </p:sp>
      <p:sp>
        <p:nvSpPr>
          <p:cNvPr id="4" name="q-chip-label"/>
          <p:cNvSpPr txBox="1"/>
          <p:nvPr/>
        </p:nvSpPr>
        <p:spPr>
          <a:xfrm>
            <a:off x="10744200" y="109728"/>
            <a:ext cx="457200" cy="237744"/>
          </a:xfrm>
          <a:prstGeom prst="rect">
            <a:avLst/>
          </a:prstGeom>
          <a:noFill/>
          <a:ln/>
        </p:spPr>
        <p:txBody>
          <a:bodyPr wrap="square" lIns="0" tIns="0" rIns="0" bIns="0" rtlCol="0" anchor="ctr"/>
          <a:lstStyle/>
          <a:p>
            <a:pPr marL="0" indent="0" algn="ctr">
              <a:buNone/>
            </a:pPr>
            <a:r>
              <a:rPr lang="en-US" sz="1100" b="1" dirty="0">
                <a:solidFill>
                  <a:schemeClr val="bg1"/>
                </a:solidFill>
              </a:rPr>
              <a:t>Q7</a:t>
            </a:r>
            <a:endParaRPr lang="en-US" sz="1100" dirty="0"/>
          </a:p>
        </p:txBody>
      </p:sp>
      <p:sp>
        <p:nvSpPr>
          <p:cNvPr id="5" name="q-chip"/>
          <p:cNvSpPr/>
          <p:nvPr/>
        </p:nvSpPr>
        <p:spPr>
          <a:xfrm>
            <a:off x="11274552" y="109728"/>
            <a:ext cx="457200" cy="237744"/>
          </a:xfrm>
          <a:prstGeom prst="roundRect">
            <a:avLst>
              <a:gd name="adj" fmla="val 50000"/>
            </a:avLst>
          </a:prstGeom>
          <a:solidFill>
            <a:schemeClr val="accent1"/>
          </a:solidFill>
          <a:ln w="6350">
            <a:solidFill>
              <a:schemeClr val="accent1"/>
            </a:solidFill>
            <a:prstDash val="solid"/>
          </a:ln>
        </p:spPr>
      </p:sp>
      <p:sp>
        <p:nvSpPr>
          <p:cNvPr id="6" name="q-chip-label"/>
          <p:cNvSpPr txBox="1"/>
          <p:nvPr/>
        </p:nvSpPr>
        <p:spPr>
          <a:xfrm>
            <a:off x="11274552" y="109728"/>
            <a:ext cx="457200" cy="237744"/>
          </a:xfrm>
          <a:prstGeom prst="rect">
            <a:avLst/>
          </a:prstGeom>
          <a:noFill/>
          <a:ln/>
        </p:spPr>
        <p:txBody>
          <a:bodyPr wrap="square" lIns="0" tIns="0" rIns="0" bIns="0" rtlCol="0" anchor="ctr"/>
          <a:lstStyle/>
          <a:p>
            <a:pPr marL="0" indent="0" algn="ctr">
              <a:buNone/>
            </a:pPr>
            <a:r>
              <a:rPr lang="en-US" sz="1100" b="1" dirty="0">
                <a:solidFill>
                  <a:schemeClr val="bg1"/>
                </a:solidFill>
              </a:rPr>
              <a:t>Q8</a:t>
            </a:r>
            <a:endParaRPr lang="en-US" sz="1100" dirty="0"/>
          </a:p>
        </p:txBody>
      </p:sp>
      <p:sp>
        <p:nvSpPr>
          <p:cNvPr id="7" name="business-question"/>
          <p:cNvSpPr txBox="1"/>
          <p:nvPr/>
        </p:nvSpPr>
        <p:spPr>
          <a:xfrm>
            <a:off x="457200" y="822960"/>
            <a:ext cx="10149840" cy="219456"/>
          </a:xfrm>
          <a:prstGeom prst="rect">
            <a:avLst/>
          </a:prstGeom>
          <a:noFill/>
          <a:ln/>
        </p:spPr>
        <p:txBody>
          <a:bodyPr wrap="square" lIns="0" tIns="0" rIns="0" bIns="0" rtlCol="0" anchor="t"/>
          <a:lstStyle/>
          <a:p>
            <a:pPr marL="0" indent="0">
              <a:buNone/>
            </a:pPr>
            <a:r>
              <a:rPr lang="en-US" sz="1250" i="1" dirty="0">
                <a:solidFill>
                  <a:schemeClr val="accent5"/>
                </a:solidFill>
              </a:rPr>
              <a:t>Business question  Q7: Which products are running low on stock?  |  Q8: Which products have never been sold?</a:t>
            </a:r>
            <a:endParaRPr lang="en-US" sz="1250" dirty="0"/>
          </a:p>
        </p:txBody>
      </p:sp>
      <p:sp>
        <p:nvSpPr>
          <p:cNvPr id="8" name="code-panel"/>
          <p:cNvSpPr/>
          <p:nvPr/>
        </p:nvSpPr>
        <p:spPr>
          <a:xfrm>
            <a:off x="457200" y="1188720"/>
            <a:ext cx="4937760" cy="1219200"/>
          </a:xfrm>
          <a:prstGeom prst="roundRect">
            <a:avLst>
              <a:gd name="adj" fmla="val 7500"/>
            </a:avLst>
          </a:prstGeom>
          <a:solidFill>
            <a:srgbClr val="111C36"/>
          </a:solidFill>
          <a:ln w="6350">
            <a:solidFill>
              <a:srgbClr val="111C36"/>
            </a:solidFill>
            <a:prstDash val="solid"/>
          </a:ln>
          <a:effectLst>
            <a:outerShdw blurRad="177800" dist="50800" dir="5400000" algn="bl" rotWithShape="0">
              <a:srgbClr val="0F1B33">
                <a:alpha val="25000"/>
              </a:srgbClr>
            </a:outerShdw>
          </a:effectLst>
        </p:spPr>
      </p:sp>
      <p:sp>
        <p:nvSpPr>
          <p:cNvPr id="9" name="code-label"/>
          <p:cNvSpPr txBox="1"/>
          <p:nvPr/>
        </p:nvSpPr>
        <p:spPr>
          <a:xfrm>
            <a:off x="621792" y="1261872"/>
            <a:ext cx="4608576" cy="228600"/>
          </a:xfrm>
          <a:prstGeom prst="rect">
            <a:avLst/>
          </a:prstGeom>
          <a:noFill/>
          <a:ln/>
        </p:spPr>
        <p:txBody>
          <a:bodyPr wrap="square" lIns="0" tIns="0" rIns="0" bIns="0" rtlCol="0" anchor="t"/>
          <a:lstStyle/>
          <a:p>
            <a:pPr marL="0" indent="0">
              <a:buNone/>
            </a:pPr>
            <a:r>
              <a:rPr lang="en-US" sz="1100" b="1" dirty="0">
                <a:solidFill>
                  <a:srgbClr val="FFB454"/>
                </a:solidFill>
              </a:rPr>
              <a:t>Q7 | Low-stock products (stock &lt; 10)</a:t>
            </a:r>
            <a:endParaRPr lang="en-US" sz="1100" dirty="0"/>
          </a:p>
        </p:txBody>
      </p:sp>
      <p:sp>
        <p:nvSpPr>
          <p:cNvPr id="10" name="sql-code"/>
          <p:cNvSpPr txBox="1"/>
          <p:nvPr/>
        </p:nvSpPr>
        <p:spPr>
          <a:xfrm>
            <a:off x="621792" y="1517904"/>
            <a:ext cx="4663440" cy="798576"/>
          </a:xfrm>
          <a:prstGeom prst="rect">
            <a:avLst/>
          </a:prstGeom>
          <a:noFill/>
          <a:ln/>
        </p:spPr>
        <p:txBody>
          <a:bodyPr wrap="none" lIns="0" tIns="0" rIns="0" bIns="0" rtlCol="0" anchor="t"/>
          <a:lstStyle/>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p.product_name, i.stock</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inventory i</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products p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p.product_id = i.product_id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WHERE</a:t>
            </a:r>
            <a:r>
              <a:rPr lang="en-US" sz="1000" dirty="0">
                <a:solidFill>
                  <a:srgbClr val="E8EEF9"/>
                </a:solidFill>
                <a:latin typeface="Courier New" pitchFamily="34" charset="0"/>
                <a:ea typeface="Courier New" pitchFamily="34" charset="-122"/>
                <a:cs typeface="Courier New" pitchFamily="34" charset="-120"/>
              </a:rPr>
              <a:t> i.stock &lt; </a:t>
            </a:r>
            <a:r>
              <a:rPr lang="en-US" sz="1000" dirty="0">
                <a:solidFill>
                  <a:srgbClr val="8AB4FF"/>
                </a:solidFill>
                <a:latin typeface="Courier New" pitchFamily="34" charset="0"/>
                <a:ea typeface="Courier New" pitchFamily="34" charset="-122"/>
                <a:cs typeface="Courier New" pitchFamily="34" charset="-120"/>
              </a:rPr>
              <a:t>10</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i.stock, p.product_name;</a:t>
            </a:r>
            <a:endParaRPr lang="en-US" sz="1000" dirty="0"/>
          </a:p>
        </p:txBody>
      </p:sp>
      <p:sp>
        <p:nvSpPr>
          <p:cNvPr id="11" name="code-panel"/>
          <p:cNvSpPr/>
          <p:nvPr/>
        </p:nvSpPr>
        <p:spPr>
          <a:xfrm>
            <a:off x="457200" y="2517343"/>
            <a:ext cx="4937760" cy="1371600"/>
          </a:xfrm>
          <a:prstGeom prst="roundRect">
            <a:avLst>
              <a:gd name="adj" fmla="val 6667"/>
            </a:avLst>
          </a:prstGeom>
          <a:solidFill>
            <a:srgbClr val="111C36"/>
          </a:solidFill>
          <a:ln w="6350">
            <a:solidFill>
              <a:srgbClr val="111C36"/>
            </a:solidFill>
            <a:prstDash val="solid"/>
          </a:ln>
          <a:effectLst>
            <a:outerShdw blurRad="177800" dist="50800" dir="5400000" algn="bl" rotWithShape="0">
              <a:srgbClr val="0F1B33">
                <a:alpha val="25000"/>
              </a:srgbClr>
            </a:outerShdw>
          </a:effectLst>
        </p:spPr>
      </p:sp>
      <p:sp>
        <p:nvSpPr>
          <p:cNvPr id="12" name="code-label"/>
          <p:cNvSpPr txBox="1"/>
          <p:nvPr/>
        </p:nvSpPr>
        <p:spPr>
          <a:xfrm>
            <a:off x="621792" y="2590495"/>
            <a:ext cx="4608576" cy="228600"/>
          </a:xfrm>
          <a:prstGeom prst="rect">
            <a:avLst/>
          </a:prstGeom>
          <a:noFill/>
          <a:ln/>
        </p:spPr>
        <p:txBody>
          <a:bodyPr wrap="square" lIns="0" tIns="0" rIns="0" bIns="0" rtlCol="0" anchor="t"/>
          <a:lstStyle/>
          <a:p>
            <a:pPr marL="0" indent="0">
              <a:buNone/>
            </a:pPr>
            <a:r>
              <a:rPr lang="en-US" sz="1100" b="1" dirty="0">
                <a:solidFill>
                  <a:srgbClr val="FFB454"/>
                </a:solidFill>
              </a:rPr>
              <a:t>Q8 | Products that never appeared in order_items</a:t>
            </a:r>
            <a:endParaRPr lang="en-US" sz="1100" dirty="0"/>
          </a:p>
        </p:txBody>
      </p:sp>
      <p:sp>
        <p:nvSpPr>
          <p:cNvPr id="13" name="sql-code"/>
          <p:cNvSpPr txBox="1"/>
          <p:nvPr/>
        </p:nvSpPr>
        <p:spPr>
          <a:xfrm>
            <a:off x="621792" y="2846527"/>
            <a:ext cx="4663440" cy="950976"/>
          </a:xfrm>
          <a:prstGeom prst="rect">
            <a:avLst/>
          </a:prstGeom>
          <a:noFill/>
          <a:ln/>
        </p:spPr>
        <p:txBody>
          <a:bodyPr wrap="none" lIns="0" tIns="0" rIns="0" bIns="0" rtlCol="0" anchor="t"/>
          <a:lstStyle/>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SELECT</a:t>
            </a:r>
            <a:r>
              <a:rPr lang="en-US" sz="1000" dirty="0">
                <a:solidFill>
                  <a:srgbClr val="E8EEF9"/>
                </a:solidFill>
                <a:latin typeface="Courier New" pitchFamily="34" charset="0"/>
                <a:ea typeface="Courier New" pitchFamily="34" charset="-122"/>
                <a:cs typeface="Courier New" pitchFamily="34" charset="-120"/>
              </a:rPr>
              <a:t> p.product_id, p.product_name, p.price</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FROM</a:t>
            </a:r>
            <a:r>
              <a:rPr lang="en-US" sz="1000" dirty="0">
                <a:solidFill>
                  <a:srgbClr val="E8EEF9"/>
                </a:solidFill>
                <a:latin typeface="Courier New" pitchFamily="34" charset="0"/>
                <a:ea typeface="Courier New" pitchFamily="34" charset="-122"/>
                <a:cs typeface="Courier New" pitchFamily="34" charset="-120"/>
              </a:rPr>
              <a:t> products p</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LEFT</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JOIN</a:t>
            </a:r>
            <a:r>
              <a:rPr lang="en-US" sz="1000" dirty="0">
                <a:solidFill>
                  <a:srgbClr val="E8EEF9"/>
                </a:solidFill>
                <a:latin typeface="Courier New" pitchFamily="34" charset="0"/>
                <a:ea typeface="Courier New" pitchFamily="34" charset="-122"/>
                <a:cs typeface="Courier New" pitchFamily="34" charset="-120"/>
              </a:rPr>
              <a:t> order_items oi</a:t>
            </a:r>
            <a:endParaRPr lang="en-US" sz="1000" dirty="0"/>
          </a:p>
          <a:p>
            <a:pPr marL="0" indent="0">
              <a:lnSpc>
                <a:spcPts val="1200"/>
              </a:lnSpc>
              <a:buNone/>
            </a:pP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ON</a:t>
            </a:r>
            <a:r>
              <a:rPr lang="en-US" sz="1000" dirty="0">
                <a:solidFill>
                  <a:srgbClr val="E8EEF9"/>
                </a:solidFill>
                <a:latin typeface="Courier New" pitchFamily="34" charset="0"/>
                <a:ea typeface="Courier New" pitchFamily="34" charset="-122"/>
                <a:cs typeface="Courier New" pitchFamily="34" charset="-120"/>
              </a:rPr>
              <a:t> oi.product_id = p.product_id</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WHERE</a:t>
            </a:r>
            <a:r>
              <a:rPr lang="en-US" sz="1000" dirty="0">
                <a:solidFill>
                  <a:srgbClr val="E8EEF9"/>
                </a:solidFill>
                <a:latin typeface="Courier New" pitchFamily="34" charset="0"/>
                <a:ea typeface="Courier New" pitchFamily="34" charset="-122"/>
                <a:cs typeface="Courier New" pitchFamily="34" charset="-120"/>
              </a:rPr>
              <a:t> oi.order_item_id </a:t>
            </a:r>
            <a:r>
              <a:rPr lang="en-US" sz="1000" b="1" dirty="0">
                <a:solidFill>
                  <a:srgbClr val="FFA94D"/>
                </a:solidFill>
                <a:latin typeface="Courier New" pitchFamily="34" charset="0"/>
                <a:ea typeface="Courier New" pitchFamily="34" charset="-122"/>
                <a:cs typeface="Courier New" pitchFamily="34" charset="-120"/>
              </a:rPr>
              <a:t>IS</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NULL</a:t>
            </a:r>
            <a:endParaRPr lang="en-US" sz="1000" dirty="0"/>
          </a:p>
          <a:p>
            <a:pPr marL="0" indent="0">
              <a:lnSpc>
                <a:spcPts val="1200"/>
              </a:lnSpc>
              <a:buNone/>
            </a:pPr>
            <a:r>
              <a:rPr lang="en-US" sz="1000" b="1" dirty="0">
                <a:solidFill>
                  <a:srgbClr val="FFA94D"/>
                </a:solidFill>
                <a:latin typeface="Courier New" pitchFamily="34" charset="0"/>
                <a:ea typeface="Courier New" pitchFamily="34" charset="-122"/>
                <a:cs typeface="Courier New" pitchFamily="34" charset="-120"/>
              </a:rPr>
              <a:t>ORDER</a:t>
            </a:r>
            <a:r>
              <a:rPr lang="en-US" sz="1000" dirty="0">
                <a:solidFill>
                  <a:srgbClr val="E8EEF9"/>
                </a:solidFill>
                <a:latin typeface="Courier New" pitchFamily="34" charset="0"/>
                <a:ea typeface="Courier New" pitchFamily="34" charset="-122"/>
                <a:cs typeface="Courier New" pitchFamily="34" charset="-120"/>
              </a:rPr>
              <a:t> </a:t>
            </a:r>
            <a:r>
              <a:rPr lang="en-US" sz="1000" b="1" dirty="0">
                <a:solidFill>
                  <a:srgbClr val="FFA94D"/>
                </a:solidFill>
                <a:latin typeface="Courier New" pitchFamily="34" charset="0"/>
                <a:ea typeface="Courier New" pitchFamily="34" charset="-122"/>
                <a:cs typeface="Courier New" pitchFamily="34" charset="-120"/>
              </a:rPr>
              <a:t>BY</a:t>
            </a:r>
            <a:r>
              <a:rPr lang="en-US" sz="1000" dirty="0">
                <a:solidFill>
                  <a:srgbClr val="E8EEF9"/>
                </a:solidFill>
                <a:latin typeface="Courier New" pitchFamily="34" charset="0"/>
                <a:ea typeface="Courier New" pitchFamily="34" charset="-122"/>
                <a:cs typeface="Courier New" pitchFamily="34" charset="-120"/>
              </a:rPr>
              <a:t> p.price </a:t>
            </a:r>
            <a:r>
              <a:rPr lang="en-US" sz="1000" b="1" dirty="0">
                <a:solidFill>
                  <a:srgbClr val="FFA94D"/>
                </a:solidFill>
                <a:latin typeface="Courier New" pitchFamily="34" charset="0"/>
                <a:ea typeface="Courier New" pitchFamily="34" charset="-122"/>
                <a:cs typeface="Courier New" pitchFamily="34" charset="-120"/>
              </a:rPr>
              <a:t>DESC</a:t>
            </a:r>
            <a:r>
              <a:rPr lang="en-US" sz="1000" dirty="0">
                <a:solidFill>
                  <a:srgbClr val="E8EEF9"/>
                </a:solidFill>
                <a:latin typeface="Courier New" pitchFamily="34" charset="0"/>
                <a:ea typeface="Courier New" pitchFamily="34" charset="-122"/>
                <a:cs typeface="Courier New" pitchFamily="34" charset="-120"/>
              </a:rPr>
              <a:t>;</a:t>
            </a:r>
            <a:endParaRPr lang="en-US" sz="1000" dirty="0"/>
          </a:p>
        </p:txBody>
      </p:sp>
      <p:sp>
        <p:nvSpPr>
          <p:cNvPr id="14" name="insight-card"/>
          <p:cNvSpPr/>
          <p:nvPr/>
        </p:nvSpPr>
        <p:spPr>
          <a:xfrm>
            <a:off x="457200" y="3998671"/>
            <a:ext cx="4937760" cy="2218944"/>
          </a:xfrm>
          <a:prstGeom prst="roundRect">
            <a:avLst>
              <a:gd name="adj" fmla="val 494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5" name="insight-title"/>
          <p:cNvSpPr txBox="1"/>
          <p:nvPr/>
        </p:nvSpPr>
        <p:spPr>
          <a:xfrm>
            <a:off x="640080" y="4090111"/>
            <a:ext cx="4572000" cy="237744"/>
          </a:xfrm>
          <a:prstGeom prst="rect">
            <a:avLst/>
          </a:prstGeom>
          <a:noFill/>
          <a:ln/>
        </p:spPr>
        <p:txBody>
          <a:bodyPr wrap="square" lIns="0" tIns="0" rIns="0" bIns="0" rtlCol="0" anchor="t"/>
          <a:lstStyle/>
          <a:p>
            <a:pPr marL="0" indent="0">
              <a:buNone/>
            </a:pPr>
            <a:r>
              <a:rPr lang="en-US" sz="1300" b="1" dirty="0">
                <a:solidFill>
                  <a:schemeClr val="accent1"/>
                </a:solidFill>
              </a:rPr>
              <a:t>Keep these separate</a:t>
            </a:r>
            <a:endParaRPr lang="en-US" sz="1300" dirty="0"/>
          </a:p>
        </p:txBody>
      </p:sp>
      <p:sp>
        <p:nvSpPr>
          <p:cNvPr id="16" name="insight-list"/>
          <p:cNvSpPr txBox="1"/>
          <p:nvPr/>
        </p:nvSpPr>
        <p:spPr>
          <a:xfrm>
            <a:off x="640080" y="4382719"/>
            <a:ext cx="4572000" cy="1761744"/>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51 low-stock = current stock below 10 units (supply risk)</a:t>
            </a:r>
            <a:endParaRPr lang="en-US" sz="1200" dirty="0"/>
          </a:p>
          <a:p>
            <a:pPr marL="342900" indent="-342900">
              <a:spcAft>
                <a:spcPts val="300"/>
              </a:spcAft>
              <a:buSzPct val="100000"/>
              <a:buChar char="•"/>
            </a:pPr>
            <a:r>
              <a:rPr lang="en-US" sz="1200" dirty="0">
                <a:solidFill>
                  <a:schemeClr val="tx1"/>
                </a:solidFill>
              </a:rPr>
              <a:t>15 never-sold = no row in order_items (demand risk)</a:t>
            </a:r>
            <a:endParaRPr lang="en-US" sz="1200" dirty="0"/>
          </a:p>
          <a:p>
            <a:pPr marL="342900" indent="-342900">
              <a:spcAft>
                <a:spcPts val="300"/>
              </a:spcAft>
              <a:buSzPct val="100000"/>
              <a:buChar char="•"/>
            </a:pPr>
            <a:r>
              <a:rPr lang="en-US" sz="1200" dirty="0">
                <a:solidFill>
                  <a:schemeClr val="tx1"/>
                </a:solidFill>
              </a:rPr>
              <a:t>3 products appear in both lists</a:t>
            </a:r>
            <a:endParaRPr lang="en-US" sz="1200" dirty="0"/>
          </a:p>
          <a:p>
            <a:pPr marL="342900" indent="-342900">
              <a:spcAft>
                <a:spcPts val="300"/>
              </a:spcAft>
              <a:buSzPct val="100000"/>
              <a:buChar char="•"/>
            </a:pPr>
            <a:r>
              <a:rPr lang="en-US" sz="1200" dirty="0">
                <a:solidFill>
                  <a:schemeClr val="tx1"/>
                </a:solidFill>
              </a:rPr>
              <a:t>All 51 low-stock products are in Pet Supplies, Toys &amp; Games or Sports &amp; Outdoors</a:t>
            </a:r>
            <a:endParaRPr lang="en-US" sz="1200" dirty="0"/>
          </a:p>
        </p:txBody>
      </p:sp>
      <p:sp>
        <p:nvSpPr>
          <p:cNvPr id="17" name="ops-card"/>
          <p:cNvSpPr/>
          <p:nvPr/>
        </p:nvSpPr>
        <p:spPr>
          <a:xfrm>
            <a:off x="5669280" y="1188720"/>
            <a:ext cx="2971800" cy="5029200"/>
          </a:xfrm>
          <a:prstGeom prst="roundRect">
            <a:avLst>
              <a:gd name="adj" fmla="val 3692"/>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8" name="ops-big"/>
          <p:cNvSpPr txBox="1"/>
          <p:nvPr/>
        </p:nvSpPr>
        <p:spPr>
          <a:xfrm>
            <a:off x="5852160" y="1280160"/>
            <a:ext cx="1188720" cy="64008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51</a:t>
            </a:r>
            <a:endParaRPr lang="en-US" sz="4000" dirty="0"/>
          </a:p>
        </p:txBody>
      </p:sp>
      <p:sp>
        <p:nvSpPr>
          <p:cNvPr id="19" name="ops-heading"/>
          <p:cNvSpPr txBox="1"/>
          <p:nvPr/>
        </p:nvSpPr>
        <p:spPr>
          <a:xfrm>
            <a:off x="6949440" y="1280160"/>
            <a:ext cx="1600200" cy="640080"/>
          </a:xfrm>
          <a:prstGeom prst="rect">
            <a:avLst/>
          </a:prstGeom>
          <a:noFill/>
          <a:ln/>
        </p:spPr>
        <p:txBody>
          <a:bodyPr wrap="square" lIns="0" tIns="0" rIns="0" bIns="0" rtlCol="0" anchor="ctr"/>
          <a:lstStyle/>
          <a:p>
            <a:pPr marL="0" indent="0">
              <a:buNone/>
            </a:pPr>
            <a:r>
              <a:rPr lang="en-US" sz="1300" b="1" dirty="0">
                <a:solidFill>
                  <a:schemeClr val="tx1"/>
                </a:solidFill>
              </a:rPr>
              <a:t>Low stock</a:t>
            </a:r>
            <a:endParaRPr lang="en-US" sz="1200" dirty="0"/>
          </a:p>
          <a:p>
            <a:pPr marL="0" indent="0">
              <a:buNone/>
            </a:pPr>
            <a:r>
              <a:rPr lang="en-US" sz="1100" dirty="0">
                <a:solidFill>
                  <a:schemeClr val="accent5"/>
                </a:solidFill>
              </a:rPr>
              <a:t>stock &lt; 10, by category</a:t>
            </a:r>
            <a:endParaRPr lang="en-US" sz="1200" dirty="0"/>
          </a:p>
        </p:txBody>
      </p:sp>
      <p:graphicFrame>
        <p:nvGraphicFramePr>
          <p:cNvPr id="20" name="Chart 0"/>
          <p:cNvGraphicFramePr/>
          <p:nvPr/>
        </p:nvGraphicFramePr>
        <p:xfrm>
          <a:off x="5760720" y="2057400"/>
          <a:ext cx="278892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21" name="ops-list-title"/>
          <p:cNvSpPr txBox="1"/>
          <p:nvPr/>
        </p:nvSpPr>
        <p:spPr>
          <a:xfrm>
            <a:off x="5852160" y="3931920"/>
            <a:ext cx="2651760" cy="237744"/>
          </a:xfrm>
          <a:prstGeom prst="rect">
            <a:avLst/>
          </a:prstGeom>
          <a:noFill/>
          <a:ln/>
        </p:spPr>
        <p:txBody>
          <a:bodyPr wrap="square" lIns="0" tIns="0" rIns="0" bIns="0" rtlCol="0" anchor="t"/>
          <a:lstStyle/>
          <a:p>
            <a:pPr marL="0" indent="0">
              <a:buNone/>
            </a:pPr>
            <a:r>
              <a:rPr lang="en-US" sz="1200" b="1" dirty="0">
                <a:solidFill>
                  <a:schemeClr val="accent2"/>
                </a:solidFill>
              </a:rPr>
              <a:t>Lowest stock</a:t>
            </a:r>
            <a:endParaRPr lang="en-US" sz="1200" dirty="0"/>
          </a:p>
        </p:txBody>
      </p:sp>
      <p:sp>
        <p:nvSpPr>
          <p:cNvPr id="22" name="ops-list"/>
          <p:cNvSpPr txBox="1"/>
          <p:nvPr/>
        </p:nvSpPr>
        <p:spPr>
          <a:xfrm>
            <a:off x="5852160" y="4224528"/>
            <a:ext cx="2697480" cy="19202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Archery Set: 1 unit</a:t>
            </a:r>
            <a:endParaRPr lang="en-US" sz="1150" dirty="0"/>
          </a:p>
          <a:p>
            <a:pPr marL="342900" indent="-342900">
              <a:spcAft>
                <a:spcPts val="300"/>
              </a:spcAft>
              <a:buSzPct val="100000"/>
              <a:buChar char="•"/>
            </a:pPr>
            <a:r>
              <a:rPr lang="en-US" sz="1150" dirty="0">
                <a:solidFill>
                  <a:schemeClr val="tx1"/>
                </a:solidFill>
              </a:rPr>
              <a:t>Children’s Puzzle: 1 unit</a:t>
            </a:r>
            <a:endParaRPr lang="en-US" sz="1150" dirty="0"/>
          </a:p>
          <a:p>
            <a:pPr marL="342900" indent="-342900">
              <a:spcAft>
                <a:spcPts val="300"/>
              </a:spcAft>
              <a:buSzPct val="100000"/>
              <a:buChar char="•"/>
            </a:pPr>
            <a:r>
              <a:rPr lang="en-US" sz="1150" dirty="0">
                <a:solidFill>
                  <a:schemeClr val="tx1"/>
                </a:solidFill>
              </a:rPr>
              <a:t>Kid’s Beach Tent: 1 unit</a:t>
            </a:r>
            <a:endParaRPr lang="en-US" sz="1150" dirty="0"/>
          </a:p>
          <a:p>
            <a:pPr marL="342900" indent="-342900">
              <a:spcAft>
                <a:spcPts val="300"/>
              </a:spcAft>
              <a:buSzPct val="100000"/>
              <a:buChar char="•"/>
            </a:pPr>
            <a:r>
              <a:rPr lang="en-US" sz="1150" dirty="0">
                <a:solidFill>
                  <a:schemeClr val="tx1"/>
                </a:solidFill>
              </a:rPr>
              <a:t>Pet GPS Tracker: 1 unit</a:t>
            </a:r>
            <a:endParaRPr lang="en-US" sz="1150" dirty="0"/>
          </a:p>
          <a:p>
            <a:pPr marL="342900" indent="-342900">
              <a:spcAft>
                <a:spcPts val="300"/>
              </a:spcAft>
              <a:buSzPct val="100000"/>
              <a:buChar char="•"/>
            </a:pPr>
            <a:r>
              <a:rPr lang="en-US" sz="1150" dirty="0">
                <a:solidFill>
                  <a:schemeClr val="tx1"/>
                </a:solidFill>
              </a:rPr>
              <a:t>Pet Water Fountain: 1 unit</a:t>
            </a:r>
            <a:endParaRPr lang="en-US" sz="1150" dirty="0"/>
          </a:p>
          <a:p>
            <a:pPr marL="342900" indent="-342900">
              <a:spcAft>
                <a:spcPts val="300"/>
              </a:spcAft>
              <a:buSzPct val="100000"/>
              <a:buChar char="•"/>
            </a:pPr>
            <a:r>
              <a:rPr lang="en-US" sz="1150" dirty="0">
                <a:solidFill>
                  <a:schemeClr val="tx1"/>
                </a:solidFill>
              </a:rPr>
              <a:t>7 products are at 1 unit</a:t>
            </a:r>
            <a:endParaRPr lang="en-US" sz="1150" dirty="0"/>
          </a:p>
        </p:txBody>
      </p:sp>
      <p:sp>
        <p:nvSpPr>
          <p:cNvPr id="23" name="ops-card"/>
          <p:cNvSpPr/>
          <p:nvPr/>
        </p:nvSpPr>
        <p:spPr>
          <a:xfrm>
            <a:off x="8759952" y="1188720"/>
            <a:ext cx="2971800" cy="5029200"/>
          </a:xfrm>
          <a:prstGeom prst="roundRect">
            <a:avLst>
              <a:gd name="adj" fmla="val 3692"/>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4" name="ops-big"/>
          <p:cNvSpPr txBox="1"/>
          <p:nvPr/>
        </p:nvSpPr>
        <p:spPr>
          <a:xfrm>
            <a:off x="8942832" y="1280160"/>
            <a:ext cx="1188720" cy="640080"/>
          </a:xfrm>
          <a:prstGeom prst="rect">
            <a:avLst/>
          </a:prstGeom>
          <a:noFill/>
          <a:ln/>
        </p:spPr>
        <p:txBody>
          <a:bodyPr wrap="square" lIns="0" tIns="0" rIns="0" bIns="0" rtlCol="0" anchor="ctr"/>
          <a:lstStyle/>
          <a:p>
            <a:pPr marL="0" indent="0">
              <a:buNone/>
            </a:pPr>
            <a:r>
              <a:rPr lang="en-US" sz="4000" b="1" dirty="0">
                <a:solidFill>
                  <a:schemeClr val="accent3"/>
                </a:solidFill>
                <a:latin typeface="Cambria" pitchFamily="34" charset="0"/>
                <a:ea typeface="Cambria" pitchFamily="34" charset="-122"/>
                <a:cs typeface="Cambria" pitchFamily="34" charset="-120"/>
              </a:rPr>
              <a:t>15</a:t>
            </a:r>
            <a:endParaRPr lang="en-US" sz="4000" dirty="0"/>
          </a:p>
        </p:txBody>
      </p:sp>
      <p:sp>
        <p:nvSpPr>
          <p:cNvPr id="25" name="ops-heading"/>
          <p:cNvSpPr txBox="1"/>
          <p:nvPr/>
        </p:nvSpPr>
        <p:spPr>
          <a:xfrm>
            <a:off x="10040112" y="1280160"/>
            <a:ext cx="1600200" cy="640080"/>
          </a:xfrm>
          <a:prstGeom prst="rect">
            <a:avLst/>
          </a:prstGeom>
          <a:noFill/>
          <a:ln/>
        </p:spPr>
        <p:txBody>
          <a:bodyPr wrap="square" lIns="0" tIns="0" rIns="0" bIns="0" rtlCol="0" anchor="ctr"/>
          <a:lstStyle/>
          <a:p>
            <a:pPr marL="0" indent="0">
              <a:buNone/>
            </a:pPr>
            <a:r>
              <a:rPr lang="en-US" sz="1300" b="1" dirty="0">
                <a:solidFill>
                  <a:schemeClr val="tx1"/>
                </a:solidFill>
              </a:rPr>
              <a:t>Never sold</a:t>
            </a:r>
            <a:endParaRPr lang="en-US" sz="1200" dirty="0"/>
          </a:p>
          <a:p>
            <a:pPr marL="0" indent="0">
              <a:buNone/>
            </a:pPr>
            <a:r>
              <a:rPr lang="en-US" sz="1100" dirty="0">
                <a:solidFill>
                  <a:schemeClr val="accent5"/>
                </a:solidFill>
              </a:rPr>
              <a:t>no order_items row</a:t>
            </a:r>
            <a:endParaRPr lang="en-US" sz="1200" dirty="0"/>
          </a:p>
        </p:txBody>
      </p:sp>
      <p:graphicFrame>
        <p:nvGraphicFramePr>
          <p:cNvPr id="26" name="Chart 1"/>
          <p:cNvGraphicFramePr/>
          <p:nvPr/>
        </p:nvGraphicFramePr>
        <p:xfrm>
          <a:off x="8851392" y="2057400"/>
          <a:ext cx="2788920" cy="1737360"/>
        </p:xfrm>
        <a:graphic>
          <a:graphicData uri="http://schemas.openxmlformats.org/drawingml/2006/chart">
            <c:chart xmlns:c="http://schemas.openxmlformats.org/drawingml/2006/chart" xmlns:r="http://schemas.openxmlformats.org/officeDocument/2006/relationships" r:id="rId4"/>
          </a:graphicData>
        </a:graphic>
      </p:graphicFrame>
      <p:sp>
        <p:nvSpPr>
          <p:cNvPr id="27" name="ops-list-title"/>
          <p:cNvSpPr txBox="1"/>
          <p:nvPr/>
        </p:nvSpPr>
        <p:spPr>
          <a:xfrm>
            <a:off x="8942832" y="3931920"/>
            <a:ext cx="2651760" cy="237744"/>
          </a:xfrm>
          <a:prstGeom prst="rect">
            <a:avLst/>
          </a:prstGeom>
          <a:noFill/>
          <a:ln/>
        </p:spPr>
        <p:txBody>
          <a:bodyPr wrap="square" lIns="0" tIns="0" rIns="0" bIns="0" rtlCol="0" anchor="t"/>
          <a:lstStyle/>
          <a:p>
            <a:pPr marL="0" indent="0">
              <a:buNone/>
            </a:pPr>
            <a:r>
              <a:rPr lang="en-US" sz="1200" b="1" dirty="0">
                <a:solidFill>
                  <a:schemeClr val="accent2"/>
                </a:solidFill>
              </a:rPr>
              <a:t>Highest-priced unsold</a:t>
            </a:r>
            <a:endParaRPr lang="en-US" sz="1200" dirty="0"/>
          </a:p>
        </p:txBody>
      </p:sp>
      <p:sp>
        <p:nvSpPr>
          <p:cNvPr id="28" name="ops-list"/>
          <p:cNvSpPr txBox="1"/>
          <p:nvPr/>
        </p:nvSpPr>
        <p:spPr>
          <a:xfrm>
            <a:off x="8942832" y="4224528"/>
            <a:ext cx="2697480" cy="19202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Golf Cart: $249.99</a:t>
            </a:r>
            <a:endParaRPr lang="en-US" sz="1150" dirty="0"/>
          </a:p>
          <a:p>
            <a:pPr marL="342900" indent="-342900">
              <a:spcAft>
                <a:spcPts val="300"/>
              </a:spcAft>
              <a:buSzPct val="100000"/>
              <a:buChar char="•"/>
            </a:pPr>
            <a:r>
              <a:rPr lang="en-US" sz="1150" dirty="0">
                <a:solidFill>
                  <a:schemeClr val="tx1"/>
                </a:solidFill>
              </a:rPr>
              <a:t>Inflatable Obstacle Course: $149.99</a:t>
            </a:r>
            <a:endParaRPr lang="en-US" sz="1150" dirty="0"/>
          </a:p>
          <a:p>
            <a:pPr marL="342900" indent="-342900">
              <a:spcAft>
                <a:spcPts val="300"/>
              </a:spcAft>
              <a:buSzPct val="100000"/>
              <a:buChar char="•"/>
            </a:pPr>
            <a:r>
              <a:rPr lang="en-US" sz="1150" dirty="0">
                <a:solidFill>
                  <a:schemeClr val="tx1"/>
                </a:solidFill>
              </a:rPr>
              <a:t>Lightweight Camping Tent: $79.99</a:t>
            </a:r>
            <a:endParaRPr lang="en-US" sz="1150" dirty="0"/>
          </a:p>
          <a:p>
            <a:pPr marL="342900" indent="-342900">
              <a:spcAft>
                <a:spcPts val="300"/>
              </a:spcAft>
              <a:buSzPct val="100000"/>
              <a:buChar char="•"/>
            </a:pPr>
            <a:r>
              <a:rPr lang="en-US" sz="1150" dirty="0">
                <a:solidFill>
                  <a:schemeClr val="tx1"/>
                </a:solidFill>
              </a:rPr>
              <a:t>Baseball Batting Tee: $59.99</a:t>
            </a:r>
            <a:endParaRPr lang="en-US" sz="1150" dirty="0"/>
          </a:p>
          <a:p>
            <a:pPr marL="342900" indent="-342900">
              <a:spcAft>
                <a:spcPts val="300"/>
              </a:spcAft>
              <a:buSzPct val="100000"/>
              <a:buChar char="•"/>
            </a:pPr>
            <a:r>
              <a:rPr lang="en-US" sz="1150" dirty="0">
                <a:solidFill>
                  <a:schemeClr val="tx1"/>
                </a:solidFill>
              </a:rPr>
              <a:t>Remote-Controlled Car Set: $54.99</a:t>
            </a:r>
            <a:endParaRPr lang="en-US" sz="1150" dirty="0"/>
          </a:p>
        </p:txBody>
      </p:sp>
      <p:sp>
        <p:nvSpPr>
          <p:cNvPr id="29"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Top 5 insights from the data</a:t>
            </a:r>
            <a:endParaRPr lang="en-US" sz="2800" dirty="0"/>
          </a:p>
        </p:txBody>
      </p:sp>
      <p:sp>
        <p:nvSpPr>
          <p:cNvPr id="3" name="insight-row"/>
          <p:cNvSpPr/>
          <p:nvPr/>
        </p:nvSpPr>
        <p:spPr>
          <a:xfrm>
            <a:off x="457200" y="1188720"/>
            <a:ext cx="11274552" cy="914400"/>
          </a:xfrm>
          <a:prstGeom prst="roundRect">
            <a:avLst>
              <a:gd name="adj" fmla="val 12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4" name="insight-number-bg"/>
          <p:cNvSpPr/>
          <p:nvPr/>
        </p:nvSpPr>
        <p:spPr>
          <a:xfrm>
            <a:off x="685800" y="1417320"/>
            <a:ext cx="457200" cy="457200"/>
          </a:xfrm>
          <a:prstGeom prst="ellipse">
            <a:avLst/>
          </a:prstGeom>
          <a:solidFill>
            <a:schemeClr val="accent1"/>
          </a:solidFill>
          <a:ln w="6350">
            <a:solidFill>
              <a:schemeClr val="accent1"/>
            </a:solidFill>
            <a:prstDash val="solid"/>
          </a:ln>
        </p:spPr>
      </p:sp>
      <p:sp>
        <p:nvSpPr>
          <p:cNvPr id="5" name="insight-number"/>
          <p:cNvSpPr txBox="1"/>
          <p:nvPr/>
        </p:nvSpPr>
        <p:spPr>
          <a:xfrm>
            <a:off x="68580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insight-metric"/>
          <p:cNvSpPr txBox="1"/>
          <p:nvPr/>
        </p:nvSpPr>
        <p:spPr>
          <a:xfrm>
            <a:off x="1371600" y="1316736"/>
            <a:ext cx="2103120" cy="64008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89.63%</a:t>
            </a:r>
            <a:endParaRPr lang="en-US" sz="3000" dirty="0"/>
          </a:p>
        </p:txBody>
      </p:sp>
      <p:sp>
        <p:nvSpPr>
          <p:cNvPr id="7" name="insight-headline"/>
          <p:cNvSpPr txBox="1"/>
          <p:nvPr/>
        </p:nvSpPr>
        <p:spPr>
          <a:xfrm>
            <a:off x="3657600" y="1298448"/>
            <a:ext cx="6583680" cy="292608"/>
          </a:xfrm>
          <a:prstGeom prst="rect">
            <a:avLst/>
          </a:prstGeom>
          <a:noFill/>
          <a:ln/>
        </p:spPr>
        <p:txBody>
          <a:bodyPr wrap="square" lIns="0" tIns="0" rIns="0" bIns="0" rtlCol="0" anchor="ctr"/>
          <a:lstStyle/>
          <a:p>
            <a:pPr marL="0" indent="0">
              <a:buNone/>
            </a:pPr>
            <a:r>
              <a:rPr lang="en-US" sz="1600" b="1" dirty="0">
                <a:solidFill>
                  <a:schemeClr val="tx1"/>
                </a:solidFill>
              </a:rPr>
              <a:t>Electronics is the revenue engine</a:t>
            </a:r>
            <a:endParaRPr lang="en-US" sz="1600" dirty="0"/>
          </a:p>
        </p:txBody>
      </p:sp>
      <p:sp>
        <p:nvSpPr>
          <p:cNvPr id="8" name="insight-text"/>
          <p:cNvSpPr txBox="1"/>
          <p:nvPr/>
        </p:nvSpPr>
        <p:spPr>
          <a:xfrm>
            <a:off x="3657600" y="1609344"/>
            <a:ext cx="6583680" cy="420624"/>
          </a:xfrm>
          <a:prstGeom prst="rect">
            <a:avLst/>
          </a:prstGeom>
          <a:noFill/>
          <a:ln/>
        </p:spPr>
        <p:txBody>
          <a:bodyPr wrap="square" lIns="0" tIns="0" rIns="0" bIns="0" rtlCol="0" anchor="t"/>
          <a:lstStyle/>
          <a:p>
            <a:pPr marL="0" indent="0">
              <a:buNone/>
            </a:pPr>
            <a:r>
              <a:rPr lang="en-US" sz="1200" dirty="0">
                <a:solidFill>
                  <a:schemeClr val="accent5"/>
                </a:solidFill>
              </a:rPr>
              <a:t>$9.31M of $10.38M completed revenue. No other category is above 4%.</a:t>
            </a:r>
            <a:endParaRPr lang="en-US" sz="1200" dirty="0"/>
          </a:p>
        </p:txBody>
      </p:sp>
      <p:sp>
        <p:nvSpPr>
          <p:cNvPr id="9" name="insight-source"/>
          <p:cNvSpPr txBox="1"/>
          <p:nvPr/>
        </p:nvSpPr>
        <p:spPr>
          <a:xfrm>
            <a:off x="10332720" y="1316736"/>
            <a:ext cx="1188720" cy="640080"/>
          </a:xfrm>
          <a:prstGeom prst="rect">
            <a:avLst/>
          </a:prstGeom>
          <a:noFill/>
          <a:ln/>
        </p:spPr>
        <p:txBody>
          <a:bodyPr wrap="square" lIns="0" tIns="0" rIns="0" bIns="0" rtlCol="0" anchor="ctr"/>
          <a:lstStyle/>
          <a:p>
            <a:pPr marL="0" indent="0" algn="r">
              <a:buNone/>
            </a:pPr>
            <a:r>
              <a:rPr lang="en-US" sz="1100" dirty="0">
                <a:solidFill>
                  <a:schemeClr val="accent5"/>
                </a:solidFill>
              </a:rPr>
              <a:t>Source: Q1</a:t>
            </a:r>
            <a:endParaRPr lang="en-US" sz="1100" dirty="0"/>
          </a:p>
        </p:txBody>
      </p:sp>
      <p:sp>
        <p:nvSpPr>
          <p:cNvPr id="10" name="insight-row"/>
          <p:cNvSpPr/>
          <p:nvPr/>
        </p:nvSpPr>
        <p:spPr>
          <a:xfrm>
            <a:off x="457200" y="2212848"/>
            <a:ext cx="11274552" cy="914400"/>
          </a:xfrm>
          <a:prstGeom prst="roundRect">
            <a:avLst>
              <a:gd name="adj" fmla="val 12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1" name="insight-number-bg"/>
          <p:cNvSpPr/>
          <p:nvPr/>
        </p:nvSpPr>
        <p:spPr>
          <a:xfrm>
            <a:off x="685800" y="2441448"/>
            <a:ext cx="457200" cy="457200"/>
          </a:xfrm>
          <a:prstGeom prst="ellipse">
            <a:avLst/>
          </a:prstGeom>
          <a:solidFill>
            <a:schemeClr val="accent2"/>
          </a:solidFill>
          <a:ln w="6350">
            <a:solidFill>
              <a:schemeClr val="accent2"/>
            </a:solidFill>
            <a:prstDash val="solid"/>
          </a:ln>
        </p:spPr>
      </p:sp>
      <p:sp>
        <p:nvSpPr>
          <p:cNvPr id="12" name="insight-number"/>
          <p:cNvSpPr txBox="1"/>
          <p:nvPr/>
        </p:nvSpPr>
        <p:spPr>
          <a:xfrm>
            <a:off x="685800" y="24414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insight-metric"/>
          <p:cNvSpPr txBox="1"/>
          <p:nvPr/>
        </p:nvSpPr>
        <p:spPr>
          <a:xfrm>
            <a:off x="1371600" y="2340864"/>
            <a:ext cx="2103120" cy="64008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90.2%</a:t>
            </a:r>
            <a:endParaRPr lang="en-US" sz="3000" dirty="0"/>
          </a:p>
        </p:txBody>
      </p:sp>
      <p:sp>
        <p:nvSpPr>
          <p:cNvPr id="14" name="insight-headline"/>
          <p:cNvSpPr txBox="1"/>
          <p:nvPr/>
        </p:nvSpPr>
        <p:spPr>
          <a:xfrm>
            <a:off x="3657600" y="2322576"/>
            <a:ext cx="6583680" cy="292608"/>
          </a:xfrm>
          <a:prstGeom prst="rect">
            <a:avLst/>
          </a:prstGeom>
          <a:noFill/>
          <a:ln/>
        </p:spPr>
        <p:txBody>
          <a:bodyPr wrap="square" lIns="0" tIns="0" rIns="0" bIns="0" rtlCol="0" anchor="ctr"/>
          <a:lstStyle/>
          <a:p>
            <a:pPr marL="0" indent="0">
              <a:buNone/>
            </a:pPr>
            <a:r>
              <a:rPr lang="en-US" sz="1600" b="1" dirty="0">
                <a:solidFill>
                  <a:schemeClr val="tx1"/>
                </a:solidFill>
              </a:rPr>
              <a:t>Two states carry the business</a:t>
            </a:r>
            <a:endParaRPr lang="en-US" sz="1600" dirty="0"/>
          </a:p>
        </p:txBody>
      </p:sp>
      <p:sp>
        <p:nvSpPr>
          <p:cNvPr id="15" name="insight-text"/>
          <p:cNvSpPr txBox="1"/>
          <p:nvPr/>
        </p:nvSpPr>
        <p:spPr>
          <a:xfrm>
            <a:off x="3657600" y="2633472"/>
            <a:ext cx="6583680" cy="420624"/>
          </a:xfrm>
          <a:prstGeom prst="rect">
            <a:avLst/>
          </a:prstGeom>
          <a:noFill/>
          <a:ln/>
        </p:spPr>
        <p:txBody>
          <a:bodyPr wrap="square" lIns="0" tIns="0" rIns="0" bIns="0" rtlCol="0" anchor="t"/>
          <a:lstStyle/>
          <a:p>
            <a:pPr marL="0" indent="0">
              <a:buNone/>
            </a:pPr>
            <a:r>
              <a:rPr lang="en-US" sz="1200" dirty="0">
                <a:solidFill>
                  <a:schemeClr val="accent5"/>
                </a:solidFill>
              </a:rPr>
              <a:t>Ohio (63.2%) and Texas (26.9%) generate nearly all revenue. The other 29 states add only $355K.</a:t>
            </a:r>
            <a:endParaRPr lang="en-US" sz="1200" dirty="0"/>
          </a:p>
        </p:txBody>
      </p:sp>
      <p:sp>
        <p:nvSpPr>
          <p:cNvPr id="16" name="insight-source"/>
          <p:cNvSpPr txBox="1"/>
          <p:nvPr/>
        </p:nvSpPr>
        <p:spPr>
          <a:xfrm>
            <a:off x="10332720" y="2340864"/>
            <a:ext cx="1188720" cy="640080"/>
          </a:xfrm>
          <a:prstGeom prst="rect">
            <a:avLst/>
          </a:prstGeom>
          <a:noFill/>
          <a:ln/>
        </p:spPr>
        <p:txBody>
          <a:bodyPr wrap="square" lIns="0" tIns="0" rIns="0" bIns="0" rtlCol="0" anchor="ctr"/>
          <a:lstStyle/>
          <a:p>
            <a:pPr marL="0" indent="0" algn="r">
              <a:buNone/>
            </a:pPr>
            <a:r>
              <a:rPr lang="en-US" sz="1100" dirty="0">
                <a:solidFill>
                  <a:schemeClr val="accent5"/>
                </a:solidFill>
              </a:rPr>
              <a:t>Source: Q3</a:t>
            </a:r>
            <a:endParaRPr lang="en-US" sz="1100" dirty="0"/>
          </a:p>
        </p:txBody>
      </p:sp>
      <p:sp>
        <p:nvSpPr>
          <p:cNvPr id="17" name="insight-row"/>
          <p:cNvSpPr/>
          <p:nvPr/>
        </p:nvSpPr>
        <p:spPr>
          <a:xfrm>
            <a:off x="457200" y="3236976"/>
            <a:ext cx="11274552" cy="914400"/>
          </a:xfrm>
          <a:prstGeom prst="roundRect">
            <a:avLst>
              <a:gd name="adj" fmla="val 12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8" name="insight-number-bg"/>
          <p:cNvSpPr/>
          <p:nvPr/>
        </p:nvSpPr>
        <p:spPr>
          <a:xfrm>
            <a:off x="685800" y="3465576"/>
            <a:ext cx="457200" cy="457200"/>
          </a:xfrm>
          <a:prstGeom prst="ellipse">
            <a:avLst/>
          </a:prstGeom>
          <a:solidFill>
            <a:schemeClr val="accent4"/>
          </a:solidFill>
          <a:ln w="6350">
            <a:solidFill>
              <a:schemeClr val="accent4"/>
            </a:solidFill>
            <a:prstDash val="solid"/>
          </a:ln>
        </p:spPr>
      </p:sp>
      <p:sp>
        <p:nvSpPr>
          <p:cNvPr id="19" name="insight-number"/>
          <p:cNvSpPr txBox="1"/>
          <p:nvPr/>
        </p:nvSpPr>
        <p:spPr>
          <a:xfrm>
            <a:off x="685800" y="3465576"/>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0" name="insight-metric"/>
          <p:cNvSpPr txBox="1"/>
          <p:nvPr/>
        </p:nvSpPr>
        <p:spPr>
          <a:xfrm>
            <a:off x="1371600" y="3364992"/>
            <a:ext cx="2103120" cy="640080"/>
          </a:xfrm>
          <a:prstGeom prst="rect">
            <a:avLst/>
          </a:prstGeom>
          <a:noFill/>
          <a:ln/>
        </p:spPr>
        <p:txBody>
          <a:bodyPr wrap="square" lIns="0" tIns="0" rIns="0" bIns="0" rtlCol="0" anchor="ctr"/>
          <a:lstStyle/>
          <a:p>
            <a:pPr marL="0" indent="0">
              <a:buNone/>
            </a:pPr>
            <a:r>
              <a:rPr lang="en-US" sz="3000" b="1" dirty="0">
                <a:solidFill>
                  <a:schemeClr val="accent4"/>
                </a:solidFill>
                <a:latin typeface="Cambria" pitchFamily="34" charset="0"/>
                <a:ea typeface="Cambria" pitchFamily="34" charset="-122"/>
                <a:cs typeface="Cambria" pitchFamily="34" charset="-120"/>
              </a:rPr>
              <a:t>12.79%</a:t>
            </a:r>
            <a:endParaRPr lang="en-US" sz="3000" dirty="0"/>
          </a:p>
        </p:txBody>
      </p:sp>
      <p:sp>
        <p:nvSpPr>
          <p:cNvPr id="21" name="insight-headline"/>
          <p:cNvSpPr txBox="1"/>
          <p:nvPr/>
        </p:nvSpPr>
        <p:spPr>
          <a:xfrm>
            <a:off x="3657600" y="3346704"/>
            <a:ext cx="6583680" cy="292608"/>
          </a:xfrm>
          <a:prstGeom prst="rect">
            <a:avLst/>
          </a:prstGeom>
          <a:noFill/>
          <a:ln/>
        </p:spPr>
        <p:txBody>
          <a:bodyPr wrap="square" lIns="0" tIns="0" rIns="0" bIns="0" rtlCol="0" anchor="ctr"/>
          <a:lstStyle/>
          <a:p>
            <a:pPr marL="0" indent="0">
              <a:buNone/>
            </a:pPr>
            <a:r>
              <a:rPr lang="en-US" sz="1600" b="1" dirty="0">
                <a:solidFill>
                  <a:schemeClr val="tx1"/>
                </a:solidFill>
              </a:rPr>
              <a:t>One in eight units comes back</a:t>
            </a:r>
            <a:endParaRPr lang="en-US" sz="1600" dirty="0"/>
          </a:p>
        </p:txBody>
      </p:sp>
      <p:sp>
        <p:nvSpPr>
          <p:cNvPr id="22" name="insight-text"/>
          <p:cNvSpPr txBox="1"/>
          <p:nvPr/>
        </p:nvSpPr>
        <p:spPr>
          <a:xfrm>
            <a:off x="3657600" y="3657600"/>
            <a:ext cx="6583680" cy="420624"/>
          </a:xfrm>
          <a:prstGeom prst="rect">
            <a:avLst/>
          </a:prstGeom>
          <a:noFill/>
          <a:ln/>
        </p:spPr>
        <p:txBody>
          <a:bodyPr wrap="square" lIns="0" tIns="0" rIns="0" bIns="0" rtlCol="0" anchor="t"/>
          <a:lstStyle/>
          <a:p>
            <a:pPr marL="0" indent="0">
              <a:buNone/>
            </a:pPr>
            <a:r>
              <a:rPr lang="en-US" sz="1200" dirty="0">
                <a:solidFill>
                  <a:schemeClr val="accent5"/>
                </a:solidFill>
              </a:rPr>
              <a:t>12 products with 50+ units have return rates above 20%. Refunded payments match returned orders exactly (2,840).</a:t>
            </a:r>
            <a:endParaRPr lang="en-US" sz="1200" dirty="0"/>
          </a:p>
        </p:txBody>
      </p:sp>
      <p:sp>
        <p:nvSpPr>
          <p:cNvPr id="23" name="insight-source"/>
          <p:cNvSpPr txBox="1"/>
          <p:nvPr/>
        </p:nvSpPr>
        <p:spPr>
          <a:xfrm>
            <a:off x="10332720" y="3364992"/>
            <a:ext cx="1188720" cy="640080"/>
          </a:xfrm>
          <a:prstGeom prst="rect">
            <a:avLst/>
          </a:prstGeom>
          <a:noFill/>
          <a:ln/>
        </p:spPr>
        <p:txBody>
          <a:bodyPr wrap="square" lIns="0" tIns="0" rIns="0" bIns="0" rtlCol="0" anchor="ctr"/>
          <a:lstStyle/>
          <a:p>
            <a:pPr marL="0" indent="0" algn="r">
              <a:buNone/>
            </a:pPr>
            <a:r>
              <a:rPr lang="en-US" sz="1100" dirty="0">
                <a:solidFill>
                  <a:schemeClr val="accent5"/>
                </a:solidFill>
              </a:rPr>
              <a:t>Source: Q4, Q5</a:t>
            </a:r>
            <a:endParaRPr lang="en-US" sz="1100" dirty="0"/>
          </a:p>
        </p:txBody>
      </p:sp>
      <p:sp>
        <p:nvSpPr>
          <p:cNvPr id="24" name="insight-row"/>
          <p:cNvSpPr/>
          <p:nvPr/>
        </p:nvSpPr>
        <p:spPr>
          <a:xfrm>
            <a:off x="457200" y="4261104"/>
            <a:ext cx="11274552" cy="914400"/>
          </a:xfrm>
          <a:prstGeom prst="roundRect">
            <a:avLst>
              <a:gd name="adj" fmla="val 12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5" name="insight-number-bg"/>
          <p:cNvSpPr/>
          <p:nvPr/>
        </p:nvSpPr>
        <p:spPr>
          <a:xfrm>
            <a:off x="685800" y="4489704"/>
            <a:ext cx="457200" cy="457200"/>
          </a:xfrm>
          <a:prstGeom prst="ellipse">
            <a:avLst/>
          </a:prstGeom>
          <a:solidFill>
            <a:schemeClr val="accent3"/>
          </a:solidFill>
          <a:ln w="6350">
            <a:solidFill>
              <a:schemeClr val="accent3"/>
            </a:solidFill>
            <a:prstDash val="solid"/>
          </a:ln>
        </p:spPr>
      </p:sp>
      <p:sp>
        <p:nvSpPr>
          <p:cNvPr id="26" name="insight-number"/>
          <p:cNvSpPr txBox="1"/>
          <p:nvPr/>
        </p:nvSpPr>
        <p:spPr>
          <a:xfrm>
            <a:off x="685800" y="448970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7" name="insight-metric"/>
          <p:cNvSpPr txBox="1"/>
          <p:nvPr/>
        </p:nvSpPr>
        <p:spPr>
          <a:xfrm>
            <a:off x="1371600" y="4389120"/>
            <a:ext cx="2103120" cy="640080"/>
          </a:xfrm>
          <a:prstGeom prst="rect">
            <a:avLst/>
          </a:prstGeom>
          <a:noFill/>
          <a:ln/>
        </p:spPr>
        <p:txBody>
          <a:bodyPr wrap="square" lIns="0" tIns="0" rIns="0" bIns="0"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212</a:t>
            </a:r>
            <a:endParaRPr lang="en-US" sz="3000" dirty="0"/>
          </a:p>
        </p:txBody>
      </p:sp>
      <p:sp>
        <p:nvSpPr>
          <p:cNvPr id="28" name="insight-headline"/>
          <p:cNvSpPr txBox="1"/>
          <p:nvPr/>
        </p:nvSpPr>
        <p:spPr>
          <a:xfrm>
            <a:off x="3657600" y="4370832"/>
            <a:ext cx="6583680" cy="292608"/>
          </a:xfrm>
          <a:prstGeom prst="rect">
            <a:avLst/>
          </a:prstGeom>
          <a:noFill/>
          <a:ln/>
        </p:spPr>
        <p:txBody>
          <a:bodyPr wrap="square" lIns="0" tIns="0" rIns="0" bIns="0" rtlCol="0" anchor="ctr"/>
          <a:lstStyle/>
          <a:p>
            <a:pPr marL="0" indent="0">
              <a:buNone/>
            </a:pPr>
            <a:r>
              <a:rPr lang="en-US" sz="1600" b="1" dirty="0">
                <a:solidFill>
                  <a:schemeClr val="tx1"/>
                </a:solidFill>
              </a:rPr>
              <a:t>Almost a quarter of customers never buy</a:t>
            </a:r>
            <a:endParaRPr lang="en-US" sz="1600" dirty="0"/>
          </a:p>
        </p:txBody>
      </p:sp>
      <p:sp>
        <p:nvSpPr>
          <p:cNvPr id="29" name="insight-text"/>
          <p:cNvSpPr txBox="1"/>
          <p:nvPr/>
        </p:nvSpPr>
        <p:spPr>
          <a:xfrm>
            <a:off x="3657600" y="4681728"/>
            <a:ext cx="6583680" cy="420624"/>
          </a:xfrm>
          <a:prstGeom prst="rect">
            <a:avLst/>
          </a:prstGeom>
          <a:noFill/>
          <a:ln/>
        </p:spPr>
        <p:txBody>
          <a:bodyPr wrap="square" lIns="0" tIns="0" rIns="0" bIns="0" rtlCol="0" anchor="t"/>
          <a:lstStyle/>
          <a:p>
            <a:pPr marL="0" indent="0">
              <a:buNone/>
            </a:pPr>
            <a:r>
              <a:rPr lang="en-US" sz="1200" dirty="0">
                <a:solidFill>
                  <a:schemeClr val="accent5"/>
                </a:solidFill>
              </a:rPr>
              <a:t>23.6% of 898 customers have never placed an order, and 118 of them are in Texas.</a:t>
            </a:r>
            <a:endParaRPr lang="en-US" sz="1200" dirty="0"/>
          </a:p>
        </p:txBody>
      </p:sp>
      <p:sp>
        <p:nvSpPr>
          <p:cNvPr id="30" name="insight-source"/>
          <p:cNvSpPr txBox="1"/>
          <p:nvPr/>
        </p:nvSpPr>
        <p:spPr>
          <a:xfrm>
            <a:off x="10332720" y="4389120"/>
            <a:ext cx="1188720" cy="640080"/>
          </a:xfrm>
          <a:prstGeom prst="rect">
            <a:avLst/>
          </a:prstGeom>
          <a:noFill/>
          <a:ln/>
        </p:spPr>
        <p:txBody>
          <a:bodyPr wrap="square" lIns="0" tIns="0" rIns="0" bIns="0" rtlCol="0" anchor="ctr"/>
          <a:lstStyle/>
          <a:p>
            <a:pPr marL="0" indent="0" algn="r">
              <a:buNone/>
            </a:pPr>
            <a:r>
              <a:rPr lang="en-US" sz="1100" dirty="0">
                <a:solidFill>
                  <a:schemeClr val="accent5"/>
                </a:solidFill>
              </a:rPr>
              <a:t>Source: Q6</a:t>
            </a:r>
            <a:endParaRPr lang="en-US" sz="1100" dirty="0"/>
          </a:p>
        </p:txBody>
      </p:sp>
      <p:sp>
        <p:nvSpPr>
          <p:cNvPr id="31" name="insight-row"/>
          <p:cNvSpPr/>
          <p:nvPr/>
        </p:nvSpPr>
        <p:spPr>
          <a:xfrm>
            <a:off x="457200" y="5285232"/>
            <a:ext cx="11274552" cy="914400"/>
          </a:xfrm>
          <a:prstGeom prst="roundRect">
            <a:avLst>
              <a:gd name="adj" fmla="val 12000"/>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2" name="insight-number-bg"/>
          <p:cNvSpPr/>
          <p:nvPr/>
        </p:nvSpPr>
        <p:spPr>
          <a:xfrm>
            <a:off x="685800" y="5513832"/>
            <a:ext cx="457200" cy="457200"/>
          </a:xfrm>
          <a:prstGeom prst="ellipse">
            <a:avLst/>
          </a:prstGeom>
          <a:solidFill>
            <a:schemeClr val="accent5"/>
          </a:solidFill>
          <a:ln w="6350">
            <a:solidFill>
              <a:schemeClr val="accent5"/>
            </a:solidFill>
            <a:prstDash val="solid"/>
          </a:ln>
        </p:spPr>
      </p:sp>
      <p:sp>
        <p:nvSpPr>
          <p:cNvPr id="33" name="insight-number"/>
          <p:cNvSpPr txBox="1"/>
          <p:nvPr/>
        </p:nvSpPr>
        <p:spPr>
          <a:xfrm>
            <a:off x="685800" y="551383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4" name="insight-metric"/>
          <p:cNvSpPr txBox="1"/>
          <p:nvPr/>
        </p:nvSpPr>
        <p:spPr>
          <a:xfrm>
            <a:off x="1371600" y="5413248"/>
            <a:ext cx="2103120" cy="640080"/>
          </a:xfrm>
          <a:prstGeom prst="rect">
            <a:avLst/>
          </a:prstGeom>
          <a:noFill/>
          <a:ln/>
        </p:spPr>
        <p:txBody>
          <a:bodyPr wrap="square" lIns="0" tIns="0" rIns="0" bIns="0" rtlCol="0" anchor="ctr"/>
          <a:lstStyle/>
          <a:p>
            <a:pPr marL="0" indent="0">
              <a:buNone/>
            </a:pPr>
            <a:r>
              <a:rPr lang="en-US" sz="3000" b="1" dirty="0">
                <a:solidFill>
                  <a:schemeClr val="accent5"/>
                </a:solidFill>
                <a:latin typeface="Cambria" pitchFamily="34" charset="0"/>
                <a:ea typeface="Cambria" pitchFamily="34" charset="-122"/>
                <a:cs typeface="Cambria" pitchFamily="34" charset="-120"/>
              </a:rPr>
              <a:t>-65%</a:t>
            </a:r>
            <a:endParaRPr lang="en-US" sz="3000" dirty="0"/>
          </a:p>
        </p:txBody>
      </p:sp>
      <p:sp>
        <p:nvSpPr>
          <p:cNvPr id="35" name="insight-headline"/>
          <p:cNvSpPr txBox="1"/>
          <p:nvPr/>
        </p:nvSpPr>
        <p:spPr>
          <a:xfrm>
            <a:off x="3657600" y="5394960"/>
            <a:ext cx="6583680" cy="292608"/>
          </a:xfrm>
          <a:prstGeom prst="rect">
            <a:avLst/>
          </a:prstGeom>
          <a:noFill/>
          <a:ln/>
        </p:spPr>
        <p:txBody>
          <a:bodyPr wrap="square" lIns="0" tIns="0" rIns="0" bIns="0" rtlCol="0" anchor="ctr"/>
          <a:lstStyle/>
          <a:p>
            <a:pPr marL="0" indent="0">
              <a:buNone/>
            </a:pPr>
            <a:r>
              <a:rPr lang="en-US" sz="1600" b="1" dirty="0">
                <a:solidFill>
                  <a:schemeClr val="tx1"/>
                </a:solidFill>
              </a:rPr>
              <a:t>2024 activity dropped sharply: real decline or missing data?</a:t>
            </a:r>
            <a:endParaRPr lang="en-US" sz="1600" dirty="0"/>
          </a:p>
        </p:txBody>
      </p:sp>
      <p:sp>
        <p:nvSpPr>
          <p:cNvPr id="36" name="insight-text"/>
          <p:cNvSpPr txBox="1"/>
          <p:nvPr/>
        </p:nvSpPr>
        <p:spPr>
          <a:xfrm>
            <a:off x="3657600" y="5705856"/>
            <a:ext cx="6583680" cy="420624"/>
          </a:xfrm>
          <a:prstGeom prst="rect">
            <a:avLst/>
          </a:prstGeom>
          <a:noFill/>
          <a:ln/>
        </p:spPr>
        <p:txBody>
          <a:bodyPr wrap="square" lIns="0" tIns="0" rIns="0" bIns="0" rtlCol="0" anchor="t"/>
          <a:lstStyle/>
          <a:p>
            <a:pPr marL="0" indent="0">
              <a:buNone/>
            </a:pPr>
            <a:r>
              <a:rPr lang="en-US" sz="1200" dirty="0">
                <a:solidFill>
                  <a:schemeClr val="accent5"/>
                </a:solidFill>
              </a:rPr>
              <a:t>Data ends 30 Jul 2024. Orders fall from about 290 a month (Nov-Dec 2023) to about 100 (Mar-Jul 2024). Investigate whether this is a real decline or incomplete data.</a:t>
            </a:r>
            <a:endParaRPr lang="en-US" sz="1200" dirty="0"/>
          </a:p>
        </p:txBody>
      </p:sp>
      <p:sp>
        <p:nvSpPr>
          <p:cNvPr id="37" name="insight-source"/>
          <p:cNvSpPr txBox="1"/>
          <p:nvPr/>
        </p:nvSpPr>
        <p:spPr>
          <a:xfrm>
            <a:off x="10332720" y="5413248"/>
            <a:ext cx="1188720" cy="640080"/>
          </a:xfrm>
          <a:prstGeom prst="rect">
            <a:avLst/>
          </a:prstGeom>
          <a:noFill/>
          <a:ln/>
        </p:spPr>
        <p:txBody>
          <a:bodyPr wrap="square" lIns="0" tIns="0" rIns="0" bIns="0" rtlCol="0" anchor="ctr"/>
          <a:lstStyle/>
          <a:p>
            <a:pPr marL="0" indent="0" algn="r">
              <a:buNone/>
            </a:pPr>
            <a:r>
              <a:rPr lang="en-US" sz="1100" dirty="0">
                <a:solidFill>
                  <a:schemeClr val="accent5"/>
                </a:solidFill>
              </a:rPr>
              <a:t>Source: Q9</a:t>
            </a:r>
            <a:endParaRPr lang="en-US" sz="1100" dirty="0"/>
          </a:p>
        </p:txBody>
      </p:sp>
      <p:sp>
        <p:nvSpPr>
          <p:cNvPr id="38"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10149840" cy="566928"/>
          </a:xfrm>
          <a:prstGeom prst="rect">
            <a:avLst/>
          </a:prstGeom>
          <a:noFill/>
          <a:ln/>
        </p:spPr>
        <p:txBody>
          <a:bodyPr wrap="square" lIns="0" tIns="0" rIns="0" bIns="0" rtlCol="0" anchor="ctr"/>
          <a:lstStyle/>
          <a:p>
            <a:pPr marL="0" indent="0" algn="l">
              <a:buNone/>
            </a:pPr>
            <a:r>
              <a:rPr lang="en-US" sz="2800" b="1" dirty="0">
                <a:solidFill>
                  <a:schemeClr val="tx1"/>
                </a:solidFill>
              </a:rPr>
              <a:t>What should management do?</a:t>
            </a:r>
            <a:endParaRPr lang="en-US" sz="2800" dirty="0"/>
          </a:p>
        </p:txBody>
      </p:sp>
      <p:sp>
        <p:nvSpPr>
          <p:cNvPr id="3" name="rec-card"/>
          <p:cNvSpPr/>
          <p:nvPr/>
        </p:nvSpPr>
        <p:spPr>
          <a:xfrm>
            <a:off x="457200" y="1188720"/>
            <a:ext cx="2108606" cy="4023360"/>
          </a:xfrm>
          <a:prstGeom prst="roundRect">
            <a:avLst>
              <a:gd name="adj" fmla="val 5204"/>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4" name="rec-source"/>
          <p:cNvSpPr txBox="1"/>
          <p:nvPr/>
        </p:nvSpPr>
        <p:spPr>
          <a:xfrm>
            <a:off x="640080" y="4846320"/>
            <a:ext cx="1783080" cy="228600"/>
          </a:xfrm>
          <a:prstGeom prst="rect">
            <a:avLst/>
          </a:prstGeom>
          <a:noFill/>
          <a:ln/>
        </p:spPr>
        <p:txBody>
          <a:bodyPr wrap="square" lIns="0" tIns="0" rIns="0" bIns="0" rtlCol="0" anchor="t"/>
          <a:lstStyle/>
          <a:p>
            <a:pPr marL="0" indent="0">
              <a:buNone/>
            </a:pPr>
            <a:r>
              <a:rPr lang="en-US" sz="1100" b="1" dirty="0">
                <a:solidFill>
                  <a:schemeClr val="accent5"/>
                </a:solidFill>
              </a:rPr>
              <a:t>Based on Q7</a:t>
            </a:r>
            <a:endParaRPr lang="en-US" sz="1100" dirty="0"/>
          </a:p>
        </p:txBody>
      </p:sp>
      <p:sp>
        <p:nvSpPr>
          <p:cNvPr id="5" name="rec-number-bg"/>
          <p:cNvSpPr/>
          <p:nvPr/>
        </p:nvSpPr>
        <p:spPr>
          <a:xfrm>
            <a:off x="640080" y="1371600"/>
            <a:ext cx="457200" cy="457200"/>
          </a:xfrm>
          <a:prstGeom prst="ellipse">
            <a:avLst/>
          </a:prstGeom>
          <a:solidFill>
            <a:schemeClr val="accent1"/>
          </a:solidFill>
          <a:ln w="6350">
            <a:solidFill>
              <a:schemeClr val="accent1"/>
            </a:solidFill>
            <a:prstDash val="solid"/>
          </a:ln>
        </p:spPr>
      </p:sp>
      <p:sp>
        <p:nvSpPr>
          <p:cNvPr id="6" name="rec-number"/>
          <p:cNvSpPr txBox="1"/>
          <p:nvPr/>
        </p:nvSpPr>
        <p:spPr>
          <a:xfrm>
            <a:off x="640080" y="13716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rec-title"/>
          <p:cNvSpPr txBox="1"/>
          <p:nvPr/>
        </p:nvSpPr>
        <p:spPr>
          <a:xfrm>
            <a:off x="640080" y="2011680"/>
            <a:ext cx="1783080" cy="548640"/>
          </a:xfrm>
          <a:prstGeom prst="rect">
            <a:avLst/>
          </a:prstGeom>
          <a:noFill/>
          <a:ln/>
        </p:spPr>
        <p:txBody>
          <a:bodyPr wrap="square" lIns="0" tIns="0" rIns="0" bIns="0" rtlCol="0" anchor="t"/>
          <a:lstStyle/>
          <a:p>
            <a:pPr marL="0" indent="0">
              <a:buNone/>
            </a:pPr>
            <a:r>
              <a:rPr lang="en-US" sz="1600" b="1" dirty="0">
                <a:solidFill>
                  <a:schemeClr val="tx1"/>
                </a:solidFill>
              </a:rPr>
              <a:t>Plan inventory</a:t>
            </a:r>
            <a:endParaRPr lang="en-US" sz="1600" dirty="0"/>
          </a:p>
        </p:txBody>
      </p:sp>
      <p:sp>
        <p:nvSpPr>
          <p:cNvPr id="8" name="rec-evidence"/>
          <p:cNvSpPr txBox="1"/>
          <p:nvPr/>
        </p:nvSpPr>
        <p:spPr>
          <a:xfrm>
            <a:off x="640080" y="2651760"/>
            <a:ext cx="1783080" cy="640080"/>
          </a:xfrm>
          <a:prstGeom prst="rect">
            <a:avLst/>
          </a:prstGeom>
          <a:noFill/>
          <a:ln/>
        </p:spPr>
        <p:txBody>
          <a:bodyPr wrap="square" lIns="0" tIns="0" rIns="0" bIns="0" rtlCol="0" anchor="t"/>
          <a:lstStyle/>
          <a:p>
            <a:pPr marL="0" indent="0">
              <a:buNone/>
            </a:pPr>
            <a:r>
              <a:rPr lang="en-US" sz="1500" b="1" dirty="0">
                <a:solidFill>
                  <a:schemeClr val="accent1"/>
                </a:solidFill>
                <a:latin typeface="Cambria" pitchFamily="34" charset="0"/>
                <a:ea typeface="Cambria" pitchFamily="34" charset="-122"/>
                <a:cs typeface="Cambria" pitchFamily="34" charset="-120"/>
              </a:rPr>
              <a:t>51 products under 10 units</a:t>
            </a:r>
            <a:endParaRPr lang="en-US" sz="1500" dirty="0"/>
          </a:p>
        </p:txBody>
      </p:sp>
      <p:sp>
        <p:nvSpPr>
          <p:cNvPr id="9" name="rec-action"/>
          <p:cNvSpPr txBox="1"/>
          <p:nvPr/>
        </p:nvSpPr>
        <p:spPr>
          <a:xfrm>
            <a:off x="640080" y="3383280"/>
            <a:ext cx="1783080" cy="1325880"/>
          </a:xfrm>
          <a:prstGeom prst="rect">
            <a:avLst/>
          </a:prstGeom>
          <a:noFill/>
          <a:ln/>
        </p:spPr>
        <p:txBody>
          <a:bodyPr wrap="square" lIns="0" tIns="0" rIns="0" bIns="0" rtlCol="0" anchor="t"/>
          <a:lstStyle/>
          <a:p>
            <a:pPr marL="0" indent="0">
              <a:buNone/>
            </a:pPr>
            <a:r>
              <a:rPr lang="en-US" sz="1200" dirty="0">
                <a:solidFill>
                  <a:schemeClr val="tx1"/>
                </a:solidFill>
              </a:rPr>
              <a:t>Set reorder points for Pet, Toys and Sports items, starting with the 7 products at 1 unit.</a:t>
            </a:r>
            <a:endParaRPr lang="en-US" sz="1200" dirty="0"/>
          </a:p>
        </p:txBody>
      </p:sp>
      <p:sp>
        <p:nvSpPr>
          <p:cNvPr id="10" name="rec-card"/>
          <p:cNvSpPr/>
          <p:nvPr/>
        </p:nvSpPr>
        <p:spPr>
          <a:xfrm>
            <a:off x="2748686" y="1188720"/>
            <a:ext cx="2108606" cy="4023360"/>
          </a:xfrm>
          <a:prstGeom prst="roundRect">
            <a:avLst>
              <a:gd name="adj" fmla="val 5204"/>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1" name="rec-source"/>
          <p:cNvSpPr txBox="1"/>
          <p:nvPr/>
        </p:nvSpPr>
        <p:spPr>
          <a:xfrm>
            <a:off x="2931566" y="4846320"/>
            <a:ext cx="1783080" cy="228600"/>
          </a:xfrm>
          <a:prstGeom prst="rect">
            <a:avLst/>
          </a:prstGeom>
          <a:noFill/>
          <a:ln/>
        </p:spPr>
        <p:txBody>
          <a:bodyPr wrap="square" lIns="0" tIns="0" rIns="0" bIns="0" rtlCol="0" anchor="t"/>
          <a:lstStyle/>
          <a:p>
            <a:pPr marL="0" indent="0">
              <a:buNone/>
            </a:pPr>
            <a:r>
              <a:rPr lang="en-US" sz="1100" b="1" dirty="0">
                <a:solidFill>
                  <a:schemeClr val="accent5"/>
                </a:solidFill>
              </a:rPr>
              <a:t>Based on Q5</a:t>
            </a:r>
            <a:endParaRPr lang="en-US" sz="1100" dirty="0"/>
          </a:p>
        </p:txBody>
      </p:sp>
      <p:sp>
        <p:nvSpPr>
          <p:cNvPr id="12" name="rec-number-bg"/>
          <p:cNvSpPr/>
          <p:nvPr/>
        </p:nvSpPr>
        <p:spPr>
          <a:xfrm>
            <a:off x="2931566" y="1371600"/>
            <a:ext cx="457200" cy="457200"/>
          </a:xfrm>
          <a:prstGeom prst="ellipse">
            <a:avLst/>
          </a:prstGeom>
          <a:solidFill>
            <a:schemeClr val="accent4"/>
          </a:solidFill>
          <a:ln w="6350">
            <a:solidFill>
              <a:schemeClr val="accent4"/>
            </a:solidFill>
            <a:prstDash val="solid"/>
          </a:ln>
        </p:spPr>
      </p:sp>
      <p:sp>
        <p:nvSpPr>
          <p:cNvPr id="13" name="rec-number"/>
          <p:cNvSpPr txBox="1"/>
          <p:nvPr/>
        </p:nvSpPr>
        <p:spPr>
          <a:xfrm>
            <a:off x="2931566" y="13716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4" name="rec-title"/>
          <p:cNvSpPr txBox="1"/>
          <p:nvPr/>
        </p:nvSpPr>
        <p:spPr>
          <a:xfrm>
            <a:off x="2931566" y="2011680"/>
            <a:ext cx="1783080" cy="548640"/>
          </a:xfrm>
          <a:prstGeom prst="rect">
            <a:avLst/>
          </a:prstGeom>
          <a:noFill/>
          <a:ln/>
        </p:spPr>
        <p:txBody>
          <a:bodyPr wrap="square" lIns="0" tIns="0" rIns="0" bIns="0" rtlCol="0" anchor="t"/>
          <a:lstStyle/>
          <a:p>
            <a:pPr marL="0" indent="0">
              <a:buNone/>
            </a:pPr>
            <a:r>
              <a:rPr lang="en-US" sz="1600" b="1" dirty="0">
                <a:solidFill>
                  <a:schemeClr val="tx1"/>
                </a:solidFill>
              </a:rPr>
              <a:t>Investigate returns</a:t>
            </a:r>
            <a:endParaRPr lang="en-US" sz="1600" dirty="0"/>
          </a:p>
        </p:txBody>
      </p:sp>
      <p:sp>
        <p:nvSpPr>
          <p:cNvPr id="15" name="rec-evidence"/>
          <p:cNvSpPr txBox="1"/>
          <p:nvPr/>
        </p:nvSpPr>
        <p:spPr>
          <a:xfrm>
            <a:off x="2931566" y="2651760"/>
            <a:ext cx="1783080" cy="640080"/>
          </a:xfrm>
          <a:prstGeom prst="rect">
            <a:avLst/>
          </a:prstGeom>
          <a:noFill/>
          <a:ln/>
        </p:spPr>
        <p:txBody>
          <a:bodyPr wrap="square" lIns="0" tIns="0" rIns="0" bIns="0" rtlCol="0" anchor="t"/>
          <a:lstStyle/>
          <a:p>
            <a:pPr marL="0" indent="0">
              <a:buNone/>
            </a:pPr>
            <a:r>
              <a:rPr lang="en-US" sz="1500" b="1" dirty="0">
                <a:solidFill>
                  <a:schemeClr val="accent4"/>
                </a:solidFill>
                <a:latin typeface="Cambria" pitchFamily="34" charset="0"/>
                <a:ea typeface="Cambria" pitchFamily="34" charset="-122"/>
                <a:cs typeface="Cambria" pitchFamily="34" charset="-120"/>
              </a:rPr>
              <a:t>12 products above 20%</a:t>
            </a:r>
            <a:endParaRPr lang="en-US" sz="1500" dirty="0"/>
          </a:p>
        </p:txBody>
      </p:sp>
      <p:sp>
        <p:nvSpPr>
          <p:cNvPr id="16" name="rec-action"/>
          <p:cNvSpPr txBox="1"/>
          <p:nvPr/>
        </p:nvSpPr>
        <p:spPr>
          <a:xfrm>
            <a:off x="2931566" y="3383280"/>
            <a:ext cx="1783080" cy="1325880"/>
          </a:xfrm>
          <a:prstGeom prst="rect">
            <a:avLst/>
          </a:prstGeom>
          <a:noFill/>
          <a:ln/>
        </p:spPr>
        <p:txBody>
          <a:bodyPr wrap="square" lIns="0" tIns="0" rIns="0" bIns="0" rtlCol="0" anchor="t"/>
          <a:lstStyle/>
          <a:p>
            <a:pPr marL="0" indent="0">
              <a:buNone/>
            </a:pPr>
            <a:r>
              <a:rPr lang="en-US" sz="1200" dirty="0">
                <a:solidFill>
                  <a:schemeClr val="tx1"/>
                </a:solidFill>
              </a:rPr>
              <a:t>Among products with 50+ units sold. Review quality and listing accuracy, starting with DJI Mavic Air 2 at 30.5%.</a:t>
            </a:r>
            <a:endParaRPr lang="en-US" sz="1200" dirty="0"/>
          </a:p>
        </p:txBody>
      </p:sp>
      <p:sp>
        <p:nvSpPr>
          <p:cNvPr id="17" name="rec-card"/>
          <p:cNvSpPr/>
          <p:nvPr/>
        </p:nvSpPr>
        <p:spPr>
          <a:xfrm>
            <a:off x="5040173" y="1188720"/>
            <a:ext cx="2108606" cy="4023360"/>
          </a:xfrm>
          <a:prstGeom prst="roundRect">
            <a:avLst>
              <a:gd name="adj" fmla="val 5204"/>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8" name="rec-source"/>
          <p:cNvSpPr txBox="1"/>
          <p:nvPr/>
        </p:nvSpPr>
        <p:spPr>
          <a:xfrm>
            <a:off x="5223053" y="4846320"/>
            <a:ext cx="1783080" cy="228600"/>
          </a:xfrm>
          <a:prstGeom prst="rect">
            <a:avLst/>
          </a:prstGeom>
          <a:noFill/>
          <a:ln/>
        </p:spPr>
        <p:txBody>
          <a:bodyPr wrap="square" lIns="0" tIns="0" rIns="0" bIns="0" rtlCol="0" anchor="t"/>
          <a:lstStyle/>
          <a:p>
            <a:pPr marL="0" indent="0">
              <a:buNone/>
            </a:pPr>
            <a:r>
              <a:rPr lang="en-US" sz="1100" b="1" dirty="0">
                <a:solidFill>
                  <a:schemeClr val="accent5"/>
                </a:solidFill>
              </a:rPr>
              <a:t>Based on Q6, Q10</a:t>
            </a:r>
            <a:endParaRPr lang="en-US" sz="1100" dirty="0"/>
          </a:p>
        </p:txBody>
      </p:sp>
      <p:sp>
        <p:nvSpPr>
          <p:cNvPr id="19" name="rec-number-bg"/>
          <p:cNvSpPr/>
          <p:nvPr/>
        </p:nvSpPr>
        <p:spPr>
          <a:xfrm>
            <a:off x="5223053" y="1371600"/>
            <a:ext cx="457200" cy="457200"/>
          </a:xfrm>
          <a:prstGeom prst="ellipse">
            <a:avLst/>
          </a:prstGeom>
          <a:solidFill>
            <a:schemeClr val="accent2"/>
          </a:solidFill>
          <a:ln w="6350">
            <a:solidFill>
              <a:schemeClr val="accent2"/>
            </a:solidFill>
            <a:prstDash val="solid"/>
          </a:ln>
        </p:spPr>
      </p:sp>
      <p:sp>
        <p:nvSpPr>
          <p:cNvPr id="20" name="rec-number"/>
          <p:cNvSpPr txBox="1"/>
          <p:nvPr/>
        </p:nvSpPr>
        <p:spPr>
          <a:xfrm>
            <a:off x="5223053" y="13716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1" name="rec-title"/>
          <p:cNvSpPr txBox="1"/>
          <p:nvPr/>
        </p:nvSpPr>
        <p:spPr>
          <a:xfrm>
            <a:off x="5223053" y="2011680"/>
            <a:ext cx="1783080" cy="548640"/>
          </a:xfrm>
          <a:prstGeom prst="rect">
            <a:avLst/>
          </a:prstGeom>
          <a:noFill/>
          <a:ln/>
        </p:spPr>
        <p:txBody>
          <a:bodyPr wrap="square" lIns="0" tIns="0" rIns="0" bIns="0" rtlCol="0" anchor="t"/>
          <a:lstStyle/>
          <a:p>
            <a:pPr marL="0" indent="0">
              <a:buNone/>
            </a:pPr>
            <a:r>
              <a:rPr lang="en-US" sz="1600" b="1" dirty="0">
                <a:solidFill>
                  <a:schemeClr val="tx1"/>
                </a:solidFill>
              </a:rPr>
              <a:t>Activate customers</a:t>
            </a:r>
            <a:endParaRPr lang="en-US" sz="1600" dirty="0"/>
          </a:p>
        </p:txBody>
      </p:sp>
      <p:sp>
        <p:nvSpPr>
          <p:cNvPr id="22" name="rec-evidence"/>
          <p:cNvSpPr txBox="1"/>
          <p:nvPr/>
        </p:nvSpPr>
        <p:spPr>
          <a:xfrm>
            <a:off x="5223053" y="2651760"/>
            <a:ext cx="1783080" cy="640080"/>
          </a:xfrm>
          <a:prstGeom prst="rect">
            <a:avLst/>
          </a:prstGeom>
          <a:noFill/>
          <a:ln/>
        </p:spPr>
        <p:txBody>
          <a:bodyPr wrap="square" lIns="0" tIns="0" rIns="0" bIns="0" rtlCol="0" anchor="t"/>
          <a:lstStyle/>
          <a:p>
            <a:pPr marL="0" indent="0">
              <a:buNone/>
            </a:pPr>
            <a:r>
              <a:rPr lang="en-US" sz="1500" b="1" dirty="0">
                <a:solidFill>
                  <a:schemeClr val="accent2"/>
                </a:solidFill>
                <a:latin typeface="Cambria" pitchFamily="34" charset="0"/>
                <a:ea typeface="Cambria" pitchFamily="34" charset="-122"/>
                <a:cs typeface="Cambria" pitchFamily="34" charset="-120"/>
              </a:rPr>
              <a:t>212 never ordered</a:t>
            </a:r>
            <a:endParaRPr lang="en-US" sz="1500" dirty="0"/>
          </a:p>
        </p:txBody>
      </p:sp>
      <p:sp>
        <p:nvSpPr>
          <p:cNvPr id="23" name="rec-action"/>
          <p:cNvSpPr txBox="1"/>
          <p:nvPr/>
        </p:nvSpPr>
        <p:spPr>
          <a:xfrm>
            <a:off x="5223053" y="3383280"/>
            <a:ext cx="1783080" cy="1325880"/>
          </a:xfrm>
          <a:prstGeom prst="rect">
            <a:avLst/>
          </a:prstGeom>
          <a:noFill/>
          <a:ln/>
        </p:spPr>
        <p:txBody>
          <a:bodyPr wrap="square" lIns="0" tIns="0" rIns="0" bIns="0" rtlCol="0" anchor="t"/>
          <a:lstStyle/>
          <a:p>
            <a:pPr marL="0" indent="0">
              <a:buNone/>
            </a:pPr>
            <a:r>
              <a:rPr lang="en-US" sz="1200" dirty="0">
                <a:solidFill>
                  <a:schemeClr val="tx1"/>
                </a:solidFill>
              </a:rPr>
              <a:t>Run a first-order campaign; 118 of them are in Texas.</a:t>
            </a:r>
            <a:endParaRPr lang="en-US" sz="1200" dirty="0"/>
          </a:p>
        </p:txBody>
      </p:sp>
      <p:sp>
        <p:nvSpPr>
          <p:cNvPr id="24" name="rec-card"/>
          <p:cNvSpPr/>
          <p:nvPr/>
        </p:nvSpPr>
        <p:spPr>
          <a:xfrm>
            <a:off x="7331659" y="1188720"/>
            <a:ext cx="2108606" cy="4023360"/>
          </a:xfrm>
          <a:prstGeom prst="roundRect">
            <a:avLst>
              <a:gd name="adj" fmla="val 5204"/>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5" name="rec-source"/>
          <p:cNvSpPr txBox="1"/>
          <p:nvPr/>
        </p:nvSpPr>
        <p:spPr>
          <a:xfrm>
            <a:off x="7514539" y="4846320"/>
            <a:ext cx="1783080" cy="228600"/>
          </a:xfrm>
          <a:prstGeom prst="rect">
            <a:avLst/>
          </a:prstGeom>
          <a:noFill/>
          <a:ln/>
        </p:spPr>
        <p:txBody>
          <a:bodyPr wrap="square" lIns="0" tIns="0" rIns="0" bIns="0" rtlCol="0" anchor="t"/>
          <a:lstStyle/>
          <a:p>
            <a:pPr marL="0" indent="0">
              <a:buNone/>
            </a:pPr>
            <a:r>
              <a:rPr lang="en-US" sz="1100" b="1" dirty="0">
                <a:solidFill>
                  <a:schemeClr val="accent5"/>
                </a:solidFill>
              </a:rPr>
              <a:t>Based on Q8</a:t>
            </a:r>
            <a:endParaRPr lang="en-US" sz="1100" dirty="0"/>
          </a:p>
        </p:txBody>
      </p:sp>
      <p:sp>
        <p:nvSpPr>
          <p:cNvPr id="26" name="rec-number-bg"/>
          <p:cNvSpPr/>
          <p:nvPr/>
        </p:nvSpPr>
        <p:spPr>
          <a:xfrm>
            <a:off x="7514539" y="1371600"/>
            <a:ext cx="457200" cy="457200"/>
          </a:xfrm>
          <a:prstGeom prst="ellipse">
            <a:avLst/>
          </a:prstGeom>
          <a:solidFill>
            <a:schemeClr val="accent3"/>
          </a:solidFill>
          <a:ln w="6350">
            <a:solidFill>
              <a:schemeClr val="accent3"/>
            </a:solidFill>
            <a:prstDash val="solid"/>
          </a:ln>
        </p:spPr>
      </p:sp>
      <p:sp>
        <p:nvSpPr>
          <p:cNvPr id="27" name="rec-number"/>
          <p:cNvSpPr txBox="1"/>
          <p:nvPr/>
        </p:nvSpPr>
        <p:spPr>
          <a:xfrm>
            <a:off x="7514539" y="13716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8" name="rec-title"/>
          <p:cNvSpPr txBox="1"/>
          <p:nvPr/>
        </p:nvSpPr>
        <p:spPr>
          <a:xfrm>
            <a:off x="7514539" y="2011680"/>
            <a:ext cx="1783080" cy="548640"/>
          </a:xfrm>
          <a:prstGeom prst="rect">
            <a:avLst/>
          </a:prstGeom>
          <a:noFill/>
          <a:ln/>
        </p:spPr>
        <p:txBody>
          <a:bodyPr wrap="square" lIns="0" tIns="0" rIns="0" bIns="0" rtlCol="0" anchor="t"/>
          <a:lstStyle/>
          <a:p>
            <a:pPr marL="0" indent="0">
              <a:buNone/>
            </a:pPr>
            <a:r>
              <a:rPr lang="en-US" sz="1600" b="1" dirty="0">
                <a:solidFill>
                  <a:schemeClr val="tx1"/>
                </a:solidFill>
              </a:rPr>
              <a:t>Review unsold products</a:t>
            </a:r>
            <a:endParaRPr lang="en-US" sz="1600" dirty="0"/>
          </a:p>
        </p:txBody>
      </p:sp>
      <p:sp>
        <p:nvSpPr>
          <p:cNvPr id="29" name="rec-evidence"/>
          <p:cNvSpPr txBox="1"/>
          <p:nvPr/>
        </p:nvSpPr>
        <p:spPr>
          <a:xfrm>
            <a:off x="7514539" y="2651760"/>
            <a:ext cx="1783080" cy="640080"/>
          </a:xfrm>
          <a:prstGeom prst="rect">
            <a:avLst/>
          </a:prstGeom>
          <a:noFill/>
          <a:ln/>
        </p:spPr>
        <p:txBody>
          <a:bodyPr wrap="square" lIns="0" tIns="0" rIns="0" bIns="0" rtlCol="0" anchor="t"/>
          <a:lstStyle/>
          <a:p>
            <a:pPr marL="0" indent="0">
              <a:buNone/>
            </a:pPr>
            <a:r>
              <a:rPr lang="en-US" sz="1500" b="1" dirty="0">
                <a:solidFill>
                  <a:schemeClr val="accent3"/>
                </a:solidFill>
                <a:latin typeface="Cambria" pitchFamily="34" charset="0"/>
                <a:ea typeface="Cambria" pitchFamily="34" charset="-122"/>
                <a:cs typeface="Cambria" pitchFamily="34" charset="-120"/>
              </a:rPr>
              <a:t>15 never sold</a:t>
            </a:r>
            <a:endParaRPr lang="en-US" sz="1500" dirty="0"/>
          </a:p>
        </p:txBody>
      </p:sp>
      <p:sp>
        <p:nvSpPr>
          <p:cNvPr id="30" name="rec-action"/>
          <p:cNvSpPr txBox="1"/>
          <p:nvPr/>
        </p:nvSpPr>
        <p:spPr>
          <a:xfrm>
            <a:off x="7514539" y="3383280"/>
            <a:ext cx="1783080" cy="1325880"/>
          </a:xfrm>
          <a:prstGeom prst="rect">
            <a:avLst/>
          </a:prstGeom>
          <a:noFill/>
          <a:ln/>
        </p:spPr>
        <p:txBody>
          <a:bodyPr wrap="square" lIns="0" tIns="0" rIns="0" bIns="0" rtlCol="0" anchor="t"/>
          <a:lstStyle/>
          <a:p>
            <a:pPr marL="0" indent="0">
              <a:buNone/>
            </a:pPr>
            <a:r>
              <a:rPr lang="en-US" sz="1200" dirty="0">
                <a:solidFill>
                  <a:schemeClr val="tx1"/>
                </a:solidFill>
              </a:rPr>
              <a:t>Check price, visibility and listings, then relist or retire. 9 are Sports &amp; Outdoors.</a:t>
            </a:r>
            <a:endParaRPr lang="en-US" sz="1200" dirty="0"/>
          </a:p>
        </p:txBody>
      </p:sp>
      <p:sp>
        <p:nvSpPr>
          <p:cNvPr id="31" name="rec-card"/>
          <p:cNvSpPr/>
          <p:nvPr/>
        </p:nvSpPr>
        <p:spPr>
          <a:xfrm>
            <a:off x="9623146" y="1188720"/>
            <a:ext cx="2108606" cy="4023360"/>
          </a:xfrm>
          <a:prstGeom prst="roundRect">
            <a:avLst>
              <a:gd name="adj" fmla="val 5204"/>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2" name="rec-source"/>
          <p:cNvSpPr txBox="1"/>
          <p:nvPr/>
        </p:nvSpPr>
        <p:spPr>
          <a:xfrm>
            <a:off x="9806026" y="4846320"/>
            <a:ext cx="1783080" cy="228600"/>
          </a:xfrm>
          <a:prstGeom prst="rect">
            <a:avLst/>
          </a:prstGeom>
          <a:noFill/>
          <a:ln/>
        </p:spPr>
        <p:txBody>
          <a:bodyPr wrap="square" lIns="0" tIns="0" rIns="0" bIns="0" rtlCol="0" anchor="t"/>
          <a:lstStyle/>
          <a:p>
            <a:pPr marL="0" indent="0">
              <a:buNone/>
            </a:pPr>
            <a:r>
              <a:rPr lang="en-US" sz="1100" b="1" dirty="0">
                <a:solidFill>
                  <a:schemeClr val="accent5"/>
                </a:solidFill>
              </a:rPr>
              <a:t>Based on data audit</a:t>
            </a:r>
            <a:endParaRPr lang="en-US" sz="1100" dirty="0"/>
          </a:p>
        </p:txBody>
      </p:sp>
      <p:sp>
        <p:nvSpPr>
          <p:cNvPr id="33" name="rec-number-bg"/>
          <p:cNvSpPr/>
          <p:nvPr/>
        </p:nvSpPr>
        <p:spPr>
          <a:xfrm>
            <a:off x="9806026" y="1371600"/>
            <a:ext cx="457200" cy="457200"/>
          </a:xfrm>
          <a:prstGeom prst="ellipse">
            <a:avLst/>
          </a:prstGeom>
          <a:solidFill>
            <a:schemeClr val="accent5"/>
          </a:solidFill>
          <a:ln w="6350">
            <a:solidFill>
              <a:schemeClr val="accent5"/>
            </a:solidFill>
            <a:prstDash val="solid"/>
          </a:ln>
        </p:spPr>
      </p:sp>
      <p:sp>
        <p:nvSpPr>
          <p:cNvPr id="34" name="rec-number"/>
          <p:cNvSpPr txBox="1"/>
          <p:nvPr/>
        </p:nvSpPr>
        <p:spPr>
          <a:xfrm>
            <a:off x="9806026" y="13716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35" name="rec-title"/>
          <p:cNvSpPr txBox="1"/>
          <p:nvPr/>
        </p:nvSpPr>
        <p:spPr>
          <a:xfrm>
            <a:off x="9806026" y="2011680"/>
            <a:ext cx="1783080" cy="548640"/>
          </a:xfrm>
          <a:prstGeom prst="rect">
            <a:avLst/>
          </a:prstGeom>
          <a:noFill/>
          <a:ln/>
        </p:spPr>
        <p:txBody>
          <a:bodyPr wrap="square" lIns="0" tIns="0" rIns="0" bIns="0" rtlCol="0" anchor="t"/>
          <a:lstStyle/>
          <a:p>
            <a:pPr marL="0" indent="0">
              <a:buNone/>
            </a:pPr>
            <a:r>
              <a:rPr lang="en-US" sz="1600" b="1" dirty="0">
                <a:solidFill>
                  <a:schemeClr val="tx1"/>
                </a:solidFill>
              </a:rPr>
              <a:t>Improve data capture</a:t>
            </a:r>
            <a:endParaRPr lang="en-US" sz="1600" dirty="0"/>
          </a:p>
        </p:txBody>
      </p:sp>
      <p:sp>
        <p:nvSpPr>
          <p:cNvPr id="36" name="rec-evidence"/>
          <p:cNvSpPr txBox="1"/>
          <p:nvPr/>
        </p:nvSpPr>
        <p:spPr>
          <a:xfrm>
            <a:off x="9806026" y="2651760"/>
            <a:ext cx="1783080" cy="640080"/>
          </a:xfrm>
          <a:prstGeom prst="rect">
            <a:avLst/>
          </a:prstGeom>
          <a:noFill/>
          <a:ln/>
        </p:spPr>
        <p:txBody>
          <a:bodyPr wrap="square" lIns="0" tIns="0" rIns="0" bIns="0" rtlCol="0" anchor="t"/>
          <a:lstStyle/>
          <a:p>
            <a:pPr marL="0" indent="0">
              <a:buNone/>
            </a:pPr>
            <a:r>
              <a:rPr lang="en-US" sz="1500" b="1" dirty="0">
                <a:solidFill>
                  <a:schemeClr val="accent5"/>
                </a:solidFill>
                <a:latin typeface="Cambria" pitchFamily="34" charset="0"/>
                <a:ea typeface="Cambria" pitchFamily="34" charset="-122"/>
                <a:cs typeface="Cambria" pitchFamily="34" charset="-120"/>
              </a:rPr>
              <a:t>No registration_date</a:t>
            </a:r>
            <a:endParaRPr lang="en-US" sz="1500" dirty="0"/>
          </a:p>
        </p:txBody>
      </p:sp>
      <p:sp>
        <p:nvSpPr>
          <p:cNvPr id="37" name="rec-action"/>
          <p:cNvSpPr txBox="1"/>
          <p:nvPr/>
        </p:nvSpPr>
        <p:spPr>
          <a:xfrm>
            <a:off x="9806026" y="3383280"/>
            <a:ext cx="1783080" cy="1325880"/>
          </a:xfrm>
          <a:prstGeom prst="rect">
            <a:avLst/>
          </a:prstGeom>
          <a:noFill/>
          <a:ln/>
        </p:spPr>
        <p:txBody>
          <a:bodyPr wrap="square" lIns="0" tIns="0" rIns="0" bIns="0" rtlCol="0" anchor="t"/>
          <a:lstStyle/>
          <a:p>
            <a:pPr marL="0" indent="0">
              <a:buNone/>
            </a:pPr>
            <a:r>
              <a:rPr lang="en-US" sz="1200" dirty="0">
                <a:solidFill>
                  <a:schemeClr val="tx1"/>
                </a:solidFill>
              </a:rPr>
              <a:t>Add registration dates, fix text-typed dates and label typos, and verify whether the 2024 order drop is real or missing data.</a:t>
            </a:r>
            <a:endParaRPr lang="en-US" sz="1200" dirty="0"/>
          </a:p>
        </p:txBody>
      </p:sp>
      <p:sp>
        <p:nvSpPr>
          <p:cNvPr id="38" name="risk-strip"/>
          <p:cNvSpPr/>
          <p:nvPr/>
        </p:nvSpPr>
        <p:spPr>
          <a:xfrm>
            <a:off x="457200" y="5394960"/>
            <a:ext cx="11274552" cy="822960"/>
          </a:xfrm>
          <a:prstGeom prst="roundRect">
            <a:avLst>
              <a:gd name="adj" fmla="val 13333"/>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39" name="risk-text"/>
          <p:cNvSpPr txBox="1"/>
          <p:nvPr/>
        </p:nvSpPr>
        <p:spPr>
          <a:xfrm>
            <a:off x="685800" y="5394960"/>
            <a:ext cx="10789920" cy="822960"/>
          </a:xfrm>
          <a:prstGeom prst="rect">
            <a:avLst/>
          </a:prstGeom>
          <a:noFill/>
          <a:ln/>
        </p:spPr>
        <p:txBody>
          <a:bodyPr wrap="square" lIns="0" tIns="0" rIns="0" bIns="0" rtlCol="0" anchor="ctr"/>
          <a:lstStyle/>
          <a:p>
            <a:pPr marL="0" indent="0">
              <a:buNone/>
            </a:pPr>
            <a:r>
              <a:rPr lang="en-US" sz="1400" b="1" dirty="0">
                <a:solidFill>
                  <a:schemeClr val="accent1"/>
                </a:solidFill>
              </a:rPr>
              <a:t>Concentration risk to track  </a:t>
            </a:r>
            <a:r>
              <a:rPr lang="en-US" sz="1400" dirty="0">
                <a:solidFill>
                  <a:schemeClr val="tx1"/>
                </a:solidFill>
              </a:rPr>
              <a:t>Electronics = 89.63% of completed revenue  |  Ohio + Texas = 90.2%  |  Top 10 products = 17.7%</a:t>
            </a:r>
            <a:endParaRPr lang="en-US" sz="1400" dirty="0"/>
          </a:p>
        </p:txBody>
      </p:sp>
      <p:sp>
        <p:nvSpPr>
          <p:cNvPr id="40" name="Slide Number Placeholder 0"/>
          <p:cNvSpPr>
            <a:spLocks noGrp="1"/>
          </p:cNvSpPr>
          <p:nvPr>
            <p:ph type="sldNum" sz="quarter" idx="4294967295"/>
          </p:nvPr>
        </p:nvSpPr>
        <p:spPr>
          <a:xfrm>
            <a:off x="11274552" y="6510528"/>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234440"/>
            <a:ext cx="5577840" cy="2194560"/>
          </a:xfrm>
          <a:prstGeom prst="rect">
            <a:avLst/>
          </a:prstGeom>
          <a:noFill/>
          <a:ln/>
        </p:spPr>
        <p:txBody>
          <a:bodyPr wrap="square" lIns="0" tIns="0" rIns="0" bIns="0" rtlCol="0" anchor="t"/>
          <a:lstStyle/>
          <a:p>
            <a:pPr marL="0" indent="0" algn="l">
              <a:buNone/>
            </a:pPr>
            <a:r>
              <a:rPr lang="en-US" sz="4800" b="1" dirty="0">
                <a:solidFill>
                  <a:schemeClr val="tx1"/>
                </a:solidFill>
              </a:rPr>
              <a:t>Thank you</a:t>
            </a:r>
            <a:endParaRPr lang="en-US" sz="4800" dirty="0"/>
          </a:p>
          <a:p>
            <a:pPr marL="0" indent="0" algn="l">
              <a:buNone/>
            </a:pPr>
            <a:r>
              <a:rPr lang="en-US" sz="4800" b="1" dirty="0">
                <a:solidFill>
                  <a:schemeClr val="tx1"/>
                </a:solidFill>
              </a:rPr>
              <a:t>for your time</a:t>
            </a:r>
            <a:endParaRPr lang="en-US" sz="4800" dirty="0"/>
          </a:p>
        </p:txBody>
      </p:sp>
      <p:sp>
        <p:nvSpPr>
          <p:cNvPr id="3" name="eyebrow"/>
          <p:cNvSpPr txBox="1"/>
          <p:nvPr/>
        </p:nvSpPr>
        <p:spPr>
          <a:xfrm>
            <a:off x="731520" y="822960"/>
            <a:ext cx="5486400" cy="274320"/>
          </a:xfrm>
          <a:prstGeom prst="rect">
            <a:avLst/>
          </a:prstGeom>
          <a:noFill/>
          <a:ln/>
        </p:spPr>
        <p:txBody>
          <a:bodyPr wrap="square" lIns="0" tIns="0" rIns="0" bIns="0" rtlCol="0" anchor="t"/>
          <a:lstStyle/>
          <a:p>
            <a:pPr marL="0" indent="0">
              <a:buNone/>
            </a:pPr>
            <a:r>
              <a:rPr lang="en-US" sz="1200" b="1" kern="0" spc="400" dirty="0">
                <a:solidFill>
                  <a:schemeClr val="accent1"/>
                </a:solidFill>
              </a:rPr>
              <a:t>CONCLUSION</a:t>
            </a:r>
            <a:endParaRPr lang="en-US" sz="1200" dirty="0"/>
          </a:p>
        </p:txBody>
      </p:sp>
      <p:sp>
        <p:nvSpPr>
          <p:cNvPr id="4" name="Text 0"/>
          <p:cNvSpPr>
            <a:spLocks noGrp="1"/>
          </p:cNvSpPr>
          <p:nvPr>
            <p:ph type="body" idx="101" hasCustomPrompt="1"/>
          </p:nvPr>
        </p:nvSpPr>
        <p:spPr>
          <a:xfrm>
            <a:off x="731520" y="3566160"/>
            <a:ext cx="5394960" cy="731520"/>
          </a:xfrm>
          <a:prstGeom prst="rect">
            <a:avLst/>
          </a:prstGeom>
          <a:noFill/>
          <a:ln/>
        </p:spPr>
        <p:txBody>
          <a:bodyPr wrap="square" lIns="0" tIns="0" rIns="0" bIns="0" rtlCol="0" anchor="t"/>
          <a:lstStyle/>
          <a:p>
            <a:pPr marL="0" indent="0" algn="l">
              <a:buNone/>
            </a:pPr>
            <a:r>
              <a:rPr lang="en-US" sz="1800" dirty="0">
                <a:solidFill>
                  <a:schemeClr val="accent5"/>
                </a:solidFill>
              </a:rPr>
              <a:t>Clean data, clear SQL and focused actions turn raw CSV files into business decisions.</a:t>
            </a:r>
            <a:endParaRPr lang="en-US" sz="1800" dirty="0"/>
          </a:p>
        </p:txBody>
      </p:sp>
      <p:sp>
        <p:nvSpPr>
          <p:cNvPr id="5" name="closing-line"/>
          <p:cNvSpPr txBox="1"/>
          <p:nvPr/>
        </p:nvSpPr>
        <p:spPr>
          <a:xfrm>
            <a:off x="731520" y="4526280"/>
            <a:ext cx="5394960" cy="274320"/>
          </a:xfrm>
          <a:prstGeom prst="rect">
            <a:avLst/>
          </a:prstGeom>
          <a:noFill/>
          <a:ln/>
        </p:spPr>
        <p:txBody>
          <a:bodyPr wrap="square" lIns="0" tIns="0" rIns="0" bIns="0" rtlCol="0" anchor="t"/>
          <a:lstStyle/>
          <a:p>
            <a:pPr marL="0" indent="0">
              <a:buNone/>
            </a:pPr>
            <a:r>
              <a:rPr lang="en-US" sz="1600" b="1" dirty="0">
                <a:solidFill>
                  <a:schemeClr val="tx1"/>
                </a:solidFill>
              </a:rPr>
              <a:t>Questions and feedback are welcome.</a:t>
            </a:r>
            <a:endParaRPr lang="en-US" sz="1600" dirty="0"/>
          </a:p>
        </p:txBody>
      </p:sp>
      <p:sp>
        <p:nvSpPr>
          <p:cNvPr id="6" name="takeaway-card"/>
          <p:cNvSpPr/>
          <p:nvPr/>
        </p:nvSpPr>
        <p:spPr>
          <a:xfrm>
            <a:off x="7223760" y="1234440"/>
            <a:ext cx="4507992" cy="1051560"/>
          </a:xfrm>
          <a:prstGeom prst="roundRect">
            <a:avLst>
              <a:gd name="adj" fmla="val 1043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7" name="takeaway-number-bg"/>
          <p:cNvSpPr/>
          <p:nvPr/>
        </p:nvSpPr>
        <p:spPr>
          <a:xfrm>
            <a:off x="7406640" y="1531620"/>
            <a:ext cx="457200" cy="457200"/>
          </a:xfrm>
          <a:prstGeom prst="ellipse">
            <a:avLst/>
          </a:prstGeom>
          <a:solidFill>
            <a:schemeClr val="accent1"/>
          </a:solidFill>
          <a:ln w="6350">
            <a:solidFill>
              <a:schemeClr val="accent1"/>
            </a:solidFill>
            <a:prstDash val="solid"/>
          </a:ln>
        </p:spPr>
      </p:sp>
      <p:sp>
        <p:nvSpPr>
          <p:cNvPr id="8" name="takeaway-number"/>
          <p:cNvSpPr txBox="1"/>
          <p:nvPr/>
        </p:nvSpPr>
        <p:spPr>
          <a:xfrm>
            <a:off x="7406640" y="15316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9" name="takeaway-title"/>
          <p:cNvSpPr txBox="1"/>
          <p:nvPr/>
        </p:nvSpPr>
        <p:spPr>
          <a:xfrm>
            <a:off x="8046720" y="1371600"/>
            <a:ext cx="3566160" cy="274320"/>
          </a:xfrm>
          <a:prstGeom prst="rect">
            <a:avLst/>
          </a:prstGeom>
          <a:noFill/>
          <a:ln/>
        </p:spPr>
        <p:txBody>
          <a:bodyPr wrap="square" lIns="0" tIns="0" rIns="0" bIns="0" rtlCol="0" anchor="t"/>
          <a:lstStyle/>
          <a:p>
            <a:pPr marL="0" indent="0">
              <a:buNone/>
            </a:pPr>
            <a:r>
              <a:rPr lang="en-US" sz="1500" b="1" dirty="0">
                <a:solidFill>
                  <a:schemeClr val="tx1"/>
                </a:solidFill>
              </a:rPr>
              <a:t>Revenue is concentrated</a:t>
            </a:r>
            <a:endParaRPr lang="en-US" sz="1500" dirty="0"/>
          </a:p>
        </p:txBody>
      </p:sp>
      <p:sp>
        <p:nvSpPr>
          <p:cNvPr id="10" name="takeaway-text"/>
          <p:cNvSpPr txBox="1"/>
          <p:nvPr/>
        </p:nvSpPr>
        <p:spPr>
          <a:xfrm>
            <a:off x="8046720" y="1691640"/>
            <a:ext cx="3566160" cy="502920"/>
          </a:xfrm>
          <a:prstGeom prst="rect">
            <a:avLst/>
          </a:prstGeom>
          <a:noFill/>
          <a:ln/>
        </p:spPr>
        <p:txBody>
          <a:bodyPr wrap="square" lIns="0" tIns="0" rIns="0" bIns="0" rtlCol="0" anchor="t"/>
          <a:lstStyle/>
          <a:p>
            <a:pPr marL="0" indent="0">
              <a:buNone/>
            </a:pPr>
            <a:r>
              <a:rPr lang="en-US" sz="1200" dirty="0">
                <a:solidFill>
                  <a:schemeClr val="accent5"/>
                </a:solidFill>
              </a:rPr>
              <a:t>Electronics = 89.63% of revenue; Ohio and Texas = 90.2%.</a:t>
            </a:r>
            <a:endParaRPr lang="en-US" sz="1200" dirty="0"/>
          </a:p>
        </p:txBody>
      </p:sp>
      <p:sp>
        <p:nvSpPr>
          <p:cNvPr id="11" name="takeaway-card"/>
          <p:cNvSpPr/>
          <p:nvPr/>
        </p:nvSpPr>
        <p:spPr>
          <a:xfrm>
            <a:off x="7223760" y="2423160"/>
            <a:ext cx="4507992" cy="1051560"/>
          </a:xfrm>
          <a:prstGeom prst="roundRect">
            <a:avLst>
              <a:gd name="adj" fmla="val 1043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2" name="takeaway-number-bg"/>
          <p:cNvSpPr/>
          <p:nvPr/>
        </p:nvSpPr>
        <p:spPr>
          <a:xfrm>
            <a:off x="7406640" y="2720340"/>
            <a:ext cx="457200" cy="457200"/>
          </a:xfrm>
          <a:prstGeom prst="ellipse">
            <a:avLst/>
          </a:prstGeom>
          <a:solidFill>
            <a:schemeClr val="accent4"/>
          </a:solidFill>
          <a:ln w="6350">
            <a:solidFill>
              <a:schemeClr val="accent4"/>
            </a:solidFill>
            <a:prstDash val="solid"/>
          </a:ln>
        </p:spPr>
      </p:sp>
      <p:sp>
        <p:nvSpPr>
          <p:cNvPr id="13" name="takeaway-number"/>
          <p:cNvSpPr txBox="1"/>
          <p:nvPr/>
        </p:nvSpPr>
        <p:spPr>
          <a:xfrm>
            <a:off x="7406640" y="27203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4" name="takeaway-title"/>
          <p:cNvSpPr txBox="1"/>
          <p:nvPr/>
        </p:nvSpPr>
        <p:spPr>
          <a:xfrm>
            <a:off x="8046720" y="2560320"/>
            <a:ext cx="3566160" cy="274320"/>
          </a:xfrm>
          <a:prstGeom prst="rect">
            <a:avLst/>
          </a:prstGeom>
          <a:noFill/>
          <a:ln/>
        </p:spPr>
        <p:txBody>
          <a:bodyPr wrap="square" lIns="0" tIns="0" rIns="0" bIns="0" rtlCol="0" anchor="t"/>
          <a:lstStyle/>
          <a:p>
            <a:pPr marL="0" indent="0">
              <a:buNone/>
            </a:pPr>
            <a:r>
              <a:rPr lang="en-US" sz="1500" b="1" dirty="0">
                <a:solidFill>
                  <a:schemeClr val="tx1"/>
                </a:solidFill>
              </a:rPr>
              <a:t>Operations need attention</a:t>
            </a:r>
            <a:endParaRPr lang="en-US" sz="1500" dirty="0"/>
          </a:p>
        </p:txBody>
      </p:sp>
      <p:sp>
        <p:nvSpPr>
          <p:cNvPr id="15" name="takeaway-text"/>
          <p:cNvSpPr txBox="1"/>
          <p:nvPr/>
        </p:nvSpPr>
        <p:spPr>
          <a:xfrm>
            <a:off x="8046720" y="2880360"/>
            <a:ext cx="3566160" cy="502920"/>
          </a:xfrm>
          <a:prstGeom prst="rect">
            <a:avLst/>
          </a:prstGeom>
          <a:noFill/>
          <a:ln/>
        </p:spPr>
        <p:txBody>
          <a:bodyPr wrap="square" lIns="0" tIns="0" rIns="0" bIns="0" rtlCol="0" anchor="t"/>
          <a:lstStyle/>
          <a:p>
            <a:pPr marL="0" indent="0">
              <a:buNone/>
            </a:pPr>
            <a:r>
              <a:rPr lang="en-US" sz="1200" dirty="0">
                <a:solidFill>
                  <a:schemeClr val="accent5"/>
                </a:solidFill>
              </a:rPr>
              <a:t>51 low-stock products, 15 never sold, 12 with returns above 20%.</a:t>
            </a:r>
            <a:endParaRPr lang="en-US" sz="1200" dirty="0"/>
          </a:p>
        </p:txBody>
      </p:sp>
      <p:sp>
        <p:nvSpPr>
          <p:cNvPr id="16" name="takeaway-card"/>
          <p:cNvSpPr/>
          <p:nvPr/>
        </p:nvSpPr>
        <p:spPr>
          <a:xfrm>
            <a:off x="7223760" y="3611880"/>
            <a:ext cx="4507992" cy="1051560"/>
          </a:xfrm>
          <a:prstGeom prst="roundRect">
            <a:avLst>
              <a:gd name="adj" fmla="val 1043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17" name="takeaway-number-bg"/>
          <p:cNvSpPr/>
          <p:nvPr/>
        </p:nvSpPr>
        <p:spPr>
          <a:xfrm>
            <a:off x="7406640" y="3909060"/>
            <a:ext cx="457200" cy="457200"/>
          </a:xfrm>
          <a:prstGeom prst="ellipse">
            <a:avLst/>
          </a:prstGeom>
          <a:solidFill>
            <a:schemeClr val="accent2"/>
          </a:solidFill>
          <a:ln w="6350">
            <a:solidFill>
              <a:schemeClr val="accent2"/>
            </a:solidFill>
            <a:prstDash val="solid"/>
          </a:ln>
        </p:spPr>
      </p:sp>
      <p:sp>
        <p:nvSpPr>
          <p:cNvPr id="18" name="takeaway-number"/>
          <p:cNvSpPr txBox="1"/>
          <p:nvPr/>
        </p:nvSpPr>
        <p:spPr>
          <a:xfrm>
            <a:off x="7406640" y="39090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9" name="takeaway-title"/>
          <p:cNvSpPr txBox="1"/>
          <p:nvPr/>
        </p:nvSpPr>
        <p:spPr>
          <a:xfrm>
            <a:off x="8046720" y="3749040"/>
            <a:ext cx="3566160" cy="274320"/>
          </a:xfrm>
          <a:prstGeom prst="rect">
            <a:avLst/>
          </a:prstGeom>
          <a:noFill/>
          <a:ln/>
        </p:spPr>
        <p:txBody>
          <a:bodyPr wrap="square" lIns="0" tIns="0" rIns="0" bIns="0" rtlCol="0" anchor="t"/>
          <a:lstStyle/>
          <a:p>
            <a:pPr marL="0" indent="0">
              <a:buNone/>
            </a:pPr>
            <a:r>
              <a:rPr lang="en-US" sz="1500" b="1" dirty="0">
                <a:solidFill>
                  <a:schemeClr val="tx1"/>
                </a:solidFill>
              </a:rPr>
              <a:t>Customers are untapped</a:t>
            </a:r>
            <a:endParaRPr lang="en-US" sz="1500" dirty="0"/>
          </a:p>
        </p:txBody>
      </p:sp>
      <p:sp>
        <p:nvSpPr>
          <p:cNvPr id="20" name="takeaway-text"/>
          <p:cNvSpPr txBox="1"/>
          <p:nvPr/>
        </p:nvSpPr>
        <p:spPr>
          <a:xfrm>
            <a:off x="8046720" y="4069080"/>
            <a:ext cx="3566160" cy="502920"/>
          </a:xfrm>
          <a:prstGeom prst="rect">
            <a:avLst/>
          </a:prstGeom>
          <a:noFill/>
          <a:ln/>
        </p:spPr>
        <p:txBody>
          <a:bodyPr wrap="square" lIns="0" tIns="0" rIns="0" bIns="0" rtlCol="0" anchor="t"/>
          <a:lstStyle/>
          <a:p>
            <a:pPr marL="0" indent="0">
              <a:buNone/>
            </a:pPr>
            <a:r>
              <a:rPr lang="en-US" sz="1200" dirty="0">
                <a:solidFill>
                  <a:schemeClr val="accent5"/>
                </a:solidFill>
              </a:rPr>
              <a:t>212 customers (23.6%) have never placed an order.</a:t>
            </a:r>
            <a:endParaRPr lang="en-US" sz="1200" dirty="0"/>
          </a:p>
        </p:txBody>
      </p:sp>
      <p:sp>
        <p:nvSpPr>
          <p:cNvPr id="21" name="takeaway-card"/>
          <p:cNvSpPr/>
          <p:nvPr/>
        </p:nvSpPr>
        <p:spPr>
          <a:xfrm>
            <a:off x="7223760" y="4800600"/>
            <a:ext cx="4507992" cy="1051560"/>
          </a:xfrm>
          <a:prstGeom prst="roundRect">
            <a:avLst>
              <a:gd name="adj" fmla="val 10435"/>
            </a:avLst>
          </a:prstGeom>
          <a:solidFill>
            <a:schemeClr val="bg1"/>
          </a:solidFill>
          <a:ln w="9525">
            <a:solidFill>
              <a:srgbClr val="E3E9F4"/>
            </a:solidFill>
            <a:prstDash val="solid"/>
          </a:ln>
          <a:effectLst>
            <a:outerShdw blurRad="152400" dist="38100" dir="5400000" algn="bl" rotWithShape="0">
              <a:srgbClr val="1F3358">
                <a:alpha val="12000"/>
              </a:srgbClr>
            </a:outerShdw>
          </a:effectLst>
        </p:spPr>
      </p:sp>
      <p:sp>
        <p:nvSpPr>
          <p:cNvPr id="22" name="takeaway-number-bg"/>
          <p:cNvSpPr/>
          <p:nvPr/>
        </p:nvSpPr>
        <p:spPr>
          <a:xfrm>
            <a:off x="7406640" y="5097780"/>
            <a:ext cx="457200" cy="457200"/>
          </a:xfrm>
          <a:prstGeom prst="ellipse">
            <a:avLst/>
          </a:prstGeom>
          <a:solidFill>
            <a:schemeClr val="accent3"/>
          </a:solidFill>
          <a:ln w="6350">
            <a:solidFill>
              <a:schemeClr val="accent3"/>
            </a:solidFill>
            <a:prstDash val="solid"/>
          </a:ln>
        </p:spPr>
      </p:sp>
      <p:sp>
        <p:nvSpPr>
          <p:cNvPr id="23" name="takeaway-number"/>
          <p:cNvSpPr txBox="1"/>
          <p:nvPr/>
        </p:nvSpPr>
        <p:spPr>
          <a:xfrm>
            <a:off x="7406640" y="50977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4" name="takeaway-title"/>
          <p:cNvSpPr txBox="1"/>
          <p:nvPr/>
        </p:nvSpPr>
        <p:spPr>
          <a:xfrm>
            <a:off x="8046720" y="4937760"/>
            <a:ext cx="3566160" cy="274320"/>
          </a:xfrm>
          <a:prstGeom prst="rect">
            <a:avLst/>
          </a:prstGeom>
          <a:noFill/>
          <a:ln/>
        </p:spPr>
        <p:txBody>
          <a:bodyPr wrap="square" lIns="0" tIns="0" rIns="0" bIns="0" rtlCol="0" anchor="t"/>
          <a:lstStyle/>
          <a:p>
            <a:pPr marL="0" indent="0">
              <a:buNone/>
            </a:pPr>
            <a:r>
              <a:rPr lang="en-US" sz="1500" b="1" dirty="0">
                <a:solidFill>
                  <a:schemeClr val="tx1"/>
                </a:solidFill>
              </a:rPr>
              <a:t>Data quality needs fixing</a:t>
            </a:r>
            <a:endParaRPr lang="en-US" sz="1500" dirty="0"/>
          </a:p>
        </p:txBody>
      </p:sp>
      <p:sp>
        <p:nvSpPr>
          <p:cNvPr id="25" name="takeaway-text"/>
          <p:cNvSpPr txBox="1"/>
          <p:nvPr/>
        </p:nvSpPr>
        <p:spPr>
          <a:xfrm>
            <a:off x="8046720" y="5257800"/>
            <a:ext cx="3566160" cy="502920"/>
          </a:xfrm>
          <a:prstGeom prst="rect">
            <a:avLst/>
          </a:prstGeom>
          <a:noFill/>
          <a:ln/>
        </p:spPr>
        <p:txBody>
          <a:bodyPr wrap="square" lIns="0" tIns="0" rIns="0" bIns="0" rtlCol="0" anchor="t"/>
          <a:lstStyle/>
          <a:p>
            <a:pPr marL="0" indent="0">
              <a:buNone/>
            </a:pPr>
            <a:r>
              <a:rPr lang="en-US" sz="1200" dirty="0">
                <a:solidFill>
                  <a:schemeClr val="accent5"/>
                </a:solidFill>
              </a:rPr>
              <a:t>12 data mistakes found, and the 2024 drop must be verified.</a:t>
            </a:r>
            <a:endParaRPr lang="en-US" sz="1200" dirty="0"/>
          </a:p>
        </p:txBody>
      </p:sp>
      <p:sp>
        <p:nvSpPr>
          <p:cNvPr id="26" name="byline"/>
          <p:cNvSpPr txBox="1"/>
          <p:nvPr/>
        </p:nvSpPr>
        <p:spPr>
          <a:xfrm>
            <a:off x="731520" y="5897880"/>
            <a:ext cx="5669280" cy="274320"/>
          </a:xfrm>
          <a:prstGeom prst="rect">
            <a:avLst/>
          </a:prstGeom>
          <a:noFill/>
          <a:ln/>
        </p:spPr>
        <p:txBody>
          <a:bodyPr wrap="square" lIns="0" tIns="0" rIns="0" bIns="0" rtlCol="0" anchor="t"/>
          <a:lstStyle/>
          <a:p>
            <a:pPr marL="0" indent="0">
              <a:buNone/>
            </a:pPr>
            <a:r>
              <a:rPr lang="en-US" sz="1400" b="1" dirty="0">
                <a:solidFill>
                  <a:schemeClr val="tx1"/>
                </a:solidFill>
              </a:rPr>
              <a:t>Divyesh Lodha  |  Data Analyst  |  Data with Divyesh</a:t>
            </a:r>
            <a:endParaRPr lang="en-US" sz="1400" dirty="0"/>
          </a:p>
        </p:txBody>
      </p:sp>
    </p:spTree>
  </p:cSld>
  <p:clrMapOvr>
    <a:masterClrMapping/>
  </p:clrMapOvr>
</p:sld>
</file>

<file path=ppt/theme/theme1.xml><?xml version="1.0" encoding="utf-8"?>
<a:theme xmlns:a="http://schemas.openxmlformats.org/drawingml/2006/main" name="Amazon SQL Insights">
  <a:themeElements>
    <a:clrScheme name="Amazon SQL Insights">
      <a:dk1>
        <a:srgbClr val="0F1B33"/>
      </a:dk1>
      <a:lt1>
        <a:srgbClr val="FFFFFF"/>
      </a:lt1>
      <a:dk2>
        <a:srgbClr val="1F3358"/>
      </a:dk2>
      <a:lt2>
        <a:srgbClr val="F4F7FB"/>
      </a:lt2>
      <a:accent1>
        <a:srgbClr val="C65A00"/>
      </a:accent1>
      <a:accent2>
        <a:srgbClr val="0B7A75"/>
      </a:accent2>
      <a:accent3>
        <a:srgbClr val="2F5FD0"/>
      </a:accent3>
      <a:accent4>
        <a:srgbClr val="C62F3B"/>
      </a:accent4>
      <a:accent5>
        <a:srgbClr val="5B6B82"/>
      </a:accent5>
      <a:accent6>
        <a:srgbClr val="D5DCE8"/>
      </a:accent6>
      <a:hlink>
        <a:srgbClr val="C65A00"/>
      </a:hlink>
      <a:folHlink>
        <a:srgbClr val="5B6B82"/>
      </a:folHlink>
    </a:clrScheme>
    <a:fontScheme name="Amazon SQL Insigh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4947</Words>
  <Application>Microsoft Office PowerPoint</Application>
  <PresentationFormat>Widescreen</PresentationFormat>
  <Paragraphs>889</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Amazon SQL Insights</vt:lpstr>
      <vt:lpstr>PowerPoint Presentation</vt:lpstr>
      <vt:lpstr>Why This Project?</vt:lpstr>
      <vt:lpstr>Project at a glance</vt:lpstr>
      <vt:lpstr>What data do we have? 9 interconnected tables</vt:lpstr>
      <vt:lpstr>Methodology: from raw CSV to recommendations</vt:lpstr>
      <vt:lpstr>Database Architecture &amp; Entity Relationship Diagram</vt:lpstr>
      <vt:lpstr>Is the data reliable? Keys are clean, types are not</vt:lpstr>
      <vt:lpstr>Data mistakes found in the CSVs and how they were fixed</vt:lpstr>
      <vt:lpstr>The 10 business questions this project answers</vt:lpstr>
      <vt:lpstr>What drives revenue? Electronics = 89.63%</vt:lpstr>
      <vt:lpstr>Which products drive sales? Apple iMac Pro leads</vt:lpstr>
      <vt:lpstr>Revenue trend: steady to 2023, then a sharp monthly drop</vt:lpstr>
      <vt:lpstr>Where is revenue concentrated? Ohio and Texas</vt:lpstr>
      <vt:lpstr>Payments and returns: 13.13% refunded</vt:lpstr>
      <vt:lpstr>Customers: 212 have never ordered</vt:lpstr>
      <vt:lpstr>Operations: low stock and unsold products</vt:lpstr>
      <vt:lpstr>Top 5 insights from the data</vt:lpstr>
      <vt:lpstr>What should management do?</vt:lpstr>
      <vt:lpstr>Thank you for your time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Products Insights using SQL</dc:title>
  <dc:subject>PptxGenJS Presentation</dc:subject>
  <dc:creator>Divyesh Lodha</dc:creator>
  <cp:lastModifiedBy>Divyesh Lodha</cp:lastModifiedBy>
  <cp:revision>3</cp:revision>
  <dcterms:created xsi:type="dcterms:W3CDTF">2026-10-11T05:29:05Z</dcterms:created>
  <dcterms:modified xsi:type="dcterms:W3CDTF">2026-10-11T05:47:35Z</dcterms:modified>
</cp:coreProperties>
</file>